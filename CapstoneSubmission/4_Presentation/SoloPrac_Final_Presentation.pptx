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7"/>
    <p:sldId id="257" r:id="rId8"/>
    <p:sldId id="258" r:id="rId9"/>
    <p:sldId id="259" r:id="rId10"/>
    <p:sldId id="260" r:id="rId11"/>
    <p:sldId id="261" r:id="rId12"/>
    <p:sldId id="262" r:id="rId13"/>
    <p:sldId id="263" r:id="rId6"/>
    <p:sldId id="264" r:id="rId5"/>
    <p:sldId id="265" r:id="rId4"/>
    <p:sldId id="266" r:id="rId3"/>
    <p:sldId id="267" r:id="rId2"/>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2.xml"/><Relationship Id="rId3" Type="http://schemas.openxmlformats.org/officeDocument/2006/relationships/slide" Target="slides/slide11.xml"/><Relationship Id="rId4"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6914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Ranveer opens. Good morning. We are presenting SoloPrac, our capstone: a clinic record system for doctors who practise alone, and the research question that came out of building it, which is how a retrieval system should handle clinical records that have been corrected. Four of us will speak for about three to four minutes each.</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Ranveer: This is the plan. I cover the introduction, the problem and the literature. Dev takes the system design. Rohan explains how the solution works inside: chunks, embeddings, retrieval, the LLM and de-identification. Nihal closes with the benchmark, the results and the conclusion.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Our user is a general practitioner in India who runs a clinic alone. Around fifteen patients a day, history in paper folders and phone photos, nobody to manage IT. SoloPrac gives that doctor a timeline of each patient that marks what is current and what was corrected, a chat that answers with citations, paper capture that refuses to guess, and the documents they issue every day. Three constraints shaped everything: one laptop, zero monthly cost, and no identifiable patient data leaving the machine.</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Here is the problem in one example. A creatinine of 1.1 is reported on the third. On the sixth the lab re-runs the sample and sends 1.4. Both stay in the chart, because someone may have acted on the first. A normal RAG pipeline embeds both, and they look almost identical, so it can return 1.1 with a perfectly valid citation. On our benchmark plain dense retrieval led with the withdrawn value about half the time. The hard part is that we cannot just prefer the newest record, because a question about the past needs the old value.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Temporal databases gave us the two clocks, valid time and transaction time, but no way to say one row cancels another. Clinical standards like FHIR and openEHR do store that link, and RAG pipelines lose it when they chunk text. Recent memory systems for LLM agents reached a similar design to ours, which is reassuring, but none was tested on clinical records. Work on stale evidence shows outdated passages hurt answers badly. And medical RAG benchmarks assume every document is correct.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So the gap: nobody had measured what clinical retrieval loses when it throws the correction link away, while it still has to answer questions about the past. Our four objectives follow from that, and the three research questions are what Nihal answers with numbers at the end.</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Dev: This is the whole system. The doctor and the patient use a progressive web app. nginx serves it and proxies the API. FastAPI handles auth, chat, capture and documents, and a worker takes slow jobs like OCR and weekly reports through Redis streams. PostgreSQL holds the append-only event log, which is the source of truth. Qdrant holds the vectors and is only a cache: if it is lost, one call rebuilds it from the log. SeaweedFS stores the PDFs and scans. All models run locally. The only thing that leaves the machine is a de-identified prompt to the free LLM chain.</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The key design decision. There is no status column on an event. A correction is an insert whose supersedes_id names the record it replaces. A record is superseded exactly when some other record points at it. Four rules are enforced by the database itself. Validity has three values, because a record corrected in March was correctly current in February.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When the doctor asks a question, the order of these steps matters. First we work out what time the question is about. Then validity-aware retrieval ranks the records, de-identification happens once before anything leaves, the LLM writes a draft, and the provenance check decides which claims survive. Single-record questions skip the model entirely and come back in milliseconds.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A quick tour of the stack and the reason behind each choice. Two worth pointing out: SeaweedFS, because MinIO's community edition was archived in April 2026, and WeasyPrint, which renders paged CSS so the watermark repeats on every page.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Rohan: The mentor asked how big a chunk is and how we decided. A chunk is one clinical event. We write the record type, then each field as key colon value, and cap it at 1,800 characters. Measured with MedCPT's tokenizer on all 4,500 TAP-QA records, a lab result is about 28 tokens, so a chunk uses around six percent of the 512-token window. We did not use fixed windows, because validity is decided per event: a chunk holding both 1.1 and 1.4 would get one vector for two values with different validity.</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MedCPT comes from NCBI. It was trained contrastively on 255 million query and article pairs from real PubMed search logs, so it learned that the words people type and the words articles use mean the same thing. It has two BERT-base towers of about 110 million parameters each: one for questions, one for documents. Text is split into WordPiece tokens, passed through 12 transformer layers where self-attention mixes context into every token, then we average the token vectors over the attention mask and normalise to unit length. The result is 768 numbers. The chart shows why we needed it: word overlap scores zero for 'blood sugar' against a glucose record, MedCPT scores 0.825 and ranks it first.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BiomedCLIP handles images. It was trained by Microsoft on 15 million figure and caption pairs from PubMed Central, so a radiograph and its description land close together. In our test each of four images was closest to its own caption. MedGemma reads handwriting but is slow on our CPU, so it is opt-in and its output always waits for the doctor. RapidOCR reads printed reports in about 31 milliseconds. BGE-M3 is wired in for Hindi but we have not measured it, and we say so.</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This is the core of our method. The question is encoded with the query tower and Qdrant returns that patient's 50 nearest records. Each candidate gets 0.70 times its cosine plus 0.30 times a validity weight. The worked example shows why it works: the original and the correction have the same cosine, so similarity alone is a coin toss. The weight breaks the tie the right way for 'now', and for an as-of question the correction is vetoed because it is dated after the asked instant, so the old value wins. Changing alpha from 0.40 to 0.95 changed nothing in the results.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The LLM is used only to write a readable sentence from records we already picked. Before anything goes out, names become PT_01, dates become offsets like T_MINUS_14D, and phone numbers and IDs are replaced. A final regex check runs on the exact outgoing string and blocks the request if anything is left. When the answer comes back, every claim has to match the record it cites, and a present-tense claim cannot cite a superseded record. Claims that fail are dropped.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Paper capture: the photo goes through a quality gate, then RapidOCR, then field extraction with a known list of tests and units. If confidence is below 0.75 nothing is written to the record; it waits for the doctor. A wrong number committed silently is the worst failure we can think of, because it becomes a fact that future answers cite. On the right is a prescription as issued: a watermarked PDF that lands in the patient's inbox.</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Nihal: No existing medical benchmark has corrected records, so we built TAP-QA. Each seed generates about 275 patients and 4,500 events, about a thousand of them corrections, and 850 questions in four classes. Corrections shift a value by 12 to 55 percent of the reference range and arrive 1, 3 or 14 days later, so you cannot spot them by size or age. Distractor corrections punish any method that simply demotes all corrections. The harness calls the same retriever the app ships. Scoring is tie-aware: if two records tie, neither gets full credit.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These are the main results on both seeds. Our ranker has zero stale answers and 97.8 percent historical accuracy on both. Dense retrieval alone is stale about half the time. The bitemporal ranker, which knows both timestamps but not the pointer, still gives 7 and 11.5 percent stale answers and almost no historical accuracy. Valid-time only and Latest-N look safe on staleness but they answer zero historical questions.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This plane puts every configuration on two axes. The useful corner is the top left. Only two points reach it: our ranker and a plain as-of filter on the same supersession edges. The filter actually did slightly better than our weighted rule, which tells us the pointer does the work, not the weights. We changed our claim to say so. We also re-dated every correction to its specimen date: timestamp methods collapsed, our SAR stayed at zero.</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The strongest objection to our method is: why not just tune a recency term? We tried seven weights and five time constants. Not one of the seventy points across both seeds answered a single historical question. The reason is that a lab and its correction get exactly the same similarity, so the decay term alone decides, and it always prefers the newer record. That is right for questions about now and wrong for every question about the past. At tau of seven days the numbers underflow and the two versions tie, so neither gets credit.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Does ranking change the actual answer? We gave the same model the same 40 corrected questions twice, once with our top record and once with dense retrieval's. With one record of context, ours produced no stale answers and the baseline produced 18. With two or five records neither arm went stale, because the model sees both versions and reconciles them. On speed: retrieval is about 31 milliseconds, a model-backed answer takes 2 to 3 seconds, and the GPU helps only for bulk indexing.</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Here is the product. Left, after a correction: the old HbA1c is struck through and marked superseded, and the chat answers with the current value and one citation. Middle, the patient portal, where issued documents arrive. Right, the weekly report sheet the doctor can send. All of this is verified by a 16-step end-to-end script against the running containers.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Impact: a solo doctor gets a record that never presents a withdrawn value as current, keeps history answerable, and costs nothing to run. For anyone building clinical RAG the lesson is simple: keep the correction pointer when you chunk and index. Limits: the benchmark is synthetic, every edge in it is correct, corrections are lab values only, and there was no clinician study. Next: real de-identified charts with missing links, Hindi with BGE-M3, and images in the answer path.</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To close: a correction in a chart withdraws an older entry, and no timestamp says so. Reading validity from the supersession pointer at the question's date removed stale answers from our benchmark and kept history answerable, which no timestamp or recency method managed. The paper is written up for submission. Thank you, we are happy to take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3.xml"/><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6.xml"/><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7.xml"/><Relationship Id="rId5"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8.xml"/><Relationship Id="rId5"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9.xml"/><Relationship Id="rId5"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0.xml"/><Relationship Id="rId5"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1.xml"/><Relationship Id="rId5" Type="http://schemas.openxmlformats.org/officeDocument/2006/relationships/image" Target="../media/image11.png"/><Relationship Id="rId6"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2.xml"/><Relationship Id="rId5" Type="http://schemas.openxmlformats.org/officeDocument/2006/relationships/image" Target="../media/image13.png"/><Relationship Id="rId6"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5836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137160"/>
            <a:ext cx="4526280" cy="1828800"/>
          </a:xfrm>
          <a:prstGeom prst="rect">
            <a:avLst/>
          </a:prstGeom>
        </p:spPr>
      </p:pic>
      <p:pic>
        <p:nvPicPr>
          <p:cNvPr id="4" name="Picture 3" descr="image3.png"/>
          <p:cNvPicPr>
            <a:picLocks noChangeAspect="1"/>
          </p:cNvPicPr>
          <p:nvPr/>
        </p:nvPicPr>
        <p:blipFill>
          <a:blip r:embed="rId3"/>
          <a:stretch>
            <a:fillRect/>
          </a:stretch>
        </p:blipFill>
        <p:spPr>
          <a:xfrm>
            <a:off x="10332720" y="18288"/>
            <a:ext cx="1783080" cy="758952"/>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286000" y="1234440"/>
            <a:ext cx="9326880" cy="685800"/>
          </a:xfrm>
          <a:prstGeom prst="rect">
            <a:avLst/>
          </a:prstGeom>
          <a:noFill/>
        </p:spPr>
        <p:txBody>
          <a:bodyPr wrap="square" lIns="0" rIns="0" tIns="0" bIns="0" anchor="ctr"/>
          <a:lstStyle/>
          <a:p>
            <a:pPr algn="ctr">
              <a:lnSpc>
                <a:spcPct val="115000"/>
              </a:lnSpc>
              <a:spcAft>
                <a:spcPts val="0"/>
              </a:spcAft>
            </a:pPr>
            <a:r>
              <a:rPr sz="4000" b="1" i="0">
                <a:solidFill>
                  <a:srgbClr val="111111"/>
                </a:solidFill>
                <a:latin typeface="Times New Roman"/>
              </a:rPr>
              <a:t>Capstone Project</a:t>
            </a:r>
          </a:p>
        </p:txBody>
      </p:sp>
      <p:sp>
        <p:nvSpPr>
          <p:cNvPr id="7" name="TextBox 6"/>
          <p:cNvSpPr txBox="1"/>
          <p:nvPr/>
        </p:nvSpPr>
        <p:spPr>
          <a:xfrm>
            <a:off x="914400" y="1874519"/>
            <a:ext cx="10332720" cy="640080"/>
          </a:xfrm>
          <a:prstGeom prst="rect">
            <a:avLst/>
          </a:prstGeom>
          <a:noFill/>
        </p:spPr>
        <p:txBody>
          <a:bodyPr wrap="square" lIns="0" rIns="0" tIns="0" bIns="0" anchor="ctr"/>
          <a:lstStyle/>
          <a:p>
            <a:pPr algn="ctr">
              <a:lnSpc>
                <a:spcPct val="115000"/>
              </a:lnSpc>
              <a:spcAft>
                <a:spcPts val="0"/>
              </a:spcAft>
            </a:pPr>
            <a:r>
              <a:rPr sz="3600" b="1" i="0">
                <a:solidFill>
                  <a:srgbClr val="111111"/>
                </a:solidFill>
                <a:latin typeface="Times New Roman"/>
              </a:rPr>
              <a:t>Final Presentation for Capstone</a:t>
            </a:r>
          </a:p>
        </p:txBody>
      </p:sp>
      <p:sp>
        <p:nvSpPr>
          <p:cNvPr id="8" name="TextBox 7"/>
          <p:cNvSpPr txBox="1"/>
          <p:nvPr/>
        </p:nvSpPr>
        <p:spPr>
          <a:xfrm>
            <a:off x="914400" y="2468880"/>
            <a:ext cx="10332720" cy="566928"/>
          </a:xfrm>
          <a:prstGeom prst="rect">
            <a:avLst/>
          </a:prstGeom>
          <a:noFill/>
        </p:spPr>
        <p:txBody>
          <a:bodyPr wrap="square" lIns="0" rIns="0" tIns="0" bIns="0" anchor="ctr"/>
          <a:lstStyle/>
          <a:p>
            <a:pPr algn="ctr">
              <a:lnSpc>
                <a:spcPct val="115000"/>
              </a:lnSpc>
              <a:spcAft>
                <a:spcPts val="0"/>
              </a:spcAft>
            </a:pPr>
            <a:r>
              <a:rPr sz="3400" b="1" i="0">
                <a:solidFill>
                  <a:srgbClr val="111111"/>
                </a:solidFill>
                <a:latin typeface="Times New Roman"/>
              </a:rPr>
              <a:t>A.Y. 2026-2027</a:t>
            </a:r>
          </a:p>
        </p:txBody>
      </p:sp>
      <p:sp>
        <p:nvSpPr>
          <p:cNvPr id="9" name="TextBox 8"/>
          <p:cNvSpPr txBox="1"/>
          <p:nvPr/>
        </p:nvSpPr>
        <p:spPr>
          <a:xfrm>
            <a:off x="548640" y="3017520"/>
            <a:ext cx="11064240" cy="603504"/>
          </a:xfrm>
          <a:prstGeom prst="rect">
            <a:avLst/>
          </a:prstGeom>
          <a:noFill/>
        </p:spPr>
        <p:txBody>
          <a:bodyPr wrap="square" lIns="0" rIns="0" tIns="0" bIns="0" anchor="ctr"/>
          <a:lstStyle/>
          <a:p>
            <a:pPr algn="ctr">
              <a:lnSpc>
                <a:spcPct val="115000"/>
              </a:lnSpc>
              <a:spcAft>
                <a:spcPts val="0"/>
              </a:spcAft>
            </a:pPr>
            <a:r>
              <a:rPr sz="3300" b="1" i="0">
                <a:solidFill>
                  <a:srgbClr val="111111"/>
                </a:solidFill>
                <a:latin typeface="Times New Roman"/>
              </a:rPr>
              <a:t>Project Title: </a:t>
            </a:r>
            <a:r>
              <a:rPr sz="3300" b="1" i="0" u="sng">
                <a:solidFill>
                  <a:srgbClr val="111111"/>
                </a:solidFill>
                <a:latin typeface="Times New Roman"/>
              </a:rPr>
              <a:t>SoloPrac AI</a:t>
            </a:r>
          </a:p>
        </p:txBody>
      </p:sp>
      <p:sp>
        <p:nvSpPr>
          <p:cNvPr id="10" name="TextBox 9"/>
          <p:cNvSpPr txBox="1"/>
          <p:nvPr/>
        </p:nvSpPr>
        <p:spPr>
          <a:xfrm>
            <a:off x="548640" y="3584448"/>
            <a:ext cx="11064240" cy="365760"/>
          </a:xfrm>
          <a:prstGeom prst="rect">
            <a:avLst/>
          </a:prstGeom>
          <a:noFill/>
        </p:spPr>
        <p:txBody>
          <a:bodyPr wrap="square" lIns="0" rIns="0" tIns="0" bIns="0" anchor="ctr"/>
          <a:lstStyle/>
          <a:p>
            <a:pPr algn="ctr">
              <a:lnSpc>
                <a:spcPct val="115000"/>
              </a:lnSpc>
              <a:spcAft>
                <a:spcPts val="0"/>
              </a:spcAft>
            </a:pPr>
            <a:r>
              <a:rPr sz="1700" b="0" i="1">
                <a:solidFill>
                  <a:srgbClr val="5A5A5A"/>
                </a:solidFill>
                <a:latin typeface="Times New Roman"/>
              </a:rPr>
              <a:t>Supersession-aware retrieval and a clinic record system for solo doctors</a:t>
            </a:r>
          </a:p>
        </p:txBody>
      </p:sp>
      <p:sp>
        <p:nvSpPr>
          <p:cNvPr id="11" name="TextBox 10"/>
          <p:cNvSpPr txBox="1"/>
          <p:nvPr/>
        </p:nvSpPr>
        <p:spPr>
          <a:xfrm>
            <a:off x="1463040" y="3977639"/>
            <a:ext cx="4572000" cy="384048"/>
          </a:xfrm>
          <a:prstGeom prst="rect">
            <a:avLst/>
          </a:prstGeom>
          <a:noFill/>
        </p:spPr>
        <p:txBody>
          <a:bodyPr wrap="square" lIns="0" rIns="0" tIns="0" bIns="0" anchor="ctr"/>
          <a:lstStyle/>
          <a:p>
            <a:pPr algn="l">
              <a:lnSpc>
                <a:spcPct val="115000"/>
              </a:lnSpc>
              <a:spcAft>
                <a:spcPts val="0"/>
              </a:spcAft>
            </a:pPr>
            <a:r>
              <a:rPr sz="2000" b="1" i="0">
                <a:solidFill>
                  <a:srgbClr val="6A6A6A"/>
                </a:solidFill>
                <a:latin typeface="Times New Roman"/>
              </a:rPr>
              <a:t>Presented by :</a:t>
            </a:r>
          </a:p>
        </p:txBody>
      </p:sp>
      <p:sp>
        <p:nvSpPr>
          <p:cNvPr id="12" name="TextBox 11"/>
          <p:cNvSpPr txBox="1"/>
          <p:nvPr/>
        </p:nvSpPr>
        <p:spPr>
          <a:xfrm>
            <a:off x="502920" y="4370832"/>
            <a:ext cx="2743200" cy="1051560"/>
          </a:xfrm>
          <a:prstGeom prst="rect">
            <a:avLst/>
          </a:prstGeom>
          <a:noFill/>
        </p:spPr>
        <p:txBody>
          <a:bodyPr wrap="square" lIns="0" rIns="0" tIns="0" bIns="0" anchor="t"/>
          <a:lstStyle/>
          <a:p>
            <a:pPr algn="ctr">
              <a:lnSpc>
                <a:spcPct val="115000"/>
              </a:lnSpc>
              <a:spcAft>
                <a:spcPts val="0"/>
              </a:spcAft>
            </a:pPr>
            <a:r>
              <a:rPr sz="1700" b="1" i="0">
                <a:solidFill>
                  <a:srgbClr val="111111"/>
                </a:solidFill>
                <a:latin typeface="Times New Roman"/>
              </a:rPr>
              <a:t>Ranveer Singh Thakur</a:t>
            </a:r>
          </a:p>
          <a:p>
            <a:pPr algn="ctr">
              <a:lnSpc>
                <a:spcPct val="115000"/>
              </a:lnSpc>
              <a:spcAft>
                <a:spcPts val="0"/>
              </a:spcAft>
            </a:pPr>
            <a:r>
              <a:rPr sz="1500" b="0" i="0">
                <a:solidFill>
                  <a:srgbClr val="111111"/>
                </a:solidFill>
                <a:latin typeface="Times New Roman"/>
              </a:rPr>
              <a:t>SAP ID: 70322100174</a:t>
            </a:r>
          </a:p>
          <a:p>
            <a:pPr algn="ctr">
              <a:lnSpc>
                <a:spcPct val="115000"/>
              </a:lnSpc>
              <a:spcAft>
                <a:spcPts val="0"/>
              </a:spcAft>
            </a:pPr>
            <a:r>
              <a:rPr sz="1500" b="0" i="0">
                <a:solidFill>
                  <a:srgbClr val="111111"/>
                </a:solidFill>
                <a:latin typeface="Times New Roman"/>
              </a:rPr>
              <a:t>Roll No.: C031</a:t>
            </a:r>
          </a:p>
        </p:txBody>
      </p:sp>
      <p:sp>
        <p:nvSpPr>
          <p:cNvPr id="13" name="TextBox 12"/>
          <p:cNvSpPr txBox="1"/>
          <p:nvPr/>
        </p:nvSpPr>
        <p:spPr>
          <a:xfrm>
            <a:off x="3319272" y="4370832"/>
            <a:ext cx="2743200" cy="1051560"/>
          </a:xfrm>
          <a:prstGeom prst="rect">
            <a:avLst/>
          </a:prstGeom>
          <a:noFill/>
        </p:spPr>
        <p:txBody>
          <a:bodyPr wrap="square" lIns="0" rIns="0" tIns="0" bIns="0" anchor="t"/>
          <a:lstStyle/>
          <a:p>
            <a:pPr algn="ctr">
              <a:lnSpc>
                <a:spcPct val="115000"/>
              </a:lnSpc>
              <a:spcAft>
                <a:spcPts val="0"/>
              </a:spcAft>
            </a:pPr>
            <a:r>
              <a:rPr sz="1700" b="1" i="0">
                <a:solidFill>
                  <a:srgbClr val="111111"/>
                </a:solidFill>
                <a:latin typeface="Times New Roman"/>
              </a:rPr>
              <a:t>Nihal Korgaonkar</a:t>
            </a:r>
          </a:p>
          <a:p>
            <a:pPr algn="ctr">
              <a:lnSpc>
                <a:spcPct val="115000"/>
              </a:lnSpc>
              <a:spcAft>
                <a:spcPts val="0"/>
              </a:spcAft>
            </a:pPr>
            <a:r>
              <a:rPr sz="1500" b="0" i="0">
                <a:solidFill>
                  <a:srgbClr val="111111"/>
                </a:solidFill>
                <a:latin typeface="Times New Roman"/>
              </a:rPr>
              <a:t>SAP ID: 70322100071</a:t>
            </a:r>
          </a:p>
          <a:p>
            <a:pPr algn="ctr">
              <a:lnSpc>
                <a:spcPct val="115000"/>
              </a:lnSpc>
              <a:spcAft>
                <a:spcPts val="0"/>
              </a:spcAft>
            </a:pPr>
            <a:r>
              <a:rPr sz="1500" b="0" i="0">
                <a:solidFill>
                  <a:srgbClr val="111111"/>
                </a:solidFill>
                <a:latin typeface="Times New Roman"/>
              </a:rPr>
              <a:t>Roll No.: C051</a:t>
            </a:r>
          </a:p>
        </p:txBody>
      </p:sp>
      <p:sp>
        <p:nvSpPr>
          <p:cNvPr id="14" name="TextBox 13"/>
          <p:cNvSpPr txBox="1"/>
          <p:nvPr/>
        </p:nvSpPr>
        <p:spPr>
          <a:xfrm>
            <a:off x="6135624" y="4370832"/>
            <a:ext cx="2743200" cy="1051560"/>
          </a:xfrm>
          <a:prstGeom prst="rect">
            <a:avLst/>
          </a:prstGeom>
          <a:noFill/>
        </p:spPr>
        <p:txBody>
          <a:bodyPr wrap="square" lIns="0" rIns="0" tIns="0" bIns="0" anchor="t"/>
          <a:lstStyle/>
          <a:p>
            <a:pPr algn="ctr">
              <a:lnSpc>
                <a:spcPct val="115000"/>
              </a:lnSpc>
              <a:spcAft>
                <a:spcPts val="0"/>
              </a:spcAft>
            </a:pPr>
            <a:r>
              <a:rPr sz="1700" b="1" i="0">
                <a:solidFill>
                  <a:srgbClr val="111111"/>
                </a:solidFill>
                <a:latin typeface="Times New Roman"/>
              </a:rPr>
              <a:t>Rohan Bhoge</a:t>
            </a:r>
          </a:p>
          <a:p>
            <a:pPr algn="ctr">
              <a:lnSpc>
                <a:spcPct val="115000"/>
              </a:lnSpc>
              <a:spcAft>
                <a:spcPts val="0"/>
              </a:spcAft>
            </a:pPr>
            <a:r>
              <a:rPr sz="1500" b="0" i="0">
                <a:solidFill>
                  <a:srgbClr val="111111"/>
                </a:solidFill>
                <a:latin typeface="Times New Roman"/>
              </a:rPr>
              <a:t>SAP ID: 70322100057</a:t>
            </a:r>
          </a:p>
          <a:p>
            <a:pPr algn="ctr">
              <a:lnSpc>
                <a:spcPct val="115000"/>
              </a:lnSpc>
              <a:spcAft>
                <a:spcPts val="0"/>
              </a:spcAft>
            </a:pPr>
            <a:r>
              <a:rPr sz="1500" b="0" i="0">
                <a:solidFill>
                  <a:srgbClr val="111111"/>
                </a:solidFill>
                <a:latin typeface="Times New Roman"/>
              </a:rPr>
              <a:t>Roll No.: C053</a:t>
            </a:r>
          </a:p>
        </p:txBody>
      </p:sp>
      <p:sp>
        <p:nvSpPr>
          <p:cNvPr id="15" name="TextBox 14"/>
          <p:cNvSpPr txBox="1"/>
          <p:nvPr/>
        </p:nvSpPr>
        <p:spPr>
          <a:xfrm>
            <a:off x="8951976" y="4370832"/>
            <a:ext cx="2743200" cy="1051560"/>
          </a:xfrm>
          <a:prstGeom prst="rect">
            <a:avLst/>
          </a:prstGeom>
          <a:noFill/>
        </p:spPr>
        <p:txBody>
          <a:bodyPr wrap="square" lIns="0" rIns="0" tIns="0" bIns="0" anchor="t"/>
          <a:lstStyle/>
          <a:p>
            <a:pPr algn="ctr">
              <a:lnSpc>
                <a:spcPct val="115000"/>
              </a:lnSpc>
              <a:spcAft>
                <a:spcPts val="0"/>
              </a:spcAft>
            </a:pPr>
            <a:r>
              <a:rPr sz="1700" b="1" i="0">
                <a:solidFill>
                  <a:srgbClr val="111111"/>
                </a:solidFill>
                <a:latin typeface="Times New Roman"/>
              </a:rPr>
              <a:t>Dev Patel</a:t>
            </a:r>
          </a:p>
          <a:p>
            <a:pPr algn="ctr">
              <a:lnSpc>
                <a:spcPct val="115000"/>
              </a:lnSpc>
              <a:spcAft>
                <a:spcPts val="0"/>
              </a:spcAft>
            </a:pPr>
            <a:r>
              <a:rPr sz="1500" b="0" i="0">
                <a:solidFill>
                  <a:srgbClr val="111111"/>
                </a:solidFill>
                <a:latin typeface="Times New Roman"/>
              </a:rPr>
              <a:t>SAP ID: 70322100150</a:t>
            </a:r>
          </a:p>
          <a:p>
            <a:pPr algn="ctr">
              <a:lnSpc>
                <a:spcPct val="115000"/>
              </a:lnSpc>
              <a:spcAft>
                <a:spcPts val="0"/>
              </a:spcAft>
            </a:pPr>
            <a:r>
              <a:rPr sz="1500" b="0" i="0">
                <a:solidFill>
                  <a:srgbClr val="111111"/>
                </a:solidFill>
                <a:latin typeface="Times New Roman"/>
              </a:rPr>
              <a:t>Roll No.: C054</a:t>
            </a:r>
          </a:p>
        </p:txBody>
      </p:sp>
      <p:sp>
        <p:nvSpPr>
          <p:cNvPr id="16" name="TextBox 15"/>
          <p:cNvSpPr txBox="1"/>
          <p:nvPr/>
        </p:nvSpPr>
        <p:spPr>
          <a:xfrm>
            <a:off x="548640" y="5532120"/>
            <a:ext cx="11064240" cy="457200"/>
          </a:xfrm>
          <a:prstGeom prst="rect">
            <a:avLst/>
          </a:prstGeom>
          <a:noFill/>
        </p:spPr>
        <p:txBody>
          <a:bodyPr wrap="square" lIns="0" rIns="0" tIns="0" bIns="0" anchor="ctr"/>
          <a:lstStyle/>
          <a:p>
            <a:pPr algn="ctr">
              <a:lnSpc>
                <a:spcPct val="115000"/>
              </a:lnSpc>
              <a:spcAft>
                <a:spcPts val="0"/>
              </a:spcAft>
            </a:pPr>
            <a:r>
              <a:rPr sz="2200" b="1" i="0">
                <a:solidFill>
                  <a:srgbClr val="5A5A5A"/>
                </a:solidFill>
                <a:latin typeface="Times New Roman"/>
              </a:rPr>
              <a:t>Under the guidance of : Dr. Dhirendra Mishra</a:t>
            </a:r>
          </a:p>
        </p:txBody>
      </p:sp>
      <p:sp>
        <p:nvSpPr>
          <p:cNvPr id="17" name="TextBox 16"/>
          <p:cNvSpPr txBox="1"/>
          <p:nvPr/>
        </p:nvSpPr>
        <p:spPr>
          <a:xfrm>
            <a:off x="0" y="6355080"/>
            <a:ext cx="12188952" cy="320040"/>
          </a:xfrm>
          <a:prstGeom prst="rect">
            <a:avLst/>
          </a:prstGeom>
          <a:noFill/>
        </p:spPr>
        <p:txBody>
          <a:bodyPr wrap="square" lIns="0" rIns="0" tIns="0" bIns="0" anchor="ctr"/>
          <a:lstStyle/>
          <a:p>
            <a:pPr algn="ctr">
              <a:lnSpc>
                <a:spcPct val="115000"/>
              </a:lnSpc>
              <a:spcAft>
                <a:spcPts val="0"/>
              </a:spcAft>
            </a:pPr>
            <a:r>
              <a:rPr sz="1200" b="0" i="0">
                <a:solidFill>
                  <a:srgbClr val="5A5A5A"/>
                </a:solidFill>
                <a:latin typeface="Calibri"/>
              </a:rPr>
              <a:t>Computer Engineering Department, MPSTME, Mumbai Campus</a:t>
            </a:r>
          </a:p>
        </p:txBody>
      </p:sp>
      <p:sp>
        <p:nvSpPr>
          <p:cNvPr id="18" name="TextBox 17"/>
          <p:cNvSpPr txBox="1"/>
          <p:nvPr/>
        </p:nvSpPr>
        <p:spPr>
          <a:xfrm>
            <a:off x="10881360" y="6355080"/>
            <a:ext cx="850392" cy="320040"/>
          </a:xfrm>
          <a:prstGeom prst="rect">
            <a:avLst/>
          </a:prstGeom>
          <a:noFill/>
        </p:spPr>
        <p:txBody>
          <a:bodyPr wrap="square" lIns="0" rIns="0" tIns="0" bIns="0" anchor="ctr"/>
          <a:lstStyle/>
          <a:p>
            <a:pPr algn="r">
              <a:lnSpc>
                <a:spcPct val="115000"/>
              </a:lnSpc>
              <a:spcAft>
                <a:spcPts val="0"/>
              </a:spcAft>
            </a:pPr>
            <a:r>
              <a:rPr sz="1200" b="0" i="0">
                <a:solidFill>
                  <a:srgbClr val="5A5A5A"/>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2</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Agenda and Speakers</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15 minutes, four speakers, then questions</a:t>
            </a:r>
          </a:p>
        </p:txBody>
      </p:sp>
      <p:sp>
        <p:nvSpPr>
          <p:cNvPr id="10" name="Rounded Rectangle 9"/>
          <p:cNvSpPr/>
          <p:nvPr/>
        </p:nvSpPr>
        <p:spPr>
          <a:xfrm>
            <a:off x="411480" y="1965960"/>
            <a:ext cx="2697480" cy="3566160"/>
          </a:xfrm>
          <a:prstGeom prst="roundRect">
            <a:avLst>
              <a:gd name="adj" fmla="val 5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508760" y="2148840"/>
            <a:ext cx="502920" cy="502920"/>
          </a:xfrm>
          <a:prstGeom prst="roundRect">
            <a:avLst>
              <a:gd name="adj" fmla="val 50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800" b="1" i="0">
                <a:solidFill>
                  <a:srgbClr val="FFFFFF"/>
                </a:solidFill>
                <a:latin typeface="Calibri"/>
              </a:rPr>
              <a:t>1</a:t>
            </a:r>
          </a:p>
        </p:txBody>
      </p:sp>
      <p:sp>
        <p:nvSpPr>
          <p:cNvPr id="12" name="TextBox 11"/>
          <p:cNvSpPr txBox="1"/>
          <p:nvPr/>
        </p:nvSpPr>
        <p:spPr>
          <a:xfrm>
            <a:off x="521208" y="2788920"/>
            <a:ext cx="2478024" cy="457200"/>
          </a:xfrm>
          <a:prstGeom prst="rect">
            <a:avLst/>
          </a:prstGeom>
          <a:noFill/>
        </p:spPr>
        <p:txBody>
          <a:bodyPr wrap="square" lIns="0" rIns="0" tIns="0" bIns="0" anchor="ctr"/>
          <a:lstStyle/>
          <a:p>
            <a:pPr algn="ctr">
              <a:lnSpc>
                <a:spcPct val="115000"/>
              </a:lnSpc>
              <a:spcAft>
                <a:spcPts val="0"/>
              </a:spcAft>
            </a:pPr>
            <a:r>
              <a:rPr sz="1550" b="1" i="0">
                <a:solidFill>
                  <a:srgbClr val="2B2B2B"/>
                </a:solidFill>
                <a:latin typeface="Calibri"/>
              </a:rPr>
              <a:t>Ranveer Singh Thakur</a:t>
            </a:r>
          </a:p>
        </p:txBody>
      </p:sp>
      <p:sp>
        <p:nvSpPr>
          <p:cNvPr id="13" name="TextBox 12"/>
          <p:cNvSpPr txBox="1"/>
          <p:nvPr/>
        </p:nvSpPr>
        <p:spPr>
          <a:xfrm>
            <a:off x="576072" y="3291840"/>
            <a:ext cx="2377440" cy="1554480"/>
          </a:xfrm>
          <a:prstGeom prst="rect">
            <a:avLst/>
          </a:prstGeom>
          <a:noFill/>
        </p:spPr>
        <p:txBody>
          <a:bodyPr wrap="square" lIns="0" rIns="0" tIns="0" bIns="0" anchor="t"/>
          <a:lstStyle/>
          <a:p>
            <a:pPr algn="ctr">
              <a:lnSpc>
                <a:spcPct val="115000"/>
              </a:lnSpc>
              <a:spcAft>
                <a:spcPts val="0"/>
              </a:spcAft>
            </a:pPr>
            <a:r>
              <a:rPr sz="1250" b="0" i="0">
                <a:solidFill>
                  <a:srgbClr val="2B2B2B"/>
                </a:solidFill>
                <a:latin typeface="Calibri"/>
              </a:rPr>
              <a:t>Introduction, problem statement, literature review, research gap and objectives</a:t>
            </a:r>
          </a:p>
        </p:txBody>
      </p:sp>
      <p:sp>
        <p:nvSpPr>
          <p:cNvPr id="14" name="Rounded Rectangle 13"/>
          <p:cNvSpPr/>
          <p:nvPr/>
        </p:nvSpPr>
        <p:spPr>
          <a:xfrm>
            <a:off x="640080" y="4892040"/>
            <a:ext cx="2240280" cy="4572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4892040"/>
            <a:ext cx="2240280" cy="457200"/>
          </a:xfrm>
          <a:prstGeom prst="rect">
            <a:avLst/>
          </a:prstGeom>
          <a:noFill/>
        </p:spPr>
        <p:txBody>
          <a:bodyPr wrap="square" lIns="0" rIns="0" tIns="0" bIns="0" anchor="ctr"/>
          <a:lstStyle/>
          <a:p>
            <a:pPr algn="ctr">
              <a:lnSpc>
                <a:spcPct val="115000"/>
              </a:lnSpc>
              <a:spcAft>
                <a:spcPts val="0"/>
              </a:spcAft>
            </a:pPr>
            <a:r>
              <a:rPr sz="1100" b="1" i="0">
                <a:solidFill>
                  <a:srgbClr val="BC312C"/>
                </a:solidFill>
                <a:latin typeface="Calibri"/>
              </a:rPr>
              <a:t>Slides 3 to 6  ·  about 3.5 min</a:t>
            </a:r>
          </a:p>
        </p:txBody>
      </p:sp>
      <p:sp>
        <p:nvSpPr>
          <p:cNvPr id="16" name="Rounded Rectangle 15"/>
          <p:cNvSpPr/>
          <p:nvPr/>
        </p:nvSpPr>
        <p:spPr>
          <a:xfrm>
            <a:off x="3273552" y="1965960"/>
            <a:ext cx="2697480" cy="3566160"/>
          </a:xfrm>
          <a:prstGeom prst="roundRect">
            <a:avLst>
              <a:gd name="adj" fmla="val 5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370832" y="2148840"/>
            <a:ext cx="502920" cy="502920"/>
          </a:xfrm>
          <a:prstGeom prst="roundRect">
            <a:avLst>
              <a:gd name="adj" fmla="val 50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800" b="1" i="0">
                <a:solidFill>
                  <a:srgbClr val="FFFFFF"/>
                </a:solidFill>
                <a:latin typeface="Calibri"/>
              </a:rPr>
              <a:t>2</a:t>
            </a:r>
          </a:p>
        </p:txBody>
      </p:sp>
      <p:sp>
        <p:nvSpPr>
          <p:cNvPr id="18" name="TextBox 17"/>
          <p:cNvSpPr txBox="1"/>
          <p:nvPr/>
        </p:nvSpPr>
        <p:spPr>
          <a:xfrm>
            <a:off x="3383280" y="2788920"/>
            <a:ext cx="2478024" cy="457200"/>
          </a:xfrm>
          <a:prstGeom prst="rect">
            <a:avLst/>
          </a:prstGeom>
          <a:noFill/>
        </p:spPr>
        <p:txBody>
          <a:bodyPr wrap="square" lIns="0" rIns="0" tIns="0" bIns="0" anchor="ctr"/>
          <a:lstStyle/>
          <a:p>
            <a:pPr algn="ctr">
              <a:lnSpc>
                <a:spcPct val="115000"/>
              </a:lnSpc>
              <a:spcAft>
                <a:spcPts val="0"/>
              </a:spcAft>
            </a:pPr>
            <a:r>
              <a:rPr sz="1550" b="1" i="0">
                <a:solidFill>
                  <a:srgbClr val="2B2B2B"/>
                </a:solidFill>
                <a:latin typeface="Calibri"/>
              </a:rPr>
              <a:t>Dev Patel</a:t>
            </a:r>
          </a:p>
        </p:txBody>
      </p:sp>
      <p:sp>
        <p:nvSpPr>
          <p:cNvPr id="19" name="TextBox 18"/>
          <p:cNvSpPr txBox="1"/>
          <p:nvPr/>
        </p:nvSpPr>
        <p:spPr>
          <a:xfrm>
            <a:off x="3438144" y="3291840"/>
            <a:ext cx="2377440" cy="1554480"/>
          </a:xfrm>
          <a:prstGeom prst="rect">
            <a:avLst/>
          </a:prstGeom>
          <a:noFill/>
        </p:spPr>
        <p:txBody>
          <a:bodyPr wrap="square" lIns="0" rIns="0" tIns="0" bIns="0" anchor="t"/>
          <a:lstStyle/>
          <a:p>
            <a:pPr algn="ctr">
              <a:lnSpc>
                <a:spcPct val="115000"/>
              </a:lnSpc>
              <a:spcAft>
                <a:spcPts val="0"/>
              </a:spcAft>
            </a:pPr>
            <a:r>
              <a:rPr sz="1250" b="0" i="0">
                <a:solidFill>
                  <a:srgbClr val="2B2B2B"/>
                </a:solidFill>
                <a:latin typeface="Calibri"/>
              </a:rPr>
              <a:t>System design: architecture, data model, request flow, technology choices</a:t>
            </a:r>
          </a:p>
        </p:txBody>
      </p:sp>
      <p:sp>
        <p:nvSpPr>
          <p:cNvPr id="20" name="Rounded Rectangle 19"/>
          <p:cNvSpPr/>
          <p:nvPr/>
        </p:nvSpPr>
        <p:spPr>
          <a:xfrm>
            <a:off x="3502152" y="4892040"/>
            <a:ext cx="2240280" cy="4572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502152" y="4892040"/>
            <a:ext cx="2240280" cy="457200"/>
          </a:xfrm>
          <a:prstGeom prst="rect">
            <a:avLst/>
          </a:prstGeom>
          <a:noFill/>
        </p:spPr>
        <p:txBody>
          <a:bodyPr wrap="square" lIns="0" rIns="0" tIns="0" bIns="0" anchor="ctr"/>
          <a:lstStyle/>
          <a:p>
            <a:pPr algn="ctr">
              <a:lnSpc>
                <a:spcPct val="115000"/>
              </a:lnSpc>
              <a:spcAft>
                <a:spcPts val="0"/>
              </a:spcAft>
            </a:pPr>
            <a:r>
              <a:rPr sz="1100" b="1" i="0">
                <a:solidFill>
                  <a:srgbClr val="BC312C"/>
                </a:solidFill>
                <a:latin typeface="Calibri"/>
              </a:rPr>
              <a:t>Slides 7 to 10  ·  about 3.5 min</a:t>
            </a:r>
          </a:p>
        </p:txBody>
      </p:sp>
      <p:sp>
        <p:nvSpPr>
          <p:cNvPr id="22" name="Rounded Rectangle 21"/>
          <p:cNvSpPr/>
          <p:nvPr/>
        </p:nvSpPr>
        <p:spPr>
          <a:xfrm>
            <a:off x="6135624" y="1965960"/>
            <a:ext cx="2697480" cy="3566160"/>
          </a:xfrm>
          <a:prstGeom prst="roundRect">
            <a:avLst>
              <a:gd name="adj" fmla="val 5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7232904" y="2148840"/>
            <a:ext cx="502920" cy="502920"/>
          </a:xfrm>
          <a:prstGeom prst="roundRect">
            <a:avLst>
              <a:gd name="adj" fmla="val 50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800" b="1" i="0">
                <a:solidFill>
                  <a:srgbClr val="FFFFFF"/>
                </a:solidFill>
                <a:latin typeface="Calibri"/>
              </a:rPr>
              <a:t>3</a:t>
            </a:r>
          </a:p>
        </p:txBody>
      </p:sp>
      <p:sp>
        <p:nvSpPr>
          <p:cNvPr id="24" name="TextBox 23"/>
          <p:cNvSpPr txBox="1"/>
          <p:nvPr/>
        </p:nvSpPr>
        <p:spPr>
          <a:xfrm>
            <a:off x="6245352" y="2788920"/>
            <a:ext cx="2478024" cy="457200"/>
          </a:xfrm>
          <a:prstGeom prst="rect">
            <a:avLst/>
          </a:prstGeom>
          <a:noFill/>
        </p:spPr>
        <p:txBody>
          <a:bodyPr wrap="square" lIns="0" rIns="0" tIns="0" bIns="0" anchor="ctr"/>
          <a:lstStyle/>
          <a:p>
            <a:pPr algn="ctr">
              <a:lnSpc>
                <a:spcPct val="115000"/>
              </a:lnSpc>
              <a:spcAft>
                <a:spcPts val="0"/>
              </a:spcAft>
            </a:pPr>
            <a:r>
              <a:rPr sz="1550" b="1" i="0">
                <a:solidFill>
                  <a:srgbClr val="2B2B2B"/>
                </a:solidFill>
                <a:latin typeface="Calibri"/>
              </a:rPr>
              <a:t>Rohan Bhoge</a:t>
            </a:r>
          </a:p>
        </p:txBody>
      </p:sp>
      <p:sp>
        <p:nvSpPr>
          <p:cNvPr id="25" name="TextBox 24"/>
          <p:cNvSpPr txBox="1"/>
          <p:nvPr/>
        </p:nvSpPr>
        <p:spPr>
          <a:xfrm>
            <a:off x="6300216" y="3291840"/>
            <a:ext cx="2377440" cy="1554480"/>
          </a:xfrm>
          <a:prstGeom prst="rect">
            <a:avLst/>
          </a:prstGeom>
          <a:noFill/>
        </p:spPr>
        <p:txBody>
          <a:bodyPr wrap="square" lIns="0" rIns="0" tIns="0" bIns="0" anchor="t"/>
          <a:lstStyle/>
          <a:p>
            <a:pPr algn="ctr">
              <a:lnSpc>
                <a:spcPct val="115000"/>
              </a:lnSpc>
              <a:spcAft>
                <a:spcPts val="0"/>
              </a:spcAft>
            </a:pPr>
            <a:r>
              <a:rPr sz="1250" b="0" i="0">
                <a:solidFill>
                  <a:srgbClr val="2B2B2B"/>
                </a:solidFill>
                <a:latin typeface="Calibri"/>
              </a:rPr>
              <a:t>Solution internals: chunking, MedCPT embeddings, other models, retrieval scoring, LLM with de-identification, paper capture</a:t>
            </a:r>
          </a:p>
        </p:txBody>
      </p:sp>
      <p:sp>
        <p:nvSpPr>
          <p:cNvPr id="26" name="Rounded Rectangle 25"/>
          <p:cNvSpPr/>
          <p:nvPr/>
        </p:nvSpPr>
        <p:spPr>
          <a:xfrm>
            <a:off x="6364224" y="4892040"/>
            <a:ext cx="2240280" cy="4572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64224" y="4892040"/>
            <a:ext cx="2240280" cy="457200"/>
          </a:xfrm>
          <a:prstGeom prst="rect">
            <a:avLst/>
          </a:prstGeom>
          <a:noFill/>
        </p:spPr>
        <p:txBody>
          <a:bodyPr wrap="square" lIns="0" rIns="0" tIns="0" bIns="0" anchor="ctr"/>
          <a:lstStyle/>
          <a:p>
            <a:pPr algn="ctr">
              <a:lnSpc>
                <a:spcPct val="115000"/>
              </a:lnSpc>
              <a:spcAft>
                <a:spcPts val="0"/>
              </a:spcAft>
            </a:pPr>
            <a:r>
              <a:rPr sz="1100" b="1" i="0">
                <a:solidFill>
                  <a:srgbClr val="BC312C"/>
                </a:solidFill>
                <a:latin typeface="Calibri"/>
              </a:rPr>
              <a:t>Slides 11 to 16  ·  about 4 min</a:t>
            </a:r>
          </a:p>
        </p:txBody>
      </p:sp>
      <p:sp>
        <p:nvSpPr>
          <p:cNvPr id="28" name="Rounded Rectangle 27"/>
          <p:cNvSpPr/>
          <p:nvPr/>
        </p:nvSpPr>
        <p:spPr>
          <a:xfrm>
            <a:off x="8997696" y="1965960"/>
            <a:ext cx="2697480" cy="3566160"/>
          </a:xfrm>
          <a:prstGeom prst="roundRect">
            <a:avLst>
              <a:gd name="adj" fmla="val 5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10094976" y="2148840"/>
            <a:ext cx="502920" cy="502920"/>
          </a:xfrm>
          <a:prstGeom prst="roundRect">
            <a:avLst>
              <a:gd name="adj" fmla="val 50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800" b="1" i="0">
                <a:solidFill>
                  <a:srgbClr val="FFFFFF"/>
                </a:solidFill>
                <a:latin typeface="Calibri"/>
              </a:rPr>
              <a:t>4</a:t>
            </a:r>
          </a:p>
        </p:txBody>
      </p:sp>
      <p:sp>
        <p:nvSpPr>
          <p:cNvPr id="30" name="TextBox 29"/>
          <p:cNvSpPr txBox="1"/>
          <p:nvPr/>
        </p:nvSpPr>
        <p:spPr>
          <a:xfrm>
            <a:off x="9107424" y="2788920"/>
            <a:ext cx="2478024" cy="457200"/>
          </a:xfrm>
          <a:prstGeom prst="rect">
            <a:avLst/>
          </a:prstGeom>
          <a:noFill/>
        </p:spPr>
        <p:txBody>
          <a:bodyPr wrap="square" lIns="0" rIns="0" tIns="0" bIns="0" anchor="ctr"/>
          <a:lstStyle/>
          <a:p>
            <a:pPr algn="ctr">
              <a:lnSpc>
                <a:spcPct val="115000"/>
              </a:lnSpc>
              <a:spcAft>
                <a:spcPts val="0"/>
              </a:spcAft>
            </a:pPr>
            <a:r>
              <a:rPr sz="1550" b="1" i="0">
                <a:solidFill>
                  <a:srgbClr val="2B2B2B"/>
                </a:solidFill>
                <a:latin typeface="Calibri"/>
              </a:rPr>
              <a:t>Nihal Korgaonkar</a:t>
            </a:r>
          </a:p>
        </p:txBody>
      </p:sp>
      <p:sp>
        <p:nvSpPr>
          <p:cNvPr id="31" name="TextBox 30"/>
          <p:cNvSpPr txBox="1"/>
          <p:nvPr/>
        </p:nvSpPr>
        <p:spPr>
          <a:xfrm>
            <a:off x="9162288" y="3291840"/>
            <a:ext cx="2377440" cy="1554480"/>
          </a:xfrm>
          <a:prstGeom prst="rect">
            <a:avLst/>
          </a:prstGeom>
          <a:noFill/>
        </p:spPr>
        <p:txBody>
          <a:bodyPr wrap="square" lIns="0" rIns="0" tIns="0" bIns="0" anchor="t"/>
          <a:lstStyle/>
          <a:p>
            <a:pPr algn="ctr">
              <a:lnSpc>
                <a:spcPct val="115000"/>
              </a:lnSpc>
              <a:spcAft>
                <a:spcPts val="0"/>
              </a:spcAft>
            </a:pPr>
            <a:r>
              <a:rPr sz="1250" b="0" i="0">
                <a:solidFill>
                  <a:srgbClr val="2B2B2B"/>
                </a:solidFill>
                <a:latin typeface="Calibri"/>
              </a:rPr>
              <a:t>TAP-QA benchmark, results with plots, product walkthrough, impact, limits and conclusion</a:t>
            </a:r>
          </a:p>
        </p:txBody>
      </p:sp>
      <p:sp>
        <p:nvSpPr>
          <p:cNvPr id="32" name="Rounded Rectangle 31"/>
          <p:cNvSpPr/>
          <p:nvPr/>
        </p:nvSpPr>
        <p:spPr>
          <a:xfrm>
            <a:off x="9226296" y="4892040"/>
            <a:ext cx="2240280" cy="4572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226296" y="4892040"/>
            <a:ext cx="2240280" cy="457200"/>
          </a:xfrm>
          <a:prstGeom prst="rect">
            <a:avLst/>
          </a:prstGeom>
          <a:noFill/>
        </p:spPr>
        <p:txBody>
          <a:bodyPr wrap="square" lIns="0" rIns="0" tIns="0" bIns="0" anchor="ctr"/>
          <a:lstStyle/>
          <a:p>
            <a:pPr algn="ctr">
              <a:lnSpc>
                <a:spcPct val="115000"/>
              </a:lnSpc>
              <a:spcAft>
                <a:spcPts val="0"/>
              </a:spcAft>
            </a:pPr>
            <a:r>
              <a:rPr sz="1100" b="1" i="0">
                <a:solidFill>
                  <a:srgbClr val="BC312C"/>
                </a:solidFill>
                <a:latin typeface="Calibri"/>
              </a:rPr>
              <a:t>Slides 17 to 24  ·  about 4 min</a:t>
            </a:r>
          </a:p>
        </p:txBody>
      </p:sp>
      <p:sp>
        <p:nvSpPr>
          <p:cNvPr id="34" name="TextBox 33"/>
          <p:cNvSpPr txBox="1"/>
          <p:nvPr/>
        </p:nvSpPr>
        <p:spPr>
          <a:xfrm>
            <a:off x="411480" y="5715000"/>
            <a:ext cx="11338560" cy="457200"/>
          </a:xfrm>
          <a:prstGeom prst="rect">
            <a:avLst/>
          </a:prstGeom>
          <a:noFill/>
        </p:spPr>
        <p:txBody>
          <a:bodyPr wrap="square" lIns="0" rIns="0" tIns="0" bIns="0" anchor="ctr"/>
          <a:lstStyle/>
          <a:p>
            <a:pPr algn="ctr">
              <a:lnSpc>
                <a:spcPct val="115000"/>
              </a:lnSpc>
              <a:spcAft>
                <a:spcPts val="0"/>
              </a:spcAft>
            </a:pPr>
            <a:r>
              <a:rPr sz="1350" b="0" i="1">
                <a:solidFill>
                  <a:srgbClr val="5A5A5A"/>
                </a:solidFill>
                <a:latin typeface="Calibri"/>
              </a:rPr>
              <a:t>Flow: Introduction  →  Problem  →  Literature  →  System design  →  Solution  →  Results  →  Conclusion  →  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3</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Introduction</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Who we built SoloPrac for, and what it does</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Ranveer</a:t>
            </a:r>
          </a:p>
        </p:txBody>
      </p:sp>
      <p:sp>
        <p:nvSpPr>
          <p:cNvPr id="11" name="TextBox 10"/>
          <p:cNvSpPr txBox="1"/>
          <p:nvPr/>
        </p:nvSpPr>
        <p:spPr>
          <a:xfrm>
            <a:off x="411480" y="1874519"/>
            <a:ext cx="3931920" cy="365760"/>
          </a:xfrm>
          <a:prstGeom prst="rect">
            <a:avLst/>
          </a:prstGeom>
          <a:noFill/>
        </p:spPr>
        <p:txBody>
          <a:bodyPr wrap="square" lIns="0" rIns="0" tIns="0" bIns="0" anchor="t"/>
          <a:lstStyle/>
          <a:p>
            <a:pPr algn="l">
              <a:lnSpc>
                <a:spcPct val="115000"/>
              </a:lnSpc>
              <a:spcAft>
                <a:spcPts val="0"/>
              </a:spcAft>
            </a:pPr>
            <a:r>
              <a:rPr sz="1500" b="1" i="0">
                <a:solidFill>
                  <a:srgbClr val="BC312C"/>
                </a:solidFill>
                <a:latin typeface="Calibri"/>
              </a:rPr>
              <a:t>The doctor we designed for</a:t>
            </a:r>
          </a:p>
        </p:txBody>
      </p:sp>
      <p:sp>
        <p:nvSpPr>
          <p:cNvPr id="12" name="TextBox 11"/>
          <p:cNvSpPr txBox="1"/>
          <p:nvPr/>
        </p:nvSpPr>
        <p:spPr>
          <a:xfrm>
            <a:off x="411480" y="2240280"/>
            <a:ext cx="3931920" cy="2103120"/>
          </a:xfrm>
          <a:prstGeom prst="rect">
            <a:avLst/>
          </a:prstGeom>
          <a:noFill/>
        </p:spPr>
        <p:txBody>
          <a:bodyPr wrap="square" lIns="0" rIns="0" tIns="0" bIns="0" anchor="t"/>
          <a:lstStyle/>
          <a:p>
            <a:pPr algn="l">
              <a:lnSpc>
                <a:spcPct val="108000"/>
              </a:lnSpc>
              <a:spcAft>
                <a:spcPts val="0"/>
              </a:spcAft>
            </a:pPr>
            <a:r>
              <a:rPr sz="1250" b="0" i="0">
                <a:solidFill>
                  <a:srgbClr val="2B2B2B"/>
                </a:solidFill>
                <a:latin typeface="Calibri"/>
              </a:rPr>
              <a:t>A general practitioner working alone sees around fifteen patients a day. The history sits in paper folders, phone photos of lab reports and the odd software install. There is no IT staff, and between two patients there is perhaps half a minute to look something up.</a:t>
            </a:r>
          </a:p>
        </p:txBody>
      </p:sp>
      <p:sp>
        <p:nvSpPr>
          <p:cNvPr id="13" name="TextBox 12"/>
          <p:cNvSpPr txBox="1"/>
          <p:nvPr/>
        </p:nvSpPr>
        <p:spPr>
          <a:xfrm>
            <a:off x="411480" y="3611880"/>
            <a:ext cx="3931920" cy="365760"/>
          </a:xfrm>
          <a:prstGeom prst="rect">
            <a:avLst/>
          </a:prstGeom>
          <a:noFill/>
        </p:spPr>
        <p:txBody>
          <a:bodyPr wrap="square" lIns="0" rIns="0" tIns="0" bIns="0" anchor="t"/>
          <a:lstStyle/>
          <a:p>
            <a:pPr algn="l">
              <a:lnSpc>
                <a:spcPct val="115000"/>
              </a:lnSpc>
              <a:spcAft>
                <a:spcPts val="0"/>
              </a:spcAft>
            </a:pPr>
            <a:r>
              <a:rPr sz="1500" b="1" i="0">
                <a:solidFill>
                  <a:srgbClr val="BC312C"/>
                </a:solidFill>
                <a:latin typeface="Calibri"/>
              </a:rPr>
              <a:t>What SoloPrac gives that doctor</a:t>
            </a:r>
          </a:p>
        </p:txBody>
      </p:sp>
      <p:sp>
        <p:nvSpPr>
          <p:cNvPr id="14" name="TextBox 13"/>
          <p:cNvSpPr txBox="1"/>
          <p:nvPr/>
        </p:nvSpPr>
        <p:spPr>
          <a:xfrm>
            <a:off x="411480" y="3977639"/>
            <a:ext cx="3931920" cy="2286000"/>
          </a:xfrm>
          <a:prstGeom prst="rect">
            <a:avLst/>
          </a:prstGeom>
          <a:noFill/>
        </p:spPr>
        <p:txBody>
          <a:bodyPr wrap="square" lIns="0" rIns="0" tIns="0" bIns="0" anchor="t"/>
          <a:lstStyle/>
          <a:p>
            <a:pPr algn="l" marL="150812" indent="-150812">
              <a:lnSpc>
                <a:spcPct val="100000"/>
              </a:lnSpc>
              <a:spcAft>
                <a:spcPts val="400"/>
              </a:spcAft>
              <a:buChar char="•"/>
            </a:pPr>
            <a:r>
              <a:rPr sz="1250" b="0" i="0">
                <a:solidFill>
                  <a:srgbClr val="2B2B2B"/>
                </a:solidFill>
                <a:latin typeface="Calibri"/>
              </a:rPr>
              <a:t>A patient timeline that marks current, corrected and historical values</a:t>
            </a:r>
          </a:p>
          <a:p>
            <a:pPr algn="l" marL="150812" indent="-150812">
              <a:lnSpc>
                <a:spcPct val="100000"/>
              </a:lnSpc>
              <a:spcAft>
                <a:spcPts val="400"/>
              </a:spcAft>
              <a:buChar char="•"/>
            </a:pPr>
            <a:r>
              <a:rPr sz="1250" b="0" i="0">
                <a:solidFill>
                  <a:srgbClr val="2B2B2B"/>
                </a:solidFill>
                <a:latin typeface="Calibri"/>
              </a:rPr>
              <a:t>A chat that answers from the record, with a citation for every claim</a:t>
            </a:r>
          </a:p>
          <a:p>
            <a:pPr algn="l" marL="150812" indent="-150812">
              <a:lnSpc>
                <a:spcPct val="100000"/>
              </a:lnSpc>
              <a:spcAft>
                <a:spcPts val="400"/>
              </a:spcAft>
              <a:buChar char="•"/>
            </a:pPr>
            <a:r>
              <a:rPr sz="1250" b="0" i="0">
                <a:solidFill>
                  <a:srgbClr val="2B2B2B"/>
                </a:solidFill>
                <a:latin typeface="Calibri"/>
              </a:rPr>
              <a:t>History viewed as of any date</a:t>
            </a:r>
          </a:p>
          <a:p>
            <a:pPr algn="l" marL="150812" indent="-150812">
              <a:lnSpc>
                <a:spcPct val="100000"/>
              </a:lnSpc>
              <a:spcAft>
                <a:spcPts val="400"/>
              </a:spcAft>
              <a:buChar char="•"/>
            </a:pPr>
            <a:r>
              <a:rPr sz="1250" b="0" i="0">
                <a:solidFill>
                  <a:srgbClr val="2B2B2B"/>
                </a:solidFill>
                <a:latin typeface="Calibri"/>
              </a:rPr>
              <a:t>Photo capture of printed reports that holds back unreadable scans</a:t>
            </a:r>
          </a:p>
          <a:p>
            <a:pPr algn="l" marL="150812" indent="-150812">
              <a:lnSpc>
                <a:spcPct val="100000"/>
              </a:lnSpc>
              <a:spcAft>
                <a:spcPts val="400"/>
              </a:spcAft>
              <a:buChar char="•"/>
            </a:pPr>
            <a:r>
              <a:rPr sz="1250" b="0" i="0">
                <a:solidFill>
                  <a:srgbClr val="2B2B2B"/>
                </a:solidFill>
                <a:latin typeface="Calibri"/>
              </a:rPr>
              <a:t>Prescriptions, certificates, invoices and weekly reports as PDFs in the patient's inbox</a:t>
            </a:r>
          </a:p>
        </p:txBody>
      </p:sp>
      <p:pic>
        <p:nvPicPr>
          <p:cNvPr id="15" name="Picture 14" descr="records_timeline.png"/>
          <p:cNvPicPr>
            <a:picLocks noChangeAspect="1"/>
          </p:cNvPicPr>
          <p:nvPr/>
        </p:nvPicPr>
        <p:blipFill>
          <a:blip r:embed="rId5"/>
          <a:stretch>
            <a:fillRect/>
          </a:stretch>
        </p:blipFill>
        <p:spPr>
          <a:xfrm>
            <a:off x="4572000" y="1987200"/>
            <a:ext cx="7178040" cy="3020758"/>
          </a:xfrm>
          <a:prstGeom prst="rect">
            <a:avLst/>
          </a:prstGeom>
        </p:spPr>
      </p:pic>
      <p:sp>
        <p:nvSpPr>
          <p:cNvPr id="16" name="Rectangle 15"/>
          <p:cNvSpPr/>
          <p:nvPr/>
        </p:nvSpPr>
        <p:spPr>
          <a:xfrm>
            <a:off x="4553712" y="1968912"/>
            <a:ext cx="7214616" cy="3057334"/>
          </a:xfrm>
          <a:prstGeom prst="rect">
            <a:avLst/>
          </a:prstGeom>
          <a:noFill/>
          <a:ln w="9525">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0" y="5074920"/>
            <a:ext cx="7178040" cy="274320"/>
          </a:xfrm>
          <a:prstGeom prst="rect">
            <a:avLst/>
          </a:prstGeom>
          <a:noFill/>
        </p:spPr>
        <p:txBody>
          <a:bodyPr wrap="square" lIns="0" rIns="0" tIns="0" bIns="0" anchor="t"/>
          <a:lstStyle/>
          <a:p>
            <a:pPr algn="ctr">
              <a:lnSpc>
                <a:spcPct val="115000"/>
              </a:lnSpc>
              <a:spcAft>
                <a:spcPts val="0"/>
              </a:spcAft>
            </a:pPr>
            <a:r>
              <a:rPr sz="1050" b="0" i="1">
                <a:solidFill>
                  <a:srgbClr val="5A5A5A"/>
                </a:solidFill>
                <a:latin typeface="Calibri"/>
              </a:rPr>
              <a:t>SoloPrac console: a corrected potassium value, marked superseded, with the correction linked below it.</a:t>
            </a:r>
          </a:p>
        </p:txBody>
      </p:sp>
      <p:sp>
        <p:nvSpPr>
          <p:cNvPr id="18" name="Rounded Rectangle 17"/>
          <p:cNvSpPr/>
          <p:nvPr/>
        </p:nvSpPr>
        <p:spPr>
          <a:xfrm>
            <a:off x="4572000" y="5486400"/>
            <a:ext cx="2286000" cy="777240"/>
          </a:xfrm>
          <a:prstGeom prst="roundRect">
            <a:avLst>
              <a:gd name="adj" fmla="val 10000"/>
            </a:avLst>
          </a:prstGeom>
          <a:solidFill>
            <a:srgbClr val="E6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250" b="1" i="0">
                <a:solidFill>
                  <a:srgbClr val="1F6F5C"/>
                </a:solidFill>
                <a:latin typeface="Calibri"/>
              </a:rPr>
              <a:t>One laptop</a:t>
            </a:r>
          </a:p>
          <a:p>
            <a:pPr algn="ctr">
              <a:lnSpc>
                <a:spcPct val="100000"/>
              </a:lnSpc>
            </a:pPr>
            <a:r>
              <a:rPr sz="1050" b="0" i="0">
                <a:solidFill>
                  <a:srgbClr val="5A5A5A"/>
                </a:solidFill>
                <a:latin typeface="Calibri"/>
              </a:rPr>
              <a:t>i5-12450H, 16 GB RAM, RTX 3050 4 GB</a:t>
            </a:r>
          </a:p>
        </p:txBody>
      </p:sp>
      <p:sp>
        <p:nvSpPr>
          <p:cNvPr id="19" name="Rounded Rectangle 18"/>
          <p:cNvSpPr/>
          <p:nvPr/>
        </p:nvSpPr>
        <p:spPr>
          <a:xfrm>
            <a:off x="6995160" y="5486400"/>
            <a:ext cx="2286000" cy="777240"/>
          </a:xfrm>
          <a:prstGeom prst="roundRect">
            <a:avLst>
              <a:gd name="adj" fmla="val 10000"/>
            </a:avLst>
          </a:prstGeom>
          <a:solidFill>
            <a:srgbClr val="E6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250" b="1" i="0">
                <a:solidFill>
                  <a:srgbClr val="1F6F5C"/>
                </a:solidFill>
                <a:latin typeface="Calibri"/>
              </a:rPr>
              <a:t>Zero monthly cost</a:t>
            </a:r>
          </a:p>
          <a:p>
            <a:pPr algn="ctr">
              <a:lnSpc>
                <a:spcPct val="100000"/>
              </a:lnSpc>
            </a:pPr>
            <a:r>
              <a:rPr sz="1050" b="0" i="0">
                <a:solidFill>
                  <a:srgbClr val="5A5A5A"/>
                </a:solidFill>
                <a:latin typeface="Calibri"/>
              </a:rPr>
              <a:t>local models, free-tier LLMs</a:t>
            </a:r>
          </a:p>
        </p:txBody>
      </p:sp>
      <p:sp>
        <p:nvSpPr>
          <p:cNvPr id="20" name="Rounded Rectangle 19"/>
          <p:cNvSpPr/>
          <p:nvPr/>
        </p:nvSpPr>
        <p:spPr>
          <a:xfrm>
            <a:off x="9418320" y="5486400"/>
            <a:ext cx="2286000" cy="777240"/>
          </a:xfrm>
          <a:prstGeom prst="roundRect">
            <a:avLst>
              <a:gd name="adj" fmla="val 10000"/>
            </a:avLst>
          </a:prstGeom>
          <a:solidFill>
            <a:srgbClr val="E6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250" b="1" i="0">
                <a:solidFill>
                  <a:srgbClr val="1F6F5C"/>
                </a:solidFill>
                <a:latin typeface="Calibri"/>
              </a:rPr>
              <a:t>Nothing identifiable leaves</a:t>
            </a:r>
          </a:p>
          <a:p>
            <a:pPr algn="ctr">
              <a:lnSpc>
                <a:spcPct val="100000"/>
              </a:lnSpc>
            </a:pPr>
            <a:r>
              <a:rPr sz="1050" b="0" i="0">
                <a:solidFill>
                  <a:srgbClr val="5A5A5A"/>
                </a:solidFill>
                <a:latin typeface="Calibri"/>
              </a:rPr>
              <a:t>DPDP Act 2023 is the design limit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4</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Problem Statement</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Corrections are added, never erased, and similarity search cannot tell which value still counts</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Ranveer</a:t>
            </a:r>
          </a:p>
        </p:txBody>
      </p:sp>
      <p:sp>
        <p:nvSpPr>
          <p:cNvPr id="11" name="Rounded Rectangle 10"/>
          <p:cNvSpPr/>
          <p:nvPr/>
        </p:nvSpPr>
        <p:spPr>
          <a:xfrm>
            <a:off x="411480" y="1874519"/>
            <a:ext cx="11365992" cy="685800"/>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300" b="0" i="0">
                <a:solidFill>
                  <a:srgbClr val="2B2B2B"/>
                </a:solidFill>
                <a:latin typeface="Calibri"/>
              </a:rPr>
              <a:t>Given an append-only clinical record in which corrections point at what they replace, return the value that was in force at the time the question asks about: the corrected value for questions about now, and the value on file back then for questions about the past.</a:t>
            </a:r>
          </a:p>
        </p:txBody>
      </p:sp>
      <p:cxnSp>
        <p:nvCxnSpPr>
          <p:cNvPr id="12" name="Connector 11"/>
          <p:cNvCxnSpPr/>
          <p:nvPr/>
        </p:nvCxnSpPr>
        <p:spPr>
          <a:xfrm>
            <a:off x="640080" y="3931920"/>
            <a:ext cx="5120640"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463040" y="3813048"/>
            <a:ext cx="0" cy="237743"/>
          </a:xfrm>
          <a:prstGeom prst="line">
            <a:avLst/>
          </a:prstGeom>
          <a:ln w="25400">
            <a:solidFill>
              <a:srgbClr val="2B2B2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4400" y="4087368"/>
            <a:ext cx="1097280" cy="274320"/>
          </a:xfrm>
          <a:prstGeom prst="rect">
            <a:avLst/>
          </a:prstGeom>
          <a:noFill/>
        </p:spPr>
        <p:txBody>
          <a:bodyPr wrap="square" lIns="0" rIns="0" tIns="0" bIns="0" anchor="t"/>
          <a:lstStyle/>
          <a:p>
            <a:pPr algn="ctr">
              <a:lnSpc>
                <a:spcPct val="115000"/>
              </a:lnSpc>
              <a:spcAft>
                <a:spcPts val="0"/>
              </a:spcAft>
            </a:pPr>
            <a:r>
              <a:rPr sz="1100" b="0" i="0">
                <a:solidFill>
                  <a:srgbClr val="5A5A5A"/>
                </a:solidFill>
                <a:latin typeface="Calibri"/>
              </a:rPr>
              <a:t>3 Mar</a:t>
            </a:r>
          </a:p>
        </p:txBody>
      </p:sp>
      <p:cxnSp>
        <p:nvCxnSpPr>
          <p:cNvPr id="15" name="Connector 14"/>
          <p:cNvCxnSpPr/>
          <p:nvPr/>
        </p:nvCxnSpPr>
        <p:spPr>
          <a:xfrm>
            <a:off x="3566160" y="3813048"/>
            <a:ext cx="0" cy="237743"/>
          </a:xfrm>
          <a:prstGeom prst="line">
            <a:avLst/>
          </a:prstGeom>
          <a:ln w="25400">
            <a:solidFill>
              <a:srgbClr val="2B2B2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017520" y="4087368"/>
            <a:ext cx="1097280" cy="274320"/>
          </a:xfrm>
          <a:prstGeom prst="rect">
            <a:avLst/>
          </a:prstGeom>
          <a:noFill/>
        </p:spPr>
        <p:txBody>
          <a:bodyPr wrap="square" lIns="0" rIns="0" tIns="0" bIns="0" anchor="t"/>
          <a:lstStyle/>
          <a:p>
            <a:pPr algn="ctr">
              <a:lnSpc>
                <a:spcPct val="115000"/>
              </a:lnSpc>
              <a:spcAft>
                <a:spcPts val="0"/>
              </a:spcAft>
            </a:pPr>
            <a:r>
              <a:rPr sz="1100" b="0" i="0">
                <a:solidFill>
                  <a:srgbClr val="5A5A5A"/>
                </a:solidFill>
                <a:latin typeface="Calibri"/>
              </a:rPr>
              <a:t>6 Mar</a:t>
            </a:r>
          </a:p>
        </p:txBody>
      </p:sp>
      <p:cxnSp>
        <p:nvCxnSpPr>
          <p:cNvPr id="17" name="Connector 16"/>
          <p:cNvCxnSpPr/>
          <p:nvPr/>
        </p:nvCxnSpPr>
        <p:spPr>
          <a:xfrm>
            <a:off x="5212080" y="3813048"/>
            <a:ext cx="0" cy="237743"/>
          </a:xfrm>
          <a:prstGeom prst="line">
            <a:avLst/>
          </a:prstGeom>
          <a:ln w="25400">
            <a:solidFill>
              <a:srgbClr val="2B2B2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663440" y="4087368"/>
            <a:ext cx="1097280" cy="274320"/>
          </a:xfrm>
          <a:prstGeom prst="rect">
            <a:avLst/>
          </a:prstGeom>
          <a:noFill/>
        </p:spPr>
        <p:txBody>
          <a:bodyPr wrap="square" lIns="0" rIns="0" tIns="0" bIns="0" anchor="t"/>
          <a:lstStyle/>
          <a:p>
            <a:pPr algn="ctr">
              <a:lnSpc>
                <a:spcPct val="115000"/>
              </a:lnSpc>
              <a:spcAft>
                <a:spcPts val="0"/>
              </a:spcAft>
            </a:pPr>
            <a:r>
              <a:rPr sz="1100" b="0" i="0">
                <a:solidFill>
                  <a:srgbClr val="5A5A5A"/>
                </a:solidFill>
                <a:latin typeface="Calibri"/>
              </a:rPr>
              <a:t>today</a:t>
            </a:r>
          </a:p>
        </p:txBody>
      </p:sp>
      <p:sp>
        <p:nvSpPr>
          <p:cNvPr id="19" name="Rounded Rectangle 18"/>
          <p:cNvSpPr/>
          <p:nvPr/>
        </p:nvSpPr>
        <p:spPr>
          <a:xfrm>
            <a:off x="640080" y="2788920"/>
            <a:ext cx="1645920" cy="731520"/>
          </a:xfrm>
          <a:prstGeom prst="roundRect">
            <a:avLst>
              <a:gd name="adj" fmla="val 12000"/>
            </a:avLst>
          </a:prstGeom>
          <a:solidFill>
            <a:srgbClr val="FBEAEA"/>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v1  creatinine 1.1</a:t>
            </a:r>
          </a:p>
          <a:p>
            <a:pPr algn="ctr">
              <a:lnSpc>
                <a:spcPct val="95000"/>
              </a:lnSpc>
            </a:pPr>
            <a:r>
              <a:rPr sz="950" b="0" i="0">
                <a:solidFill>
                  <a:srgbClr val="5A5A5A"/>
                </a:solidFill>
                <a:latin typeface="Calibri"/>
              </a:rPr>
              <a:t>superseded from 6 Mar</a:t>
            </a:r>
          </a:p>
        </p:txBody>
      </p:sp>
      <p:sp>
        <p:nvSpPr>
          <p:cNvPr id="20" name="Rounded Rectangle 19"/>
          <p:cNvSpPr/>
          <p:nvPr/>
        </p:nvSpPr>
        <p:spPr>
          <a:xfrm>
            <a:off x="2743200" y="2788920"/>
            <a:ext cx="1645920" cy="731520"/>
          </a:xfrm>
          <a:prstGeom prst="roundRect">
            <a:avLst>
              <a:gd name="adj" fmla="val 12000"/>
            </a:avLst>
          </a:prstGeom>
          <a:solidFill>
            <a:srgbClr val="E6F3EE"/>
          </a:solidFill>
          <a:ln w="12700">
            <a:solidFill>
              <a:srgbClr val="7FB8A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v2  creatinine 1.4</a:t>
            </a:r>
          </a:p>
          <a:p>
            <a:pPr algn="ctr">
              <a:lnSpc>
                <a:spcPct val="95000"/>
              </a:lnSpc>
            </a:pPr>
            <a:r>
              <a:rPr sz="950" b="0" i="0">
                <a:solidFill>
                  <a:srgbClr val="5A5A5A"/>
                </a:solidFill>
                <a:latin typeface="Calibri"/>
              </a:rPr>
              <a:t>supersedes v1</a:t>
            </a:r>
          </a:p>
        </p:txBody>
      </p:sp>
      <p:cxnSp>
        <p:nvCxnSpPr>
          <p:cNvPr id="21" name="Connector 20"/>
          <p:cNvCxnSpPr/>
          <p:nvPr/>
        </p:nvCxnSpPr>
        <p:spPr>
          <a:xfrm flipH="1">
            <a:off x="2286000" y="3154679"/>
            <a:ext cx="457200" cy="0"/>
          </a:xfrm>
          <a:prstGeom prst="line">
            <a:avLst/>
          </a:prstGeom>
          <a:ln w="25400">
            <a:solidFill>
              <a:srgbClr val="1F6F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4434840"/>
            <a:ext cx="5120640" cy="685800"/>
          </a:xfrm>
          <a:prstGeom prst="rect">
            <a:avLst/>
          </a:prstGeom>
          <a:noFill/>
        </p:spPr>
        <p:txBody>
          <a:bodyPr wrap="square" lIns="0" rIns="0" tIns="0" bIns="0" anchor="t"/>
          <a:lstStyle/>
          <a:p>
            <a:pPr algn="l">
              <a:lnSpc>
                <a:spcPct val="115000"/>
              </a:lnSpc>
              <a:spcAft>
                <a:spcPts val="0"/>
              </a:spcAft>
            </a:pPr>
            <a:r>
              <a:rPr sz="1250" b="0" i="0">
                <a:solidFill>
                  <a:srgbClr val="2B2B2B"/>
                </a:solidFill>
                <a:latin typeface="Calibri"/>
              </a:rPr>
              <a:t>Asked about 4 Mar → </a:t>
            </a:r>
            <a:r>
              <a:rPr sz="1250" b="1" i="0">
                <a:solidFill>
                  <a:srgbClr val="2B2B2B"/>
                </a:solidFill>
                <a:latin typeface="Calibri"/>
              </a:rPr>
              <a:t>1.1</a:t>
            </a:r>
            <a:r>
              <a:rPr sz="1250" b="0" i="0">
                <a:solidFill>
                  <a:srgbClr val="2B2B2B"/>
                </a:solidFill>
                <a:latin typeface="Calibri"/>
              </a:rPr>
              <a:t> was the value on file</a:t>
            </a:r>
          </a:p>
          <a:p>
            <a:pPr algn="l">
              <a:lnSpc>
                <a:spcPct val="115000"/>
              </a:lnSpc>
              <a:spcAft>
                <a:spcPts val="0"/>
              </a:spcAft>
            </a:pPr>
            <a:r>
              <a:rPr sz="1250" b="0" i="0">
                <a:solidFill>
                  <a:srgbClr val="2B2B2B"/>
                </a:solidFill>
                <a:latin typeface="Calibri"/>
              </a:rPr>
              <a:t>Asked about today → </a:t>
            </a:r>
            <a:r>
              <a:rPr sz="1250" b="1" i="0">
                <a:solidFill>
                  <a:srgbClr val="2B2B2B"/>
                </a:solidFill>
                <a:latin typeface="Calibri"/>
              </a:rPr>
              <a:t>1.4</a:t>
            </a:r>
            <a:r>
              <a:rPr sz="1250" b="0" i="0">
                <a:solidFill>
                  <a:srgbClr val="2B2B2B"/>
                </a:solidFill>
                <a:latin typeface="Calibri"/>
              </a:rPr>
              <a:t> is the value in force</a:t>
            </a:r>
          </a:p>
        </p:txBody>
      </p:sp>
      <p:sp>
        <p:nvSpPr>
          <p:cNvPr id="23" name="TextBox 22"/>
          <p:cNvSpPr txBox="1"/>
          <p:nvPr/>
        </p:nvSpPr>
        <p:spPr>
          <a:xfrm>
            <a:off x="6172200" y="2743200"/>
            <a:ext cx="5577840" cy="365760"/>
          </a:xfrm>
          <a:prstGeom prst="rect">
            <a:avLst/>
          </a:prstGeom>
          <a:noFill/>
        </p:spPr>
        <p:txBody>
          <a:bodyPr wrap="square" lIns="0" rIns="0" tIns="0" bIns="0" anchor="t"/>
          <a:lstStyle/>
          <a:p>
            <a:pPr algn="l">
              <a:lnSpc>
                <a:spcPct val="115000"/>
              </a:lnSpc>
              <a:spcAft>
                <a:spcPts val="0"/>
              </a:spcAft>
            </a:pPr>
            <a:r>
              <a:rPr sz="1500" b="1" i="0">
                <a:solidFill>
                  <a:srgbClr val="BC312C"/>
                </a:solidFill>
                <a:latin typeface="Calibri"/>
              </a:rPr>
              <a:t>Why a standard RAG pipeline gets this wrong</a:t>
            </a:r>
          </a:p>
        </p:txBody>
      </p:sp>
      <p:sp>
        <p:nvSpPr>
          <p:cNvPr id="24" name="TextBox 23"/>
          <p:cNvSpPr txBox="1"/>
          <p:nvPr/>
        </p:nvSpPr>
        <p:spPr>
          <a:xfrm>
            <a:off x="6172200" y="3108960"/>
            <a:ext cx="5577840" cy="1463040"/>
          </a:xfrm>
          <a:prstGeom prst="rect">
            <a:avLst/>
          </a:prstGeom>
          <a:noFill/>
        </p:spPr>
        <p:txBody>
          <a:bodyPr wrap="square" lIns="0" rIns="0" tIns="0" bIns="0" anchor="t"/>
          <a:lstStyle/>
          <a:p>
            <a:pPr algn="l" marL="144779" indent="-144779">
              <a:lnSpc>
                <a:spcPct val="115000"/>
              </a:lnSpc>
              <a:spcAft>
                <a:spcPts val="200"/>
              </a:spcAft>
              <a:buChar char="•"/>
            </a:pPr>
            <a:r>
              <a:rPr sz="1200" b="0" i="0">
                <a:solidFill>
                  <a:srgbClr val="2B2B2B"/>
                </a:solidFill>
                <a:latin typeface="Calibri"/>
              </a:rPr>
              <a:t>Both entries share the test name and differ only in a number, so their embeddings are nearly identical</a:t>
            </a:r>
          </a:p>
          <a:p>
            <a:pPr algn="l" marL="144779" indent="-144779">
              <a:lnSpc>
                <a:spcPct val="115000"/>
              </a:lnSpc>
              <a:spcAft>
                <a:spcPts val="200"/>
              </a:spcAft>
              <a:buChar char="•"/>
            </a:pPr>
            <a:r>
              <a:rPr sz="1200" b="0" i="0">
                <a:solidFill>
                  <a:srgbClr val="2B2B2B"/>
                </a:solidFill>
                <a:latin typeface="Calibri"/>
              </a:rPr>
              <a:t>Neither text says it was withdrawn; only the pointer inside v2 does</a:t>
            </a:r>
          </a:p>
          <a:p>
            <a:pPr algn="l" marL="144779" indent="-144779">
              <a:lnSpc>
                <a:spcPct val="115000"/>
              </a:lnSpc>
              <a:spcAft>
                <a:spcPts val="200"/>
              </a:spcAft>
              <a:buChar char="•"/>
            </a:pPr>
            <a:r>
              <a:rPr sz="1200" b="0" i="0">
                <a:solidFill>
                  <a:srgbClr val="2B2B2B"/>
                </a:solidFill>
                <a:latin typeface="Calibri"/>
              </a:rPr>
              <a:t>The withdrawn value comes back with a real citation, which makes it look trustworthy</a:t>
            </a:r>
          </a:p>
          <a:p>
            <a:pPr algn="l" marL="144779" indent="-144779">
              <a:lnSpc>
                <a:spcPct val="115000"/>
              </a:lnSpc>
              <a:spcAft>
                <a:spcPts val="200"/>
              </a:spcAft>
              <a:buChar char="•"/>
            </a:pPr>
            <a:r>
              <a:rPr sz="1200" b="0" i="0">
                <a:solidFill>
                  <a:srgbClr val="2B2B2B"/>
                </a:solidFill>
                <a:latin typeface="Calibri"/>
              </a:rPr>
              <a:t>Plain dense retrieval led with the withdrawn value on 49.5% of corrected questions in our benchmark</a:t>
            </a:r>
          </a:p>
        </p:txBody>
      </p:sp>
      <p:sp>
        <p:nvSpPr>
          <p:cNvPr id="25" name="TextBox 24"/>
          <p:cNvSpPr txBox="1"/>
          <p:nvPr/>
        </p:nvSpPr>
        <p:spPr>
          <a:xfrm>
            <a:off x="6172200" y="4617720"/>
            <a:ext cx="5577840" cy="365760"/>
          </a:xfrm>
          <a:prstGeom prst="rect">
            <a:avLst/>
          </a:prstGeom>
          <a:noFill/>
        </p:spPr>
        <p:txBody>
          <a:bodyPr wrap="square" lIns="0" rIns="0" tIns="0" bIns="0" anchor="t"/>
          <a:lstStyle/>
          <a:p>
            <a:pPr algn="l">
              <a:lnSpc>
                <a:spcPct val="115000"/>
              </a:lnSpc>
              <a:spcAft>
                <a:spcPts val="0"/>
              </a:spcAft>
            </a:pPr>
            <a:r>
              <a:rPr sz="1500" b="1" i="0">
                <a:solidFill>
                  <a:srgbClr val="BC312C"/>
                </a:solidFill>
                <a:latin typeface="Calibri"/>
              </a:rPr>
              <a:t>Two requirements that pull against each other</a:t>
            </a:r>
          </a:p>
        </p:txBody>
      </p:sp>
      <p:sp>
        <p:nvSpPr>
          <p:cNvPr id="26" name="Rounded Rectangle 25"/>
          <p:cNvSpPr/>
          <p:nvPr/>
        </p:nvSpPr>
        <p:spPr>
          <a:xfrm>
            <a:off x="6172200" y="4983480"/>
            <a:ext cx="2697480" cy="12344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300" b="1" i="0">
                <a:solidFill>
                  <a:srgbClr val="2B2B2B"/>
                </a:solidFill>
                <a:latin typeface="Calibri"/>
              </a:rPr>
              <a:t>No stale answers</a:t>
            </a:r>
          </a:p>
          <a:p>
            <a:pPr algn="ctr">
              <a:lnSpc>
                <a:spcPct val="100000"/>
              </a:lnSpc>
            </a:pPr>
            <a:r>
              <a:rPr sz="1100" b="0" i="0">
                <a:solidFill>
                  <a:srgbClr val="2B2B2B"/>
                </a:solidFill>
                <a:latin typeface="Calibri"/>
              </a:rPr>
              <a:t>never lead with a withdrawn value when the question is about now</a:t>
            </a:r>
          </a:p>
        </p:txBody>
      </p:sp>
      <p:sp>
        <p:nvSpPr>
          <p:cNvPr id="27" name="Rounded Rectangle 26"/>
          <p:cNvSpPr/>
          <p:nvPr/>
        </p:nvSpPr>
        <p:spPr>
          <a:xfrm>
            <a:off x="9052560" y="4983480"/>
            <a:ext cx="2697480" cy="12344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300" b="1" i="0">
                <a:solidFill>
                  <a:srgbClr val="2B2B2B"/>
                </a:solidFill>
                <a:latin typeface="Calibri"/>
              </a:rPr>
              <a:t>History stays answerable</a:t>
            </a:r>
          </a:p>
          <a:p>
            <a:pPr algn="ctr">
              <a:lnSpc>
                <a:spcPct val="100000"/>
              </a:lnSpc>
            </a:pPr>
            <a:r>
              <a:rPr sz="1100" b="0" i="0">
                <a:solidFill>
                  <a:srgbClr val="2B2B2B"/>
                </a:solidFill>
                <a:latin typeface="Calibri"/>
              </a:rPr>
              <a:t>a question about March still gets the March value</a:t>
            </a:r>
          </a:p>
        </p:txBody>
      </p:sp>
      <p:sp>
        <p:nvSpPr>
          <p:cNvPr id="28" name="TextBox 27"/>
          <p:cNvSpPr txBox="1"/>
          <p:nvPr/>
        </p:nvSpPr>
        <p:spPr>
          <a:xfrm>
            <a:off x="640080" y="5257800"/>
            <a:ext cx="5212080" cy="1005840"/>
          </a:xfrm>
          <a:prstGeom prst="rect">
            <a:avLst/>
          </a:prstGeom>
          <a:noFill/>
        </p:spPr>
        <p:txBody>
          <a:bodyPr wrap="square" lIns="0" rIns="0" tIns="0" bIns="0" anchor="t"/>
          <a:lstStyle/>
          <a:p>
            <a:pPr algn="l">
              <a:lnSpc>
                <a:spcPct val="115000"/>
              </a:lnSpc>
              <a:spcAft>
                <a:spcPts val="0"/>
              </a:spcAft>
            </a:pPr>
            <a:r>
              <a:rPr sz="1250" b="0" i="1">
                <a:solidFill>
                  <a:srgbClr val="5A5A5A"/>
                </a:solidFill>
                <a:latin typeface="Calibri"/>
              </a:rPr>
              <a:t>"Prefer the newest record" solves the first and breaks the second, so recency alone cannot be the fix.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5</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Literature Review</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What earlier work gives us, and what it leaves open</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Ranveer</a:t>
            </a:r>
          </a:p>
        </p:txBody>
      </p:sp>
      <p:graphicFrame>
        <p:nvGraphicFramePr>
          <p:cNvPr id="11" name="Table 10"/>
          <p:cNvGraphicFramePr>
            <a:graphicFrameLocks noGrp="1"/>
          </p:cNvGraphicFramePr>
          <p:nvPr/>
        </p:nvGraphicFramePr>
        <p:xfrm>
          <a:off x="411480" y="1874519"/>
          <a:ext cx="11365989" cy="3505200"/>
        </p:xfrm>
        <a:graphic>
          <a:graphicData uri="http://schemas.openxmlformats.org/drawingml/2006/table">
            <a:tbl>
              <a:tblPr firstRow="0" bandRow="0">
                <a:tableStyleId>{5C22544A-7EE6-4342-B048-85BDC9FD1C3A}</a:tableStyleId>
              </a:tblPr>
              <a:tblGrid>
                <a:gridCol w="1932218"/>
                <a:gridCol w="3296137"/>
                <a:gridCol w="2955157"/>
                <a:gridCol w="3182477"/>
              </a:tblGrid>
              <a:tr h="289560">
                <a:tc>
                  <a:txBody>
                    <a:bodyPr wrap="square"/>
                    <a:lstStyle/>
                    <a:p>
                      <a:r>
                        <a:rPr sz="1300" b="1">
                          <a:solidFill>
                            <a:srgbClr val="FFFFFF"/>
                          </a:solidFill>
                          <a:latin typeface="Calibri"/>
                        </a:rPr>
                        <a:t>Area</a:t>
                      </a:r>
                    </a:p>
                  </a:txBody>
                  <a:tcPr marL="54864" marR="54864" marT="27432" marB="27432">
                    <a:solidFill>
                      <a:srgbClr val="BC312C"/>
                    </a:solidFill>
                  </a:tcPr>
                </a:tc>
                <a:tc>
                  <a:txBody>
                    <a:bodyPr wrap="square"/>
                    <a:lstStyle/>
                    <a:p>
                      <a:r>
                        <a:rPr sz="1300" b="1">
                          <a:solidFill>
                            <a:srgbClr val="FFFFFF"/>
                          </a:solidFill>
                          <a:latin typeface="Calibri"/>
                        </a:rPr>
                        <a:t>Key work</a:t>
                      </a:r>
                    </a:p>
                  </a:txBody>
                  <a:tcPr marL="54864" marR="54864" marT="27432" marB="27432">
                    <a:solidFill>
                      <a:srgbClr val="BC312C"/>
                    </a:solidFill>
                  </a:tcPr>
                </a:tc>
                <a:tc>
                  <a:txBody>
                    <a:bodyPr wrap="square"/>
                    <a:lstStyle/>
                    <a:p>
                      <a:r>
                        <a:rPr sz="1300" b="1">
                          <a:solidFill>
                            <a:srgbClr val="FFFFFF"/>
                          </a:solidFill>
                          <a:latin typeface="Calibri"/>
                        </a:rPr>
                        <a:t>What it gives us</a:t>
                      </a:r>
                    </a:p>
                  </a:txBody>
                  <a:tcPr marL="54864" marR="54864" marT="27432" marB="27432">
                    <a:solidFill>
                      <a:srgbClr val="BC312C"/>
                    </a:solidFill>
                  </a:tcPr>
                </a:tc>
                <a:tc>
                  <a:txBody>
                    <a:bodyPr wrap="square"/>
                    <a:lstStyle/>
                    <a:p>
                      <a:r>
                        <a:rPr sz="1300" b="1">
                          <a:solidFill>
                            <a:srgbClr val="FFFFFF"/>
                          </a:solidFill>
                          <a:latin typeface="Calibri"/>
                        </a:rPr>
                        <a:t>What is still missing</a:t>
                      </a:r>
                    </a:p>
                  </a:txBody>
                  <a:tcPr marL="54864" marR="54864" marT="27432" marB="27432">
                    <a:solidFill>
                      <a:srgbClr val="BC312C"/>
                    </a:solidFill>
                  </a:tcPr>
                </a:tc>
              </a:tr>
              <a:tr h="289560">
                <a:tc>
                  <a:txBody>
                    <a:bodyPr wrap="square"/>
                    <a:lstStyle/>
                    <a:p>
                      <a:r>
                        <a:rPr sz="1300" b="1">
                          <a:solidFill>
                            <a:srgbClr val="2B2B2B"/>
                          </a:solidFill>
                          <a:latin typeface="Calibri"/>
                        </a:rPr>
                        <a:t>Temporal databases</a:t>
                      </a:r>
                    </a:p>
                  </a:txBody>
                  <a:tcPr marL="54864" marR="54864" marT="27432" marB="27432">
                    <a:solidFill>
                      <a:srgbClr val="FFFFFF"/>
                    </a:solidFill>
                  </a:tcPr>
                </a:tc>
                <a:tc>
                  <a:txBody>
                    <a:bodyPr wrap="square"/>
                    <a:lstStyle/>
                    <a:p>
                      <a:r>
                        <a:rPr sz="1300" b="0">
                          <a:solidFill>
                            <a:srgbClr val="2B2B2B"/>
                          </a:solidFill>
                          <a:latin typeface="Calibri"/>
                        </a:rPr>
                        <a:t>Snodgrass &amp; Ahn 1986; Jensen et al. 1998</a:t>
                      </a:r>
                    </a:p>
                  </a:txBody>
                  <a:tcPr marL="54864" marR="54864" marT="27432" marB="27432">
                    <a:solidFill>
                      <a:srgbClr val="FFFFFF"/>
                    </a:solidFill>
                  </a:tcPr>
                </a:tc>
                <a:tc>
                  <a:txBody>
                    <a:bodyPr wrap="square"/>
                    <a:lstStyle/>
                    <a:p>
                      <a:r>
                        <a:rPr sz="1300" b="0">
                          <a:solidFill>
                            <a:srgbClr val="2B2B2B"/>
                          </a:solidFill>
                          <a:latin typeface="Calibri"/>
                        </a:rPr>
                        <a:t>Valid time vs transaction time</a:t>
                      </a:r>
                    </a:p>
                  </a:txBody>
                  <a:tcPr marL="54864" marR="54864" marT="27432" marB="27432">
                    <a:solidFill>
                      <a:srgbClr val="FFFFFF"/>
                    </a:solidFill>
                  </a:tcPr>
                </a:tc>
                <a:tc>
                  <a:txBody>
                    <a:bodyPr wrap="square"/>
                    <a:lstStyle/>
                    <a:p>
                      <a:r>
                        <a:rPr sz="1300" b="0">
                          <a:solidFill>
                            <a:srgbClr val="2B2B2B"/>
                          </a:solidFill>
                          <a:latin typeface="Calibri"/>
                        </a:rPr>
                        <a:t>No field that says one row cancels another</a:t>
                      </a:r>
                    </a:p>
                  </a:txBody>
                  <a:tcPr marL="54864" marR="54864" marT="27432" marB="27432">
                    <a:solidFill>
                      <a:srgbClr val="FFFFFF"/>
                    </a:solidFill>
                  </a:tcPr>
                </a:tc>
              </a:tr>
              <a:tr h="487680">
                <a:tc>
                  <a:txBody>
                    <a:bodyPr wrap="square"/>
                    <a:lstStyle/>
                    <a:p>
                      <a:r>
                        <a:rPr sz="1300" b="1">
                          <a:solidFill>
                            <a:srgbClr val="2B2B2B"/>
                          </a:solidFill>
                          <a:latin typeface="Calibri"/>
                        </a:rPr>
                        <a:t>Clinical standards</a:t>
                      </a:r>
                    </a:p>
                  </a:txBody>
                  <a:tcPr marL="54864" marR="54864" marT="27432" marB="27432">
                    <a:solidFill>
                      <a:srgbClr val="FBEAEA"/>
                    </a:solidFill>
                  </a:tcPr>
                </a:tc>
                <a:tc>
                  <a:txBody>
                    <a:bodyPr wrap="square"/>
                    <a:lstStyle/>
                    <a:p>
                      <a:r>
                        <a:rPr sz="1300" b="0">
                          <a:solidFill>
                            <a:srgbClr val="2B2B2B"/>
                          </a:solidFill>
                          <a:latin typeface="Calibri"/>
                        </a:rPr>
                        <a:t>HL7 FHIR R4 status, openEHR versioning, W3C PROV-DM 2013</a:t>
                      </a:r>
                    </a:p>
                  </a:txBody>
                  <a:tcPr marL="54864" marR="54864" marT="27432" marB="27432">
                    <a:solidFill>
                      <a:srgbClr val="FBEAEA"/>
                    </a:solidFill>
                  </a:tcPr>
                </a:tc>
                <a:tc>
                  <a:txBody>
                    <a:bodyPr wrap="square"/>
                    <a:lstStyle/>
                    <a:p>
                      <a:r>
                        <a:rPr sz="1300" b="0">
                          <a:solidFill>
                            <a:srgbClr val="2B2B2B"/>
                          </a:solidFill>
                          <a:latin typeface="Calibri"/>
                        </a:rPr>
                        <a:t>Store the correction link at the source</a:t>
                      </a:r>
                    </a:p>
                  </a:txBody>
                  <a:tcPr marL="54864" marR="54864" marT="27432" marB="27432">
                    <a:solidFill>
                      <a:srgbClr val="FBEAEA"/>
                    </a:solidFill>
                  </a:tcPr>
                </a:tc>
                <a:tc>
                  <a:txBody>
                    <a:bodyPr wrap="square"/>
                    <a:lstStyle/>
                    <a:p>
                      <a:r>
                        <a:rPr sz="1300" b="0">
                          <a:solidFill>
                            <a:srgbClr val="2B2B2B"/>
                          </a:solidFill>
                          <a:latin typeface="Calibri"/>
                        </a:rPr>
                        <a:t>RAG pipelines drop it during chunking and embedding</a:t>
                      </a:r>
                    </a:p>
                  </a:txBody>
                  <a:tcPr marL="54864" marR="54864" marT="27432" marB="27432">
                    <a:solidFill>
                      <a:srgbClr val="FBEAEA"/>
                    </a:solidFill>
                  </a:tcPr>
                </a:tc>
              </a:tr>
              <a:tr h="487680">
                <a:tc>
                  <a:txBody>
                    <a:bodyPr wrap="square"/>
                    <a:lstStyle/>
                    <a:p>
                      <a:r>
                        <a:rPr sz="1300" b="1">
                          <a:solidFill>
                            <a:srgbClr val="2B2B2B"/>
                          </a:solidFill>
                          <a:latin typeface="Calibri"/>
                        </a:rPr>
                        <a:t>Agent memory, versioned RAG</a:t>
                      </a:r>
                    </a:p>
                  </a:txBody>
                  <a:tcPr marL="54864" marR="54864" marT="27432" marB="27432">
                    <a:solidFill>
                      <a:srgbClr val="FFFFFF"/>
                    </a:solidFill>
                  </a:tcPr>
                </a:tc>
                <a:tc>
                  <a:txBody>
                    <a:bodyPr wrap="square"/>
                    <a:lstStyle/>
                    <a:p>
                      <a:r>
                        <a:rPr sz="1300" b="0">
                          <a:solidFill>
                            <a:srgbClr val="2B2B2B"/>
                          </a:solidFill>
                          <a:latin typeface="Calibri"/>
                        </a:rPr>
                        <a:t>Zep 2025; MemStrata, Engram, SodaMem 2026; VersionRAG 2025</a:t>
                      </a:r>
                    </a:p>
                  </a:txBody>
                  <a:tcPr marL="54864" marR="54864" marT="27432" marB="27432">
                    <a:solidFill>
                      <a:srgbClr val="FFFFFF"/>
                    </a:solidFill>
                  </a:tcPr>
                </a:tc>
                <a:tc>
                  <a:txBody>
                    <a:bodyPr wrap="square"/>
                    <a:lstStyle/>
                    <a:p>
                      <a:r>
                        <a:rPr sz="1300" b="0">
                          <a:solidFill>
                            <a:srgbClr val="2B2B2B"/>
                          </a:solidFill>
                          <a:latin typeface="Calibri"/>
                        </a:rPr>
                        <a:t>Supersession pointers, as-of filters</a:t>
                      </a:r>
                    </a:p>
                  </a:txBody>
                  <a:tcPr marL="54864" marR="54864" marT="27432" marB="27432">
                    <a:solidFill>
                      <a:srgbClr val="FFFFFF"/>
                    </a:solidFill>
                  </a:tcPr>
                </a:tc>
                <a:tc>
                  <a:txBody>
                    <a:bodyPr wrap="square"/>
                    <a:lstStyle/>
                    <a:p>
                      <a:r>
                        <a:rPr sz="1300" b="0">
                          <a:solidFill>
                            <a:srgbClr val="2B2B2B"/>
                          </a:solidFill>
                          <a:latin typeface="Calibri"/>
                        </a:rPr>
                        <a:t>Never tested on clinical records; no historical-accuracy metric</a:t>
                      </a:r>
                    </a:p>
                  </a:txBody>
                  <a:tcPr marL="54864" marR="54864" marT="27432" marB="27432">
                    <a:solidFill>
                      <a:srgbClr val="FFFFFF"/>
                    </a:solidFill>
                  </a:tcPr>
                </a:tc>
              </a:tr>
              <a:tr h="487680">
                <a:tc>
                  <a:txBody>
                    <a:bodyPr wrap="square"/>
                    <a:lstStyle/>
                    <a:p>
                      <a:r>
                        <a:rPr sz="1300" b="1">
                          <a:solidFill>
                            <a:srgbClr val="2B2B2B"/>
                          </a:solidFill>
                          <a:latin typeface="Calibri"/>
                        </a:rPr>
                        <a:t>Time-aware ranking</a:t>
                      </a:r>
                    </a:p>
                  </a:txBody>
                  <a:tcPr marL="54864" marR="54864" marT="27432" marB="27432">
                    <a:solidFill>
                      <a:srgbClr val="FBEAEA"/>
                    </a:solidFill>
                  </a:tcPr>
                </a:tc>
                <a:tc>
                  <a:txBody>
                    <a:bodyPr wrap="square"/>
                    <a:lstStyle/>
                    <a:p>
                      <a:r>
                        <a:rPr sz="1300" b="0">
                          <a:solidFill>
                            <a:srgbClr val="2B2B2B"/>
                          </a:solidFill>
                          <a:latin typeface="Calibri"/>
                        </a:rPr>
                        <a:t>Campos et al. 2014; TempRALM 2024; Chronofy 2026</a:t>
                      </a:r>
                    </a:p>
                  </a:txBody>
                  <a:tcPr marL="54864" marR="54864" marT="27432" marB="27432">
                    <a:solidFill>
                      <a:srgbClr val="FBEAEA"/>
                    </a:solidFill>
                  </a:tcPr>
                </a:tc>
                <a:tc>
                  <a:txBody>
                    <a:bodyPr wrap="square"/>
                    <a:lstStyle/>
                    <a:p>
                      <a:r>
                        <a:rPr sz="1300" b="0">
                          <a:solidFill>
                            <a:srgbClr val="2B2B2B"/>
                          </a:solidFill>
                          <a:latin typeface="Calibri"/>
                        </a:rPr>
                        <a:t>Recency and decay priors</a:t>
                      </a:r>
                    </a:p>
                  </a:txBody>
                  <a:tcPr marL="54864" marR="54864" marT="27432" marB="27432">
                    <a:solidFill>
                      <a:srgbClr val="FBEAEA"/>
                    </a:solidFill>
                  </a:tcPr>
                </a:tc>
                <a:tc>
                  <a:txBody>
                    <a:bodyPr wrap="square"/>
                    <a:lstStyle/>
                    <a:p>
                      <a:r>
                        <a:rPr sz="1300" b="0">
                          <a:solidFill>
                            <a:srgbClr val="2B2B2B"/>
                          </a:solidFill>
                          <a:latin typeface="Calibri"/>
                        </a:rPr>
                        <a:t>We show decay cannot reach the useful region (slide 20)</a:t>
                      </a:r>
                    </a:p>
                  </a:txBody>
                  <a:tcPr marL="54864" marR="54864" marT="27432" marB="27432">
                    <a:solidFill>
                      <a:srgbClr val="FBEAEA"/>
                    </a:solidFill>
                  </a:tcPr>
                </a:tc>
              </a:tr>
              <a:tr h="487680">
                <a:tc>
                  <a:txBody>
                    <a:bodyPr wrap="square"/>
                    <a:lstStyle/>
                    <a:p>
                      <a:r>
                        <a:rPr sz="1300" b="1">
                          <a:solidFill>
                            <a:srgbClr val="2B2B2B"/>
                          </a:solidFill>
                          <a:latin typeface="Calibri"/>
                        </a:rPr>
                        <a:t>Stale evidence in RAG</a:t>
                      </a:r>
                    </a:p>
                  </a:txBody>
                  <a:tcPr marL="54864" marR="54864" marT="27432" marB="27432">
                    <a:solidFill>
                      <a:srgbClr val="FFFFFF"/>
                    </a:solidFill>
                  </a:tcPr>
                </a:tc>
                <a:tc>
                  <a:txBody>
                    <a:bodyPr wrap="square"/>
                    <a:lstStyle/>
                    <a:p>
                      <a:r>
                        <a:rPr sz="1300" b="0">
                          <a:solidFill>
                            <a:srgbClr val="2B2B2B"/>
                          </a:solidFill>
                          <a:latin typeface="Calibri"/>
                        </a:rPr>
                        <a:t>HoH, ACL 2025; Stale-document poisoning 2026</a:t>
                      </a:r>
                    </a:p>
                  </a:txBody>
                  <a:tcPr marL="54864" marR="54864" marT="27432" marB="27432">
                    <a:solidFill>
                      <a:srgbClr val="FFFFFF"/>
                    </a:solidFill>
                  </a:tcPr>
                </a:tc>
                <a:tc>
                  <a:txBody>
                    <a:bodyPr wrap="square"/>
                    <a:lstStyle/>
                    <a:p>
                      <a:r>
                        <a:rPr sz="1300" b="0">
                          <a:solidFill>
                            <a:srgbClr val="2B2B2B"/>
                          </a:solidFill>
                          <a:latin typeface="Calibri"/>
                        </a:rPr>
                        <a:t>Outdated text harms answers more than irrelevant text</a:t>
                      </a:r>
                    </a:p>
                  </a:txBody>
                  <a:tcPr marL="54864" marR="54864" marT="27432" marB="27432">
                    <a:solidFill>
                      <a:srgbClr val="FFFFFF"/>
                    </a:solidFill>
                  </a:tcPr>
                </a:tc>
                <a:tc>
                  <a:txBody>
                    <a:bodyPr wrap="square"/>
                    <a:lstStyle/>
                    <a:p>
                      <a:r>
                        <a:rPr sz="1300" b="0">
                          <a:solidFill>
                            <a:srgbClr val="2B2B2B"/>
                          </a:solidFill>
                          <a:latin typeface="Calibri"/>
                        </a:rPr>
                        <a:t>No clinical correction setting</a:t>
                      </a:r>
                    </a:p>
                  </a:txBody>
                  <a:tcPr marL="54864" marR="54864" marT="27432" marB="27432">
                    <a:solidFill>
                      <a:srgbClr val="FFFFFF"/>
                    </a:solidFill>
                  </a:tcPr>
                </a:tc>
              </a:tr>
              <a:tr h="487680">
                <a:tc>
                  <a:txBody>
                    <a:bodyPr wrap="square"/>
                    <a:lstStyle/>
                    <a:p>
                      <a:r>
                        <a:rPr sz="1300" b="1">
                          <a:solidFill>
                            <a:srgbClr val="2B2B2B"/>
                          </a:solidFill>
                          <a:latin typeface="Calibri"/>
                        </a:rPr>
                        <a:t>Medical retrieval, benchmarks</a:t>
                      </a:r>
                    </a:p>
                  </a:txBody>
                  <a:tcPr marL="54864" marR="54864" marT="27432" marB="27432">
                    <a:solidFill>
                      <a:srgbClr val="FBEAEA"/>
                    </a:solidFill>
                  </a:tcPr>
                </a:tc>
                <a:tc>
                  <a:txBody>
                    <a:bodyPr wrap="square"/>
                    <a:lstStyle/>
                    <a:p>
                      <a:r>
                        <a:rPr sz="1300" b="0">
                          <a:solidFill>
                            <a:srgbClr val="2B2B2B"/>
                          </a:solidFill>
                          <a:latin typeface="Calibri"/>
                        </a:rPr>
                        <a:t>MedCPT 2023; MIRAGE 2024; RGB 2024; MEDEC 2025</a:t>
                      </a:r>
                    </a:p>
                  </a:txBody>
                  <a:tcPr marL="54864" marR="54864" marT="27432" marB="27432">
                    <a:solidFill>
                      <a:srgbClr val="FBEAEA"/>
                    </a:solidFill>
                  </a:tcPr>
                </a:tc>
                <a:tc>
                  <a:txBody>
                    <a:bodyPr wrap="square"/>
                    <a:lstStyle/>
                    <a:p>
                      <a:r>
                        <a:rPr sz="1300" b="0">
                          <a:solidFill>
                            <a:srgbClr val="2B2B2B"/>
                          </a:solidFill>
                          <a:latin typeface="Calibri"/>
                        </a:rPr>
                        <a:t>Biomedical encoder; RAG benchmarks for medicine</a:t>
                      </a:r>
                    </a:p>
                  </a:txBody>
                  <a:tcPr marL="54864" marR="54864" marT="27432" marB="27432">
                    <a:solidFill>
                      <a:srgbClr val="FBEAEA"/>
                    </a:solidFill>
                  </a:tcPr>
                </a:tc>
                <a:tc>
                  <a:txBody>
                    <a:bodyPr wrap="square"/>
                    <a:lstStyle/>
                    <a:p>
                      <a:r>
                        <a:rPr sz="1300" b="0">
                          <a:solidFill>
                            <a:srgbClr val="2B2B2B"/>
                          </a:solidFill>
                          <a:latin typeface="Calibri"/>
                        </a:rPr>
                        <a:t>Every document in them is assumed to be correct</a:t>
                      </a:r>
                    </a:p>
                  </a:txBody>
                  <a:tcPr marL="54864" marR="54864" marT="27432" marB="27432">
                    <a:solidFill>
                      <a:srgbClr val="FBEAEA"/>
                    </a:solidFill>
                  </a:tcPr>
                </a:tc>
              </a:tr>
              <a:tr h="487680">
                <a:tc>
                  <a:txBody>
                    <a:bodyPr wrap="square"/>
                    <a:lstStyle/>
                    <a:p>
                      <a:r>
                        <a:rPr sz="1300" b="1">
                          <a:solidFill>
                            <a:srgbClr val="2B2B2B"/>
                          </a:solidFill>
                          <a:latin typeface="Calibri"/>
                        </a:rPr>
                        <a:t>De-identification</a:t>
                      </a:r>
                    </a:p>
                  </a:txBody>
                  <a:tcPr marL="54864" marR="54864" marT="27432" marB="27432">
                    <a:solidFill>
                      <a:srgbClr val="FFFFFF"/>
                    </a:solidFill>
                  </a:tcPr>
                </a:tc>
                <a:tc>
                  <a:txBody>
                    <a:bodyPr wrap="square"/>
                    <a:lstStyle/>
                    <a:p>
                      <a:r>
                        <a:rPr sz="1300" b="0">
                          <a:solidFill>
                            <a:srgbClr val="2B2B2B"/>
                          </a:solidFill>
                          <a:latin typeface="Calibri"/>
                        </a:rPr>
                        <a:t>Kovačević et al., AI in Medicine 2024</a:t>
                      </a:r>
                    </a:p>
                  </a:txBody>
                  <a:tcPr marL="54864" marR="54864" marT="27432" marB="27432">
                    <a:solidFill>
                      <a:srgbClr val="FFFFFF"/>
                    </a:solidFill>
                  </a:tcPr>
                </a:tc>
                <a:tc>
                  <a:txBody>
                    <a:bodyPr wrap="square"/>
                    <a:lstStyle/>
                    <a:p>
                      <a:r>
                        <a:rPr sz="1300" b="0">
                          <a:solidFill>
                            <a:srgbClr val="2B2B2B"/>
                          </a:solidFill>
                          <a:latin typeface="Calibri"/>
                        </a:rPr>
                        <a:t>Surrogate substitution is the dominant method</a:t>
                      </a:r>
                    </a:p>
                  </a:txBody>
                  <a:tcPr marL="54864" marR="54864" marT="27432" marB="27432">
                    <a:solidFill>
                      <a:srgbClr val="FFFFFF"/>
                    </a:solidFill>
                  </a:tcPr>
                </a:tc>
                <a:tc>
                  <a:txBody>
                    <a:bodyPr wrap="square"/>
                    <a:lstStyle/>
                    <a:p>
                      <a:r>
                        <a:rPr sz="1300" b="0">
                          <a:solidFill>
                            <a:srgbClr val="2B2B2B"/>
                          </a:solidFill>
                          <a:latin typeface="Calibri"/>
                        </a:rPr>
                        <a:t>We apply it at the outbound boundary only</a:t>
                      </a:r>
                    </a:p>
                  </a:txBody>
                  <a:tcPr marL="54864" marR="54864" marT="27432" marB="2743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6</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Research Gap and Objectives</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The question we set out to answer, and the four objectives</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Ranveer</a:t>
            </a:r>
          </a:p>
        </p:txBody>
      </p:sp>
      <p:sp>
        <p:nvSpPr>
          <p:cNvPr id="11" name="Rounded Rectangle 10"/>
          <p:cNvSpPr/>
          <p:nvPr/>
        </p:nvSpPr>
        <p:spPr>
          <a:xfrm>
            <a:off x="411480" y="1874519"/>
            <a:ext cx="11365992" cy="731520"/>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400" b="1" i="0">
                <a:solidFill>
                  <a:srgbClr val="BC312C"/>
                </a:solidFill>
                <a:latin typeface="Calibri"/>
              </a:rPr>
              <a:t>Gap: </a:t>
            </a:r>
            <a:r>
              <a:rPr sz="1350" b="0" i="0">
                <a:solidFill>
                  <a:srgbClr val="2B2B2B"/>
                </a:solidFill>
                <a:latin typeface="Calibri"/>
              </a:rPr>
              <a:t>no one had measured how much a clinical retrieval pipeline loses by discarding the correction pointer, while it must also keep questions about the past answerable.</a:t>
            </a:r>
          </a:p>
        </p:txBody>
      </p:sp>
      <p:sp>
        <p:nvSpPr>
          <p:cNvPr id="12" name="Rounded Rectangle 11"/>
          <p:cNvSpPr/>
          <p:nvPr/>
        </p:nvSpPr>
        <p:spPr>
          <a:xfrm>
            <a:off x="502920" y="2907792"/>
            <a:ext cx="457200" cy="457200"/>
          </a:xfrm>
          <a:prstGeom prst="roundRect">
            <a:avLst>
              <a:gd name="adj" fmla="val 50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500" b="1" i="0">
                <a:solidFill>
                  <a:srgbClr val="FFFFFF"/>
                </a:solidFill>
                <a:latin typeface="Calibri"/>
              </a:rPr>
              <a:t>1</a:t>
            </a:r>
          </a:p>
        </p:txBody>
      </p:sp>
      <p:sp>
        <p:nvSpPr>
          <p:cNvPr id="13" name="TextBox 12"/>
          <p:cNvSpPr txBox="1"/>
          <p:nvPr/>
        </p:nvSpPr>
        <p:spPr>
          <a:xfrm>
            <a:off x="1097280" y="2834640"/>
            <a:ext cx="5120640" cy="685800"/>
          </a:xfrm>
          <a:prstGeom prst="rect">
            <a:avLst/>
          </a:prstGeom>
          <a:noFill/>
        </p:spPr>
        <p:txBody>
          <a:bodyPr wrap="square" lIns="0" rIns="0" tIns="0" bIns="0" anchor="ctr"/>
          <a:lstStyle/>
          <a:p>
            <a:pPr algn="l">
              <a:lnSpc>
                <a:spcPct val="115000"/>
              </a:lnSpc>
              <a:spcAft>
                <a:spcPts val="0"/>
              </a:spcAft>
            </a:pPr>
            <a:r>
              <a:rPr sz="1300" b="0" i="0">
                <a:solidFill>
                  <a:srgbClr val="2B2B2B"/>
                </a:solidFill>
                <a:latin typeface="Calibri"/>
              </a:rPr>
              <a:t>Never put a withdrawn value first for a question about the present (stale answer rate of zero).</a:t>
            </a:r>
          </a:p>
        </p:txBody>
      </p:sp>
      <p:sp>
        <p:nvSpPr>
          <p:cNvPr id="14" name="Rounded Rectangle 13"/>
          <p:cNvSpPr/>
          <p:nvPr/>
        </p:nvSpPr>
        <p:spPr>
          <a:xfrm>
            <a:off x="502920" y="3749040"/>
            <a:ext cx="457200" cy="457200"/>
          </a:xfrm>
          <a:prstGeom prst="roundRect">
            <a:avLst>
              <a:gd name="adj" fmla="val 50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500" b="1" i="0">
                <a:solidFill>
                  <a:srgbClr val="FFFFFF"/>
                </a:solidFill>
                <a:latin typeface="Calibri"/>
              </a:rPr>
              <a:t>2</a:t>
            </a:r>
          </a:p>
        </p:txBody>
      </p:sp>
      <p:sp>
        <p:nvSpPr>
          <p:cNvPr id="15" name="TextBox 14"/>
          <p:cNvSpPr txBox="1"/>
          <p:nvPr/>
        </p:nvSpPr>
        <p:spPr>
          <a:xfrm>
            <a:off x="1097280" y="3675888"/>
            <a:ext cx="5120640" cy="685800"/>
          </a:xfrm>
          <a:prstGeom prst="rect">
            <a:avLst/>
          </a:prstGeom>
          <a:noFill/>
        </p:spPr>
        <p:txBody>
          <a:bodyPr wrap="square" lIns="0" rIns="0" tIns="0" bIns="0" anchor="ctr"/>
          <a:lstStyle/>
          <a:p>
            <a:pPr algn="l">
              <a:lnSpc>
                <a:spcPct val="115000"/>
              </a:lnSpc>
              <a:spcAft>
                <a:spcPts val="0"/>
              </a:spcAft>
            </a:pPr>
            <a:r>
              <a:rPr sz="1300" b="0" i="0">
                <a:solidFill>
                  <a:srgbClr val="2B2B2B"/>
                </a:solidFill>
                <a:latin typeface="Calibri"/>
              </a:rPr>
              <a:t>Answer as-of questions with the value that was on file at the asked date (high historical accuracy).</a:t>
            </a:r>
          </a:p>
        </p:txBody>
      </p:sp>
      <p:sp>
        <p:nvSpPr>
          <p:cNvPr id="16" name="Rounded Rectangle 15"/>
          <p:cNvSpPr/>
          <p:nvPr/>
        </p:nvSpPr>
        <p:spPr>
          <a:xfrm>
            <a:off x="502920" y="4590288"/>
            <a:ext cx="457200" cy="457200"/>
          </a:xfrm>
          <a:prstGeom prst="roundRect">
            <a:avLst>
              <a:gd name="adj" fmla="val 50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500" b="1" i="0">
                <a:solidFill>
                  <a:srgbClr val="FFFFFF"/>
                </a:solidFill>
                <a:latin typeface="Calibri"/>
              </a:rPr>
              <a:t>3</a:t>
            </a:r>
          </a:p>
        </p:txBody>
      </p:sp>
      <p:sp>
        <p:nvSpPr>
          <p:cNvPr id="17" name="TextBox 16"/>
          <p:cNvSpPr txBox="1"/>
          <p:nvPr/>
        </p:nvSpPr>
        <p:spPr>
          <a:xfrm>
            <a:off x="1097280" y="4517136"/>
            <a:ext cx="5120640" cy="685800"/>
          </a:xfrm>
          <a:prstGeom prst="rect">
            <a:avLst/>
          </a:prstGeom>
          <a:noFill/>
        </p:spPr>
        <p:txBody>
          <a:bodyPr wrap="square" lIns="0" rIns="0" tIns="0" bIns="0" anchor="ctr"/>
          <a:lstStyle/>
          <a:p>
            <a:pPr algn="l">
              <a:lnSpc>
                <a:spcPct val="115000"/>
              </a:lnSpc>
              <a:spcAft>
                <a:spcPts val="0"/>
              </a:spcAft>
            </a:pPr>
            <a:r>
              <a:rPr sz="1300" b="0" i="0">
                <a:solidFill>
                  <a:srgbClr val="2B2B2B"/>
                </a:solidFill>
                <a:latin typeface="Calibri"/>
              </a:rPr>
              <a:t>Build TAP-QA, a benchmark that scores both goals at once, and test whether tuned recency could do the same.</a:t>
            </a:r>
          </a:p>
        </p:txBody>
      </p:sp>
      <p:sp>
        <p:nvSpPr>
          <p:cNvPr id="18" name="Rounded Rectangle 17"/>
          <p:cNvSpPr/>
          <p:nvPr/>
        </p:nvSpPr>
        <p:spPr>
          <a:xfrm>
            <a:off x="502920" y="5431536"/>
            <a:ext cx="457200" cy="457200"/>
          </a:xfrm>
          <a:prstGeom prst="roundRect">
            <a:avLst>
              <a:gd name="adj" fmla="val 50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500" b="1" i="0">
                <a:solidFill>
                  <a:srgbClr val="FFFFFF"/>
                </a:solidFill>
                <a:latin typeface="Calibri"/>
              </a:rPr>
              <a:t>4</a:t>
            </a:r>
          </a:p>
        </p:txBody>
      </p:sp>
      <p:sp>
        <p:nvSpPr>
          <p:cNvPr id="19" name="TextBox 18"/>
          <p:cNvSpPr txBox="1"/>
          <p:nvPr/>
        </p:nvSpPr>
        <p:spPr>
          <a:xfrm>
            <a:off x="1097280" y="5358384"/>
            <a:ext cx="5120640" cy="685800"/>
          </a:xfrm>
          <a:prstGeom prst="rect">
            <a:avLst/>
          </a:prstGeom>
          <a:noFill/>
        </p:spPr>
        <p:txBody>
          <a:bodyPr wrap="square" lIns="0" rIns="0" tIns="0" bIns="0" anchor="ctr"/>
          <a:lstStyle/>
          <a:p>
            <a:pPr algn="l">
              <a:lnSpc>
                <a:spcPct val="115000"/>
              </a:lnSpc>
              <a:spcAft>
                <a:spcPts val="0"/>
              </a:spcAft>
            </a:pPr>
            <a:r>
              <a:rPr sz="1300" b="0" i="0">
                <a:solidFill>
                  <a:srgbClr val="2B2B2B"/>
                </a:solidFill>
                <a:latin typeface="Calibri"/>
              </a:rPr>
              <a:t>Ship a working clinic system on one laptop with no patient identifiers leaving the machine.</a:t>
            </a:r>
          </a:p>
        </p:txBody>
      </p:sp>
      <p:sp>
        <p:nvSpPr>
          <p:cNvPr id="20" name="TextBox 19"/>
          <p:cNvSpPr txBox="1"/>
          <p:nvPr/>
        </p:nvSpPr>
        <p:spPr>
          <a:xfrm>
            <a:off x="6583680" y="2788920"/>
            <a:ext cx="5120640" cy="365760"/>
          </a:xfrm>
          <a:prstGeom prst="rect">
            <a:avLst/>
          </a:prstGeom>
          <a:noFill/>
        </p:spPr>
        <p:txBody>
          <a:bodyPr wrap="square" lIns="0" rIns="0" tIns="0" bIns="0" anchor="t"/>
          <a:lstStyle/>
          <a:p>
            <a:pPr algn="l">
              <a:lnSpc>
                <a:spcPct val="115000"/>
              </a:lnSpc>
              <a:spcAft>
                <a:spcPts val="0"/>
              </a:spcAft>
            </a:pPr>
            <a:r>
              <a:rPr sz="1500" b="1" i="0">
                <a:solidFill>
                  <a:srgbClr val="BC312C"/>
                </a:solidFill>
                <a:latin typeface="Calibri"/>
              </a:rPr>
              <a:t>Research questions</a:t>
            </a:r>
          </a:p>
        </p:txBody>
      </p:sp>
      <p:sp>
        <p:nvSpPr>
          <p:cNvPr id="21" name="Rounded Rectangle 20"/>
          <p:cNvSpPr/>
          <p:nvPr/>
        </p:nvSpPr>
        <p:spPr>
          <a:xfrm>
            <a:off x="6583680" y="3246120"/>
            <a:ext cx="5166360" cy="8229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720840" y="3246120"/>
            <a:ext cx="731520" cy="822960"/>
          </a:xfrm>
          <a:prstGeom prst="rect">
            <a:avLst/>
          </a:prstGeom>
          <a:noFill/>
        </p:spPr>
        <p:txBody>
          <a:bodyPr wrap="square" lIns="0" rIns="0" tIns="0" bIns="0" anchor="ctr"/>
          <a:lstStyle/>
          <a:p>
            <a:pPr algn="l">
              <a:lnSpc>
                <a:spcPct val="115000"/>
              </a:lnSpc>
              <a:spcAft>
                <a:spcPts val="0"/>
              </a:spcAft>
            </a:pPr>
            <a:r>
              <a:rPr sz="1500" b="1" i="0">
                <a:solidFill>
                  <a:srgbClr val="1F6F5C"/>
                </a:solidFill>
                <a:latin typeface="Calibri"/>
              </a:rPr>
              <a:t>RQ1</a:t>
            </a:r>
          </a:p>
        </p:txBody>
      </p:sp>
      <p:sp>
        <p:nvSpPr>
          <p:cNvPr id="23" name="TextBox 22"/>
          <p:cNvSpPr txBox="1"/>
          <p:nvPr/>
        </p:nvSpPr>
        <p:spPr>
          <a:xfrm>
            <a:off x="7406640" y="3246120"/>
            <a:ext cx="4251960" cy="822960"/>
          </a:xfrm>
          <a:prstGeom prst="rect">
            <a:avLst/>
          </a:prstGeom>
          <a:noFill/>
        </p:spPr>
        <p:txBody>
          <a:bodyPr wrap="square" lIns="0" rIns="0" tIns="0" bIns="0" anchor="ctr"/>
          <a:lstStyle/>
          <a:p>
            <a:pPr algn="l">
              <a:lnSpc>
                <a:spcPct val="115000"/>
              </a:lnSpc>
              <a:spcAft>
                <a:spcPts val="0"/>
              </a:spcAft>
            </a:pPr>
            <a:r>
              <a:rPr sz="1250" b="0" i="0">
                <a:solidFill>
                  <a:srgbClr val="2B2B2B"/>
                </a:solidFill>
                <a:latin typeface="Calibri"/>
              </a:rPr>
              <a:t>Does reading validity from the supersession graph remove stale answers without losing history?</a:t>
            </a:r>
          </a:p>
        </p:txBody>
      </p:sp>
      <p:sp>
        <p:nvSpPr>
          <p:cNvPr id="24" name="Rounded Rectangle 23"/>
          <p:cNvSpPr/>
          <p:nvPr/>
        </p:nvSpPr>
        <p:spPr>
          <a:xfrm>
            <a:off x="6583680" y="4206240"/>
            <a:ext cx="5166360" cy="8229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720840" y="4206240"/>
            <a:ext cx="731520" cy="822960"/>
          </a:xfrm>
          <a:prstGeom prst="rect">
            <a:avLst/>
          </a:prstGeom>
          <a:noFill/>
        </p:spPr>
        <p:txBody>
          <a:bodyPr wrap="square" lIns="0" rIns="0" tIns="0" bIns="0" anchor="ctr"/>
          <a:lstStyle/>
          <a:p>
            <a:pPr algn="l">
              <a:lnSpc>
                <a:spcPct val="115000"/>
              </a:lnSpc>
              <a:spcAft>
                <a:spcPts val="0"/>
              </a:spcAft>
            </a:pPr>
            <a:r>
              <a:rPr sz="1500" b="1" i="0">
                <a:solidFill>
                  <a:srgbClr val="1F6F5C"/>
                </a:solidFill>
                <a:latin typeface="Calibri"/>
              </a:rPr>
              <a:t>RQ2</a:t>
            </a:r>
          </a:p>
        </p:txBody>
      </p:sp>
      <p:sp>
        <p:nvSpPr>
          <p:cNvPr id="26" name="TextBox 25"/>
          <p:cNvSpPr txBox="1"/>
          <p:nvPr/>
        </p:nvSpPr>
        <p:spPr>
          <a:xfrm>
            <a:off x="7406640" y="4206240"/>
            <a:ext cx="4251960" cy="822960"/>
          </a:xfrm>
          <a:prstGeom prst="rect">
            <a:avLst/>
          </a:prstGeom>
          <a:noFill/>
        </p:spPr>
        <p:txBody>
          <a:bodyPr wrap="square" lIns="0" rIns="0" tIns="0" bIns="0" anchor="ctr"/>
          <a:lstStyle/>
          <a:p>
            <a:pPr algn="l">
              <a:lnSpc>
                <a:spcPct val="115000"/>
              </a:lnSpc>
              <a:spcAft>
                <a:spcPts val="0"/>
              </a:spcAft>
            </a:pPr>
            <a:r>
              <a:rPr sz="1250" b="0" i="0">
                <a:solidFill>
                  <a:srgbClr val="2B2B2B"/>
                </a:solidFill>
                <a:latin typeface="Calibri"/>
              </a:rPr>
              <a:t>Can a tuned recency-decay prior reach the same place without the graph?</a:t>
            </a:r>
          </a:p>
        </p:txBody>
      </p:sp>
      <p:sp>
        <p:nvSpPr>
          <p:cNvPr id="27" name="Rounded Rectangle 26"/>
          <p:cNvSpPr/>
          <p:nvPr/>
        </p:nvSpPr>
        <p:spPr>
          <a:xfrm>
            <a:off x="6583680" y="5166360"/>
            <a:ext cx="5166360" cy="8229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720840" y="5166360"/>
            <a:ext cx="731520" cy="822960"/>
          </a:xfrm>
          <a:prstGeom prst="rect">
            <a:avLst/>
          </a:prstGeom>
          <a:noFill/>
        </p:spPr>
        <p:txBody>
          <a:bodyPr wrap="square" lIns="0" rIns="0" tIns="0" bIns="0" anchor="ctr"/>
          <a:lstStyle/>
          <a:p>
            <a:pPr algn="l">
              <a:lnSpc>
                <a:spcPct val="115000"/>
              </a:lnSpc>
              <a:spcAft>
                <a:spcPts val="0"/>
              </a:spcAft>
            </a:pPr>
            <a:r>
              <a:rPr sz="1500" b="1" i="0">
                <a:solidFill>
                  <a:srgbClr val="1F6F5C"/>
                </a:solidFill>
                <a:latin typeface="Calibri"/>
              </a:rPr>
              <a:t>RQ3</a:t>
            </a:r>
          </a:p>
        </p:txBody>
      </p:sp>
      <p:sp>
        <p:nvSpPr>
          <p:cNvPr id="29" name="TextBox 28"/>
          <p:cNvSpPr txBox="1"/>
          <p:nvPr/>
        </p:nvSpPr>
        <p:spPr>
          <a:xfrm>
            <a:off x="7406640" y="5166360"/>
            <a:ext cx="4251960" cy="822960"/>
          </a:xfrm>
          <a:prstGeom prst="rect">
            <a:avLst/>
          </a:prstGeom>
          <a:noFill/>
        </p:spPr>
        <p:txBody>
          <a:bodyPr wrap="square" lIns="0" rIns="0" tIns="0" bIns="0" anchor="ctr"/>
          <a:lstStyle/>
          <a:p>
            <a:pPr algn="l">
              <a:lnSpc>
                <a:spcPct val="115000"/>
              </a:lnSpc>
              <a:spcAft>
                <a:spcPts val="0"/>
              </a:spcAft>
            </a:pPr>
            <a:r>
              <a:rPr sz="1250" b="0" i="0">
                <a:solidFill>
                  <a:srgbClr val="2B2B2B"/>
                </a:solidFill>
                <a:latin typeface="Calibri"/>
              </a:rPr>
              <a:t>Does the record ranked first actually change what the LLM says?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7</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System Architecture</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Seven Docker services on one laptop; only de-identified text goes out</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Dev</a:t>
            </a:r>
          </a:p>
        </p:txBody>
      </p:sp>
      <p:sp>
        <p:nvSpPr>
          <p:cNvPr id="11" name="Rounded Rectangle 10"/>
          <p:cNvSpPr/>
          <p:nvPr/>
        </p:nvSpPr>
        <p:spPr>
          <a:xfrm>
            <a:off x="411480" y="1965960"/>
            <a:ext cx="1920240" cy="777240"/>
          </a:xfrm>
          <a:prstGeom prst="roundRect">
            <a:avLst>
              <a:gd name="adj" fmla="val 12000"/>
            </a:avLst>
          </a:prstGeom>
          <a:solidFill>
            <a:srgbClr val="E6F3EE"/>
          </a:solidFill>
          <a:ln w="12700">
            <a:solidFill>
              <a:srgbClr val="7FB8A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SoloPrac PWA</a:t>
            </a:r>
          </a:p>
          <a:p>
            <a:pPr algn="ctr">
              <a:lnSpc>
                <a:spcPct val="95000"/>
              </a:lnSpc>
            </a:pPr>
            <a:r>
              <a:rPr sz="950" b="0" i="0">
                <a:solidFill>
                  <a:srgbClr val="5A5A5A"/>
                </a:solidFill>
                <a:latin typeface="Calibri"/>
              </a:rPr>
              <a:t>React 18 + TypeScript</a:t>
            </a:r>
          </a:p>
          <a:p>
            <a:pPr algn="ctr">
              <a:lnSpc>
                <a:spcPct val="95000"/>
              </a:lnSpc>
            </a:pPr>
            <a:r>
              <a:rPr sz="950" b="0" i="0">
                <a:solidFill>
                  <a:srgbClr val="5A5A5A"/>
                </a:solidFill>
                <a:latin typeface="Calibri"/>
              </a:rPr>
              <a:t>doctor and patient portals</a:t>
            </a:r>
          </a:p>
        </p:txBody>
      </p:sp>
      <p:sp>
        <p:nvSpPr>
          <p:cNvPr id="12" name="Rounded Rectangle 11"/>
          <p:cNvSpPr/>
          <p:nvPr/>
        </p:nvSpPr>
        <p:spPr>
          <a:xfrm>
            <a:off x="2743200" y="1965960"/>
            <a:ext cx="1600200" cy="777240"/>
          </a:xfrm>
          <a:prstGeom prst="roundRect">
            <a:avLst>
              <a:gd name="adj" fmla="val 12000"/>
            </a:avLst>
          </a:prstGeom>
          <a:solidFill>
            <a:srgbClr val="FFFFFF"/>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nginx :8080</a:t>
            </a:r>
          </a:p>
          <a:p>
            <a:pPr algn="ctr">
              <a:lnSpc>
                <a:spcPct val="95000"/>
              </a:lnSpc>
            </a:pPr>
            <a:r>
              <a:rPr sz="950" b="0" i="0">
                <a:solidFill>
                  <a:srgbClr val="5A5A5A"/>
                </a:solidFill>
                <a:latin typeface="Calibri"/>
              </a:rPr>
              <a:t>serves app,</a:t>
            </a:r>
          </a:p>
          <a:p>
            <a:pPr algn="ctr">
              <a:lnSpc>
                <a:spcPct val="95000"/>
              </a:lnSpc>
            </a:pPr>
            <a:r>
              <a:rPr sz="950" b="0" i="0">
                <a:solidFill>
                  <a:srgbClr val="5A5A5A"/>
                </a:solidFill>
                <a:latin typeface="Calibri"/>
              </a:rPr>
              <a:t>proxies /api</a:t>
            </a:r>
          </a:p>
        </p:txBody>
      </p:sp>
      <p:sp>
        <p:nvSpPr>
          <p:cNvPr id="13" name="Rounded Rectangle 12"/>
          <p:cNvSpPr/>
          <p:nvPr/>
        </p:nvSpPr>
        <p:spPr>
          <a:xfrm>
            <a:off x="4754880" y="1965960"/>
            <a:ext cx="2377440" cy="777240"/>
          </a:xfrm>
          <a:prstGeom prst="roundRect">
            <a:avLst>
              <a:gd name="adj" fmla="val 12000"/>
            </a:avLst>
          </a:prstGeom>
          <a:solidFill>
            <a:srgbClr val="FBEAEA"/>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FastAPI :8000</a:t>
            </a:r>
          </a:p>
          <a:p>
            <a:pPr algn="ctr">
              <a:lnSpc>
                <a:spcPct val="95000"/>
              </a:lnSpc>
            </a:pPr>
            <a:r>
              <a:rPr sz="950" b="0" i="0">
                <a:solidFill>
                  <a:srgbClr val="5A5A5A"/>
                </a:solidFill>
                <a:latin typeface="Calibri"/>
              </a:rPr>
              <a:t>auth · chat · capture · documents</a:t>
            </a:r>
          </a:p>
          <a:p>
            <a:pPr algn="ctr">
              <a:lnSpc>
                <a:spcPct val="95000"/>
              </a:lnSpc>
            </a:pPr>
            <a:r>
              <a:rPr sz="950" b="0" i="0">
                <a:solidFill>
                  <a:srgbClr val="5A5A5A"/>
                </a:solidFill>
                <a:latin typeface="Calibri"/>
              </a:rPr>
              <a:t>retrieval + validity core</a:t>
            </a:r>
          </a:p>
        </p:txBody>
      </p:sp>
      <p:sp>
        <p:nvSpPr>
          <p:cNvPr id="14" name="Rounded Rectangle 13"/>
          <p:cNvSpPr/>
          <p:nvPr/>
        </p:nvSpPr>
        <p:spPr>
          <a:xfrm>
            <a:off x="7543800" y="1965960"/>
            <a:ext cx="2011680" cy="777240"/>
          </a:xfrm>
          <a:prstGeom prst="roundRect">
            <a:avLst>
              <a:gd name="adj" fmla="val 12000"/>
            </a:avLst>
          </a:prstGeom>
          <a:solidFill>
            <a:srgbClr val="FBEAEA"/>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Worker</a:t>
            </a:r>
          </a:p>
          <a:p>
            <a:pPr algn="ctr">
              <a:lnSpc>
                <a:spcPct val="95000"/>
              </a:lnSpc>
            </a:pPr>
            <a:r>
              <a:rPr sz="950" b="0" i="0">
                <a:solidFill>
                  <a:srgbClr val="5A5A5A"/>
                </a:solidFill>
                <a:latin typeface="Calibri"/>
              </a:rPr>
              <a:t>OCR, deep reads,</a:t>
            </a:r>
          </a:p>
          <a:p>
            <a:pPr algn="ctr">
              <a:lnSpc>
                <a:spcPct val="95000"/>
              </a:lnSpc>
            </a:pPr>
            <a:r>
              <a:rPr sz="950" b="0" i="0">
                <a:solidFill>
                  <a:srgbClr val="5A5A5A"/>
                </a:solidFill>
                <a:latin typeface="Calibri"/>
              </a:rPr>
              <a:t>weekly reports</a:t>
            </a:r>
          </a:p>
        </p:txBody>
      </p:sp>
      <p:cxnSp>
        <p:nvCxnSpPr>
          <p:cNvPr id="15" name="Connector 14"/>
          <p:cNvCxnSpPr/>
          <p:nvPr/>
        </p:nvCxnSpPr>
        <p:spPr>
          <a:xfrm>
            <a:off x="2331720" y="2354580"/>
            <a:ext cx="411480"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343400" y="2354580"/>
            <a:ext cx="411480"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132320" y="2354580"/>
            <a:ext cx="411480"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234440" y="3337560"/>
            <a:ext cx="1965960" cy="822960"/>
          </a:xfrm>
          <a:prstGeom prst="roundRect">
            <a:avLst>
              <a:gd name="adj" fmla="val 12000"/>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PostgreSQL 16</a:t>
            </a:r>
          </a:p>
          <a:p>
            <a:pPr algn="ctr">
              <a:lnSpc>
                <a:spcPct val="95000"/>
              </a:lnSpc>
            </a:pPr>
            <a:r>
              <a:rPr sz="950" b="0" i="0">
                <a:solidFill>
                  <a:srgbClr val="5A5A5A"/>
                </a:solidFill>
                <a:latin typeface="Calibri"/>
              </a:rPr>
              <a:t>append-only events</a:t>
            </a:r>
          </a:p>
          <a:p>
            <a:pPr algn="ctr">
              <a:lnSpc>
                <a:spcPct val="95000"/>
              </a:lnSpc>
            </a:pPr>
            <a:r>
              <a:rPr sz="950" b="0" i="0">
                <a:solidFill>
                  <a:srgbClr val="5A5A5A"/>
                </a:solidFill>
                <a:latin typeface="Calibri"/>
              </a:rPr>
              <a:t>(source of truth)</a:t>
            </a:r>
          </a:p>
        </p:txBody>
      </p:sp>
      <p:cxnSp>
        <p:nvCxnSpPr>
          <p:cNvPr id="19" name="Connector 18"/>
          <p:cNvCxnSpPr/>
          <p:nvPr/>
        </p:nvCxnSpPr>
        <p:spPr>
          <a:xfrm flipH="1">
            <a:off x="2217420" y="2743200"/>
            <a:ext cx="3726180" cy="594360"/>
          </a:xfrm>
          <a:prstGeom prst="line">
            <a:avLst/>
          </a:prstGeom>
          <a:ln w="12700">
            <a:solidFill>
              <a:srgbClr val="9A9A9A"/>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83280" y="3337560"/>
            <a:ext cx="1965960" cy="822960"/>
          </a:xfrm>
          <a:prstGeom prst="roundRect">
            <a:avLst>
              <a:gd name="adj" fmla="val 12000"/>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Qdrant 1.12</a:t>
            </a:r>
          </a:p>
          <a:p>
            <a:pPr algn="ctr">
              <a:lnSpc>
                <a:spcPct val="95000"/>
              </a:lnSpc>
            </a:pPr>
            <a:r>
              <a:rPr sz="950" b="0" i="0">
                <a:solidFill>
                  <a:srgbClr val="5A5A5A"/>
                </a:solidFill>
                <a:latin typeface="Calibri"/>
              </a:rPr>
              <a:t>MedCPT 768-d text</a:t>
            </a:r>
          </a:p>
          <a:p>
            <a:pPr algn="ctr">
              <a:lnSpc>
                <a:spcPct val="95000"/>
              </a:lnSpc>
            </a:pPr>
            <a:r>
              <a:rPr sz="950" b="0" i="0">
                <a:solidFill>
                  <a:srgbClr val="5A5A5A"/>
                </a:solidFill>
                <a:latin typeface="Calibri"/>
              </a:rPr>
              <a:t>BiomedCLIP 512-d image</a:t>
            </a:r>
          </a:p>
        </p:txBody>
      </p:sp>
      <p:cxnSp>
        <p:nvCxnSpPr>
          <p:cNvPr id="21" name="Connector 20"/>
          <p:cNvCxnSpPr/>
          <p:nvPr/>
        </p:nvCxnSpPr>
        <p:spPr>
          <a:xfrm flipH="1">
            <a:off x="4366260" y="2743200"/>
            <a:ext cx="1577340" cy="594360"/>
          </a:xfrm>
          <a:prstGeom prst="line">
            <a:avLst/>
          </a:prstGeom>
          <a:ln w="12700">
            <a:solidFill>
              <a:srgbClr val="9A9A9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532120" y="3337560"/>
            <a:ext cx="1965960" cy="822960"/>
          </a:xfrm>
          <a:prstGeom prst="roundRect">
            <a:avLst>
              <a:gd name="adj" fmla="val 12000"/>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Redis 7</a:t>
            </a:r>
          </a:p>
          <a:p>
            <a:pPr algn="ctr">
              <a:lnSpc>
                <a:spcPct val="95000"/>
              </a:lnSpc>
            </a:pPr>
            <a:r>
              <a:rPr sz="950" b="0" i="0">
                <a:solidFill>
                  <a:srgbClr val="5A5A5A"/>
                </a:solidFill>
                <a:latin typeface="Calibri"/>
              </a:rPr>
              <a:t>job and notification</a:t>
            </a:r>
          </a:p>
          <a:p>
            <a:pPr algn="ctr">
              <a:lnSpc>
                <a:spcPct val="95000"/>
              </a:lnSpc>
            </a:pPr>
            <a:r>
              <a:rPr sz="950" b="0" i="0">
                <a:solidFill>
                  <a:srgbClr val="5A5A5A"/>
                </a:solidFill>
                <a:latin typeface="Calibri"/>
              </a:rPr>
              <a:t>streams</a:t>
            </a:r>
          </a:p>
        </p:txBody>
      </p:sp>
      <p:cxnSp>
        <p:nvCxnSpPr>
          <p:cNvPr id="23" name="Connector 22"/>
          <p:cNvCxnSpPr/>
          <p:nvPr/>
        </p:nvCxnSpPr>
        <p:spPr>
          <a:xfrm>
            <a:off x="5943600" y="2743200"/>
            <a:ext cx="571500" cy="594360"/>
          </a:xfrm>
          <a:prstGeom prst="line">
            <a:avLst/>
          </a:prstGeom>
          <a:ln w="12700">
            <a:solidFill>
              <a:srgbClr val="9A9A9A"/>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680960" y="3337560"/>
            <a:ext cx="1965960" cy="822960"/>
          </a:xfrm>
          <a:prstGeom prst="roundRect">
            <a:avLst>
              <a:gd name="adj" fmla="val 12000"/>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SeaweedFS</a:t>
            </a:r>
          </a:p>
          <a:p>
            <a:pPr algn="ctr">
              <a:lnSpc>
                <a:spcPct val="95000"/>
              </a:lnSpc>
            </a:pPr>
            <a:r>
              <a:rPr sz="950" b="0" i="0">
                <a:solidFill>
                  <a:srgbClr val="5A5A5A"/>
                </a:solidFill>
                <a:latin typeface="Calibri"/>
              </a:rPr>
              <a:t>S3 storage for</a:t>
            </a:r>
          </a:p>
          <a:p>
            <a:pPr algn="ctr">
              <a:lnSpc>
                <a:spcPct val="95000"/>
              </a:lnSpc>
            </a:pPr>
            <a:r>
              <a:rPr sz="950" b="0" i="0">
                <a:solidFill>
                  <a:srgbClr val="5A5A5A"/>
                </a:solidFill>
                <a:latin typeface="Calibri"/>
              </a:rPr>
              <a:t>PDFs and scans</a:t>
            </a:r>
          </a:p>
        </p:txBody>
      </p:sp>
      <p:cxnSp>
        <p:nvCxnSpPr>
          <p:cNvPr id="25" name="Connector 24"/>
          <p:cNvCxnSpPr/>
          <p:nvPr/>
        </p:nvCxnSpPr>
        <p:spPr>
          <a:xfrm>
            <a:off x="5943600" y="2743200"/>
            <a:ext cx="2720340" cy="594360"/>
          </a:xfrm>
          <a:prstGeom prst="line">
            <a:avLst/>
          </a:prstGeom>
          <a:ln w="12700">
            <a:solidFill>
              <a:srgbClr val="9A9A9A"/>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646920" y="1965960"/>
            <a:ext cx="2130552" cy="2194560"/>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738360" y="2011680"/>
            <a:ext cx="1965960" cy="320040"/>
          </a:xfrm>
          <a:prstGeom prst="rect">
            <a:avLst/>
          </a:prstGeom>
          <a:noFill/>
        </p:spPr>
        <p:txBody>
          <a:bodyPr wrap="square" lIns="0" rIns="0" tIns="0" bIns="0" anchor="t"/>
          <a:lstStyle/>
          <a:p>
            <a:pPr algn="l">
              <a:lnSpc>
                <a:spcPct val="115000"/>
              </a:lnSpc>
              <a:spcAft>
                <a:spcPts val="0"/>
              </a:spcAft>
            </a:pPr>
            <a:r>
              <a:rPr sz="1250" b="1" i="0">
                <a:solidFill>
                  <a:srgbClr val="1F6F5C"/>
                </a:solidFill>
                <a:latin typeface="Calibri"/>
              </a:rPr>
              <a:t>Local models</a:t>
            </a:r>
          </a:p>
        </p:txBody>
      </p:sp>
      <p:sp>
        <p:nvSpPr>
          <p:cNvPr id="28" name="TextBox 27"/>
          <p:cNvSpPr txBox="1"/>
          <p:nvPr/>
        </p:nvSpPr>
        <p:spPr>
          <a:xfrm>
            <a:off x="9738360" y="2331720"/>
            <a:ext cx="1965960" cy="1828800"/>
          </a:xfrm>
          <a:prstGeom prst="rect">
            <a:avLst/>
          </a:prstGeom>
          <a:noFill/>
        </p:spPr>
        <p:txBody>
          <a:bodyPr wrap="square" lIns="0" rIns="0" tIns="0" bIns="0" anchor="t"/>
          <a:lstStyle/>
          <a:p>
            <a:pPr algn="l" marL="126682" indent="-126682">
              <a:lnSpc>
                <a:spcPct val="115000"/>
              </a:lnSpc>
              <a:spcAft>
                <a:spcPts val="100"/>
              </a:spcAft>
              <a:buChar char="•"/>
            </a:pPr>
            <a:r>
              <a:rPr sz="1050" b="0" i="0">
                <a:solidFill>
                  <a:srgbClr val="2B2B2B"/>
                </a:solidFill>
                <a:latin typeface="Calibri"/>
              </a:rPr>
              <a:t>MedCPT query + article encoders</a:t>
            </a:r>
          </a:p>
          <a:p>
            <a:pPr algn="l" marL="126682" indent="-126682">
              <a:lnSpc>
                <a:spcPct val="115000"/>
              </a:lnSpc>
              <a:spcAft>
                <a:spcPts val="100"/>
              </a:spcAft>
              <a:buChar char="•"/>
            </a:pPr>
            <a:r>
              <a:rPr sz="1050" b="0" i="0">
                <a:solidFill>
                  <a:srgbClr val="2B2B2B"/>
                </a:solidFill>
                <a:latin typeface="Calibri"/>
              </a:rPr>
              <a:t>BiomedCLIP</a:t>
            </a:r>
          </a:p>
          <a:p>
            <a:pPr algn="l" marL="126682" indent="-126682">
              <a:lnSpc>
                <a:spcPct val="115000"/>
              </a:lnSpc>
              <a:spcAft>
                <a:spcPts val="100"/>
              </a:spcAft>
              <a:buChar char="•"/>
            </a:pPr>
            <a:r>
              <a:rPr sz="1050" b="0" i="0">
                <a:solidFill>
                  <a:srgbClr val="2B2B2B"/>
                </a:solidFill>
                <a:latin typeface="Calibri"/>
              </a:rPr>
              <a:t>RapidOCR (PP-OCRv4)</a:t>
            </a:r>
          </a:p>
          <a:p>
            <a:pPr algn="l" marL="126682" indent="-126682">
              <a:lnSpc>
                <a:spcPct val="115000"/>
              </a:lnSpc>
              <a:spcAft>
                <a:spcPts val="100"/>
              </a:spcAft>
              <a:buChar char="•"/>
            </a:pPr>
            <a:r>
              <a:rPr sz="1050" b="0" i="0">
                <a:solidFill>
                  <a:srgbClr val="2B2B2B"/>
                </a:solidFill>
                <a:latin typeface="Calibri"/>
              </a:rPr>
              <a:t>MedGemma 4B (opt-in)</a:t>
            </a:r>
          </a:p>
          <a:p>
            <a:pPr algn="l" marL="126682" indent="-126682">
              <a:lnSpc>
                <a:spcPct val="115000"/>
              </a:lnSpc>
              <a:spcAft>
                <a:spcPts val="100"/>
              </a:spcAft>
              <a:buChar char="•"/>
            </a:pPr>
            <a:r>
              <a:rPr sz="1050" b="0" i="0">
                <a:solidFill>
                  <a:srgbClr val="2B2B2B"/>
                </a:solidFill>
                <a:latin typeface="Calibri"/>
              </a:rPr>
              <a:t>BGE-M3 (configured)</a:t>
            </a:r>
          </a:p>
        </p:txBody>
      </p:sp>
      <p:cxnSp>
        <p:nvCxnSpPr>
          <p:cNvPr id="29" name="Connector 28"/>
          <p:cNvCxnSpPr/>
          <p:nvPr/>
        </p:nvCxnSpPr>
        <p:spPr>
          <a:xfrm>
            <a:off x="411480" y="4526280"/>
            <a:ext cx="11365992" cy="0"/>
          </a:xfrm>
          <a:prstGeom prst="line">
            <a:avLst/>
          </a:prstGeom>
          <a:ln w="19050">
            <a:solidFill>
              <a:srgbClr val="BC312C"/>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315200" y="4261104"/>
            <a:ext cx="4462272" cy="256032"/>
          </a:xfrm>
          <a:prstGeom prst="rect">
            <a:avLst/>
          </a:prstGeom>
          <a:noFill/>
        </p:spPr>
        <p:txBody>
          <a:bodyPr wrap="square" lIns="0" rIns="0" tIns="0" bIns="0" anchor="t"/>
          <a:lstStyle/>
          <a:p>
            <a:pPr algn="r">
              <a:lnSpc>
                <a:spcPct val="115000"/>
              </a:lnSpc>
              <a:spcAft>
                <a:spcPts val="0"/>
              </a:spcAft>
            </a:pPr>
            <a:r>
              <a:rPr sz="1050" b="0" i="1">
                <a:solidFill>
                  <a:srgbClr val="BC312C"/>
                </a:solidFill>
                <a:latin typeface="Calibri"/>
              </a:rPr>
              <a:t>no identifiable data crosses this line</a:t>
            </a:r>
          </a:p>
        </p:txBody>
      </p:sp>
      <p:sp>
        <p:nvSpPr>
          <p:cNvPr id="31" name="Rounded Rectangle 30"/>
          <p:cNvSpPr/>
          <p:nvPr/>
        </p:nvSpPr>
        <p:spPr>
          <a:xfrm>
            <a:off x="3337560" y="4754880"/>
            <a:ext cx="2377440" cy="731520"/>
          </a:xfrm>
          <a:prstGeom prst="roundRect">
            <a:avLst>
              <a:gd name="adj" fmla="val 12000"/>
            </a:avLst>
          </a:prstGeom>
          <a:solidFill>
            <a:srgbClr val="FBEAEA"/>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De-identification gate</a:t>
            </a:r>
          </a:p>
          <a:p>
            <a:pPr algn="ctr">
              <a:lnSpc>
                <a:spcPct val="95000"/>
              </a:lnSpc>
            </a:pPr>
            <a:r>
              <a:rPr sz="950" b="0" i="0">
                <a:solidFill>
                  <a:srgbClr val="5A5A5A"/>
                </a:solidFill>
                <a:latin typeface="Calibri"/>
              </a:rPr>
              <a:t>placeholders + regex hard block</a:t>
            </a:r>
          </a:p>
        </p:txBody>
      </p:sp>
      <p:sp>
        <p:nvSpPr>
          <p:cNvPr id="32" name="Rounded Rectangle 31"/>
          <p:cNvSpPr/>
          <p:nvPr/>
        </p:nvSpPr>
        <p:spPr>
          <a:xfrm>
            <a:off x="6172200" y="4754880"/>
            <a:ext cx="3017520" cy="731520"/>
          </a:xfrm>
          <a:prstGeom prst="roundRect">
            <a:avLst>
              <a:gd name="adj" fmla="val 12000"/>
            </a:avLst>
          </a:prstGeom>
          <a:solidFill>
            <a:srgbClr val="FFFFFF"/>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Free-tier LLM chain</a:t>
            </a:r>
          </a:p>
          <a:p>
            <a:pPr algn="ctr">
              <a:lnSpc>
                <a:spcPct val="95000"/>
              </a:lnSpc>
            </a:pPr>
            <a:r>
              <a:rPr sz="950" b="0" i="0">
                <a:solidFill>
                  <a:srgbClr val="5A5A5A"/>
                </a:solidFill>
                <a:latin typeface="Calibri"/>
              </a:rPr>
              <a:t>Groq → OpenCode Zen → OpenRouter</a:t>
            </a:r>
          </a:p>
        </p:txBody>
      </p:sp>
      <p:cxnSp>
        <p:nvCxnSpPr>
          <p:cNvPr id="33" name="Connector 32"/>
          <p:cNvCxnSpPr/>
          <p:nvPr/>
        </p:nvCxnSpPr>
        <p:spPr>
          <a:xfrm>
            <a:off x="5715000" y="5120640"/>
            <a:ext cx="457200"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40680" y="2743200"/>
            <a:ext cx="0" cy="201168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11480" y="5623560"/>
            <a:ext cx="11365992" cy="640080"/>
          </a:xfrm>
          <a:prstGeom prst="rect">
            <a:avLst/>
          </a:prstGeom>
          <a:noFill/>
        </p:spPr>
        <p:txBody>
          <a:bodyPr wrap="square" lIns="0" rIns="0" tIns="0" bIns="0" anchor="t"/>
          <a:lstStyle/>
          <a:p>
            <a:pPr algn="l">
              <a:lnSpc>
                <a:spcPct val="115000"/>
              </a:lnSpc>
              <a:spcAft>
                <a:spcPts val="0"/>
              </a:spcAft>
            </a:pPr>
            <a:r>
              <a:rPr sz="1150" b="1" i="0">
                <a:solidFill>
                  <a:srgbClr val="5A5A5A"/>
                </a:solidFill>
                <a:latin typeface="Calibri"/>
              </a:rPr>
              <a:t>Run: </a:t>
            </a:r>
            <a:r>
              <a:rPr sz="1150" b="0" i="0">
                <a:solidFill>
                  <a:srgbClr val="5A5A5A"/>
                </a:solidFill>
                <a:latin typeface="Calibri"/>
              </a:rPr>
              <a:t>docker compose up -d starts all seven containers; readiness shows at /health.   </a:t>
            </a:r>
            <a:r>
              <a:rPr sz="1150" b="1" i="0">
                <a:solidFill>
                  <a:srgbClr val="5A5A5A"/>
                </a:solidFill>
                <a:latin typeface="Calibri"/>
              </a:rPr>
              <a:t>Index is a cache: </a:t>
            </a:r>
            <a:r>
              <a:rPr sz="1150" b="0" i="0">
                <a:solidFill>
                  <a:srgbClr val="5A5A5A"/>
                </a:solidFill>
                <a:latin typeface="Calibri"/>
              </a:rPr>
              <a:t>POST /semantic/reindex rebuilds Qdrant from the event log, so losing it costs quality, never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8</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Data Model and Supersession Graph</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Validity is derived from pointers, never stored as a status column</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Dev</a:t>
            </a:r>
          </a:p>
        </p:txBody>
      </p:sp>
      <p:sp>
        <p:nvSpPr>
          <p:cNvPr id="11" name="Rounded Rectangle 10"/>
          <p:cNvSpPr/>
          <p:nvPr/>
        </p:nvSpPr>
        <p:spPr>
          <a:xfrm>
            <a:off x="411480" y="1920240"/>
            <a:ext cx="3291840" cy="4297680"/>
          </a:xfrm>
          <a:prstGeom prst="roundRect">
            <a:avLst>
              <a:gd name="adj" fmla="val 3000"/>
            </a:avLst>
          </a:prstGeom>
          <a:solidFill>
            <a:srgbClr val="FFFFFF"/>
          </a:solidFill>
          <a:ln w="15875">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11480" y="1920240"/>
            <a:ext cx="3291840" cy="411480"/>
          </a:xfrm>
          <a:prstGeom prst="roundRect">
            <a:avLst>
              <a:gd name="adj" fmla="val 3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300" b="1" i="0">
                <a:solidFill>
                  <a:srgbClr val="FFFFFF"/>
                </a:solidFill>
                <a:latin typeface="Calibri"/>
              </a:rPr>
              <a:t>events  (append-only)</a:t>
            </a:r>
          </a:p>
        </p:txBody>
      </p:sp>
      <p:sp>
        <p:nvSpPr>
          <p:cNvPr id="13" name="TextBox 12"/>
          <p:cNvSpPr txBox="1"/>
          <p:nvPr/>
        </p:nvSpPr>
        <p:spPr>
          <a:xfrm>
            <a:off x="548640" y="2395728"/>
            <a:ext cx="3063240" cy="3749039"/>
          </a:xfrm>
          <a:prstGeom prst="rect">
            <a:avLst/>
          </a:prstGeom>
          <a:noFill/>
        </p:spPr>
        <p:txBody>
          <a:bodyPr wrap="square" lIns="0" rIns="0" tIns="0" bIns="0" anchor="t"/>
          <a:lstStyle/>
          <a:p>
            <a:pPr algn="l">
              <a:lnSpc>
                <a:spcPct val="102000"/>
              </a:lnSpc>
              <a:spcAft>
                <a:spcPts val="200"/>
              </a:spcAft>
            </a:pPr>
            <a:r>
              <a:rPr sz="1100" b="0" i="0">
                <a:solidFill>
                  <a:srgbClr val="2B2B2B"/>
                </a:solidFill>
                <a:latin typeface="Calibri"/>
              </a:rPr>
              <a:t>id  UUID</a:t>
            </a:r>
          </a:p>
          <a:p>
            <a:pPr algn="l">
              <a:lnSpc>
                <a:spcPct val="102000"/>
              </a:lnSpc>
              <a:spcAft>
                <a:spcPts val="200"/>
              </a:spcAft>
            </a:pPr>
            <a:r>
              <a:rPr sz="1100" b="0" i="0">
                <a:solidFill>
                  <a:srgbClr val="2B2B2B"/>
                </a:solidFill>
                <a:latin typeface="Calibri"/>
              </a:rPr>
              <a:t>patient_id  → patients</a:t>
            </a:r>
          </a:p>
          <a:p>
            <a:pPr algn="l">
              <a:lnSpc>
                <a:spcPct val="102000"/>
              </a:lnSpc>
              <a:spcAft>
                <a:spcPts val="200"/>
              </a:spcAft>
            </a:pPr>
            <a:r>
              <a:rPr sz="1100" b="0" i="0">
                <a:solidFill>
                  <a:srgbClr val="2B2B2B"/>
                </a:solidFill>
                <a:latin typeface="Calibri"/>
              </a:rPr>
              <a:t>event_type  lab | medication | diagnosis |
   vital | note | imaging</a:t>
            </a:r>
          </a:p>
          <a:p>
            <a:pPr algn="l">
              <a:lnSpc>
                <a:spcPct val="102000"/>
              </a:lnSpc>
              <a:spcAft>
                <a:spcPts val="200"/>
              </a:spcAft>
            </a:pPr>
            <a:r>
              <a:rPr sz="1100" b="0" i="0">
                <a:solidFill>
                  <a:srgbClr val="2B2B2B"/>
                </a:solidFill>
                <a:latin typeface="Calibri"/>
              </a:rPr>
              <a:t>source_type  manual | ocr | ai</a:t>
            </a:r>
          </a:p>
          <a:p>
            <a:pPr algn="l">
              <a:lnSpc>
                <a:spcPct val="102000"/>
              </a:lnSpc>
              <a:spcAft>
                <a:spcPts val="200"/>
              </a:spcAft>
            </a:pPr>
            <a:r>
              <a:rPr sz="1100" b="0" i="0">
                <a:solidFill>
                  <a:srgbClr val="2B2B2B"/>
                </a:solidFill>
                <a:latin typeface="Calibri"/>
              </a:rPr>
              <a:t>valid_time  when it was true</a:t>
            </a:r>
          </a:p>
          <a:p>
            <a:pPr algn="l">
              <a:lnSpc>
                <a:spcPct val="102000"/>
              </a:lnSpc>
              <a:spcAft>
                <a:spcPts val="200"/>
              </a:spcAft>
            </a:pPr>
            <a:r>
              <a:rPr sz="1100" b="0" i="0">
                <a:solidFill>
                  <a:srgbClr val="2B2B2B"/>
                </a:solidFill>
                <a:latin typeface="Calibri"/>
              </a:rPr>
              <a:t>recorded_at  when it was written</a:t>
            </a:r>
          </a:p>
          <a:p>
            <a:pPr algn="l">
              <a:lnSpc>
                <a:spcPct val="102000"/>
              </a:lnSpc>
              <a:spcAft>
                <a:spcPts val="200"/>
              </a:spcAft>
            </a:pPr>
            <a:r>
              <a:rPr sz="1100" b="0" i="0">
                <a:solidFill>
                  <a:srgbClr val="2B2B2B"/>
                </a:solidFill>
                <a:latin typeface="Calibri"/>
              </a:rPr>
              <a:t>payload  JSONB (test, value, unit …)</a:t>
            </a:r>
          </a:p>
          <a:p>
            <a:pPr algn="l">
              <a:lnSpc>
                <a:spcPct val="102000"/>
              </a:lnSpc>
              <a:spcAft>
                <a:spcPts val="200"/>
              </a:spcAft>
            </a:pPr>
            <a:r>
              <a:rPr sz="1100" b="0" i="0">
                <a:solidFill>
                  <a:srgbClr val="2B2B2B"/>
                </a:solidFill>
                <a:latin typeface="Calibri"/>
              </a:rPr>
              <a:t>confidence  OCR / AI score</a:t>
            </a:r>
          </a:p>
          <a:p>
            <a:pPr algn="l">
              <a:lnSpc>
                <a:spcPct val="102000"/>
              </a:lnSpc>
              <a:spcAft>
                <a:spcPts val="200"/>
              </a:spcAft>
            </a:pPr>
            <a:r>
              <a:rPr sz="1100" b="0" i="0">
                <a:solidFill>
                  <a:srgbClr val="2B2B2B"/>
                </a:solidFill>
                <a:latin typeface="Calibri"/>
              </a:rPr>
              <a:t>supersedes_id  → events.id</a:t>
            </a:r>
          </a:p>
          <a:p>
            <a:pPr algn="l">
              <a:lnSpc>
                <a:spcPct val="102000"/>
              </a:lnSpc>
              <a:spcAft>
                <a:spcPts val="200"/>
              </a:spcAft>
            </a:pPr>
            <a:r>
              <a:rPr sz="1100" b="0" i="0">
                <a:solidFill>
                  <a:srgbClr val="2B2B2B"/>
                </a:solidFill>
                <a:latin typeface="Calibri"/>
              </a:rPr>
              <a:t>document_id  → documents</a:t>
            </a:r>
          </a:p>
          <a:p>
            <a:pPr algn="l">
              <a:lnSpc>
                <a:spcPct val="102000"/>
              </a:lnSpc>
              <a:spcAft>
                <a:spcPts val="200"/>
              </a:spcAft>
            </a:pPr>
            <a:r>
              <a:rPr sz="1100" b="0" i="0">
                <a:solidFill>
                  <a:srgbClr val="2B2B2B"/>
                </a:solidFill>
                <a:latin typeface="Calibri"/>
              </a:rPr>
              <a:t>content_hash  SHA-256</a:t>
            </a:r>
          </a:p>
        </p:txBody>
      </p:sp>
      <p:sp>
        <p:nvSpPr>
          <p:cNvPr id="14" name="Rounded Rectangle 13"/>
          <p:cNvSpPr/>
          <p:nvPr/>
        </p:nvSpPr>
        <p:spPr>
          <a:xfrm>
            <a:off x="3977639" y="1920240"/>
            <a:ext cx="2148840" cy="777240"/>
          </a:xfrm>
          <a:prstGeom prst="roundRect">
            <a:avLst>
              <a:gd name="adj" fmla="val 12000"/>
            </a:avLst>
          </a:prstGeom>
          <a:solidFill>
            <a:srgbClr val="F4F4F4"/>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150" b="1" i="0">
                <a:solidFill>
                  <a:srgbClr val="2B2B2B"/>
                </a:solidFill>
                <a:latin typeface="Calibri"/>
              </a:rPr>
              <a:t>patients</a:t>
            </a:r>
          </a:p>
          <a:p>
            <a:pPr algn="ctr">
              <a:lnSpc>
                <a:spcPct val="95000"/>
              </a:lnSpc>
            </a:pPr>
            <a:r>
              <a:rPr sz="950" b="0" i="0">
                <a:solidFill>
                  <a:srgbClr val="5A5A5A"/>
                </a:solidFill>
                <a:latin typeface="Calibri"/>
              </a:rPr>
              <a:t>doctor_id, user_id, name,</a:t>
            </a:r>
          </a:p>
          <a:p>
            <a:pPr algn="ctr">
              <a:lnSpc>
                <a:spcPct val="95000"/>
              </a:lnSpc>
            </a:pPr>
            <a:r>
              <a:rPr sz="950" b="0" i="0">
                <a:solidFill>
                  <a:srgbClr val="5A5A5A"/>
                </a:solidFill>
                <a:latin typeface="Calibri"/>
              </a:rPr>
              <a:t>age, phone, email</a:t>
            </a:r>
          </a:p>
        </p:txBody>
      </p:sp>
      <p:sp>
        <p:nvSpPr>
          <p:cNvPr id="15" name="Rounded Rectangle 14"/>
          <p:cNvSpPr/>
          <p:nvPr/>
        </p:nvSpPr>
        <p:spPr>
          <a:xfrm>
            <a:off x="3977639" y="2834640"/>
            <a:ext cx="2148840" cy="777240"/>
          </a:xfrm>
          <a:prstGeom prst="roundRect">
            <a:avLst>
              <a:gd name="adj" fmla="val 12000"/>
            </a:avLst>
          </a:prstGeom>
          <a:solidFill>
            <a:srgbClr val="F4F4F4"/>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150" b="1" i="0">
                <a:solidFill>
                  <a:srgbClr val="2B2B2B"/>
                </a:solidFill>
                <a:latin typeface="Calibri"/>
              </a:rPr>
              <a:t>accounts / doctors</a:t>
            </a:r>
          </a:p>
          <a:p>
            <a:pPr algn="ctr">
              <a:lnSpc>
                <a:spcPct val="95000"/>
              </a:lnSpc>
            </a:pPr>
            <a:r>
              <a:rPr sz="950" b="0" i="0">
                <a:solidFill>
                  <a:srgbClr val="5A5A5A"/>
                </a:solidFill>
                <a:latin typeface="Calibri"/>
              </a:rPr>
              <a:t>PBKDF2 passwords,</a:t>
            </a:r>
          </a:p>
          <a:p>
            <a:pPr algn="ctr">
              <a:lnSpc>
                <a:spcPct val="95000"/>
              </a:lnSpc>
            </a:pPr>
            <a:r>
              <a:rPr sz="950" b="0" i="0">
                <a:solidFill>
                  <a:srgbClr val="5A5A5A"/>
                </a:solidFill>
                <a:latin typeface="Calibri"/>
              </a:rPr>
              <a:t>HMAC session tokens</a:t>
            </a:r>
          </a:p>
        </p:txBody>
      </p:sp>
      <p:sp>
        <p:nvSpPr>
          <p:cNvPr id="16" name="Rounded Rectangle 15"/>
          <p:cNvSpPr/>
          <p:nvPr/>
        </p:nvSpPr>
        <p:spPr>
          <a:xfrm>
            <a:off x="3977639" y="3749039"/>
            <a:ext cx="2148840" cy="777240"/>
          </a:xfrm>
          <a:prstGeom prst="roundRect">
            <a:avLst>
              <a:gd name="adj" fmla="val 12000"/>
            </a:avLst>
          </a:prstGeom>
          <a:solidFill>
            <a:srgbClr val="F4F4F4"/>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150" b="1" i="0">
                <a:solidFill>
                  <a:srgbClr val="2B2B2B"/>
                </a:solidFill>
                <a:latin typeface="Calibri"/>
              </a:rPr>
              <a:t>documents</a:t>
            </a:r>
          </a:p>
          <a:p>
            <a:pPr algn="ctr">
              <a:lnSpc>
                <a:spcPct val="95000"/>
              </a:lnSpc>
            </a:pPr>
            <a:r>
              <a:rPr sz="950" b="0" i="0">
                <a:solidFill>
                  <a:srgbClr val="5A5A5A"/>
                </a:solidFill>
                <a:latin typeface="Calibri"/>
              </a:rPr>
              <a:t>prescriptions, certificates,</a:t>
            </a:r>
          </a:p>
          <a:p>
            <a:pPr algn="ctr">
              <a:lnSpc>
                <a:spcPct val="95000"/>
              </a:lnSpc>
            </a:pPr>
            <a:r>
              <a:rPr sz="950" b="0" i="0">
                <a:solidFill>
                  <a:srgbClr val="5A5A5A"/>
                </a:solidFill>
                <a:latin typeface="Calibri"/>
              </a:rPr>
              <a:t>invoices, weekly reports</a:t>
            </a:r>
          </a:p>
        </p:txBody>
      </p:sp>
      <p:sp>
        <p:nvSpPr>
          <p:cNvPr id="17" name="Rounded Rectangle 16"/>
          <p:cNvSpPr/>
          <p:nvPr/>
        </p:nvSpPr>
        <p:spPr>
          <a:xfrm>
            <a:off x="3977639" y="4663440"/>
            <a:ext cx="2148840" cy="777240"/>
          </a:xfrm>
          <a:prstGeom prst="roundRect">
            <a:avLst>
              <a:gd name="adj" fmla="val 12000"/>
            </a:avLst>
          </a:prstGeom>
          <a:solidFill>
            <a:srgbClr val="F4F4F4"/>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150" b="1" i="0">
                <a:solidFill>
                  <a:srgbClr val="2B2B2B"/>
                </a:solidFill>
                <a:latin typeface="Calibri"/>
              </a:rPr>
              <a:t>notifications</a:t>
            </a:r>
          </a:p>
          <a:p>
            <a:pPr algn="ctr">
              <a:lnSpc>
                <a:spcPct val="95000"/>
              </a:lnSpc>
            </a:pPr>
            <a:r>
              <a:rPr sz="950" b="0" i="0">
                <a:solidFill>
                  <a:srgbClr val="5A5A5A"/>
                </a:solidFill>
                <a:latin typeface="Calibri"/>
              </a:rPr>
              <a:t>Redis-backed inbox</a:t>
            </a:r>
          </a:p>
        </p:txBody>
      </p:sp>
      <p:sp>
        <p:nvSpPr>
          <p:cNvPr id="18" name="Rounded Rectangle 17"/>
          <p:cNvSpPr/>
          <p:nvPr/>
        </p:nvSpPr>
        <p:spPr>
          <a:xfrm>
            <a:off x="3977639" y="5577840"/>
            <a:ext cx="2148840" cy="640080"/>
          </a:xfrm>
          <a:prstGeom prst="roundRect">
            <a:avLst>
              <a:gd name="adj" fmla="val 10000"/>
            </a:avLst>
          </a:prstGeom>
          <a:solidFill>
            <a:srgbClr val="E6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50" b="1" i="0">
                <a:solidFill>
                  <a:srgbClr val="1F6F5C"/>
                </a:solidFill>
                <a:latin typeface="Calibri"/>
              </a:rPr>
              <a:t>event_validity</a:t>
            </a:r>
          </a:p>
          <a:p>
            <a:pPr algn="ctr">
              <a:lnSpc>
                <a:spcPct val="100000"/>
              </a:lnSpc>
            </a:pPr>
            <a:r>
              <a:rPr sz="950" b="0" i="0">
                <a:solidFill>
                  <a:srgbClr val="2B2B2B"/>
                </a:solidFill>
                <a:latin typeface="Calibri"/>
              </a:rPr>
              <a:t>a view, not a table</a:t>
            </a:r>
          </a:p>
        </p:txBody>
      </p:sp>
      <p:sp>
        <p:nvSpPr>
          <p:cNvPr id="19" name="TextBox 18"/>
          <p:cNvSpPr txBox="1"/>
          <p:nvPr/>
        </p:nvSpPr>
        <p:spPr>
          <a:xfrm>
            <a:off x="6400800" y="1874519"/>
            <a:ext cx="5349240" cy="320040"/>
          </a:xfrm>
          <a:prstGeom prst="rect">
            <a:avLst/>
          </a:prstGeom>
          <a:noFill/>
        </p:spPr>
        <p:txBody>
          <a:bodyPr wrap="square" lIns="0" rIns="0" tIns="0" bIns="0" anchor="t"/>
          <a:lstStyle/>
          <a:p>
            <a:pPr algn="l">
              <a:lnSpc>
                <a:spcPct val="115000"/>
              </a:lnSpc>
              <a:spcAft>
                <a:spcPts val="0"/>
              </a:spcAft>
            </a:pPr>
            <a:r>
              <a:rPr sz="1450" b="1" i="0">
                <a:solidFill>
                  <a:srgbClr val="BC312C"/>
                </a:solidFill>
                <a:latin typeface="Calibri"/>
              </a:rPr>
              <a:t>How a correction is written and read</a:t>
            </a:r>
          </a:p>
        </p:txBody>
      </p:sp>
      <p:sp>
        <p:nvSpPr>
          <p:cNvPr id="20" name="Rounded Rectangle 19"/>
          <p:cNvSpPr/>
          <p:nvPr/>
        </p:nvSpPr>
        <p:spPr>
          <a:xfrm>
            <a:off x="6400800" y="2240280"/>
            <a:ext cx="5349240" cy="86868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lnSpc>
                <a:spcPct val="100000"/>
              </a:lnSpc>
            </a:pPr>
            <a:r>
              <a:rPr sz="1150" b="0" i="0">
                <a:solidFill>
                  <a:srgbClr val="E6E6E6"/>
                </a:solidFill>
                <a:latin typeface="Consolas"/>
              </a:rPr>
              <a:t>write:  INSERT v2 with v2.supersedes_id = v1.id</a:t>
            </a:r>
          </a:p>
          <a:p>
            <a:pPr algn="l">
              <a:lnSpc>
                <a:spcPct val="100000"/>
              </a:lnSpc>
            </a:pPr>
            <a:r>
              <a:rPr sz="1100" b="0" i="0">
                <a:solidFill>
                  <a:srgbClr val="9FE3C8"/>
                </a:solidFill>
                <a:latin typeface="Consolas"/>
              </a:rPr>
              <a:t>read:   v1 is superseded at t  ⇔  ∃ c: c.supersedes_id = v1.id  and  c.valid_time ≤ t</a:t>
            </a:r>
          </a:p>
        </p:txBody>
      </p:sp>
      <p:sp>
        <p:nvSpPr>
          <p:cNvPr id="21" name="TextBox 20"/>
          <p:cNvSpPr txBox="1"/>
          <p:nvPr/>
        </p:nvSpPr>
        <p:spPr>
          <a:xfrm>
            <a:off x="6400800" y="3200400"/>
            <a:ext cx="5349240" cy="320040"/>
          </a:xfrm>
          <a:prstGeom prst="rect">
            <a:avLst/>
          </a:prstGeom>
          <a:noFill/>
        </p:spPr>
        <p:txBody>
          <a:bodyPr wrap="square" lIns="0" rIns="0" tIns="0" bIns="0" anchor="t"/>
          <a:lstStyle/>
          <a:p>
            <a:pPr algn="l">
              <a:lnSpc>
                <a:spcPct val="115000"/>
              </a:lnSpc>
              <a:spcAft>
                <a:spcPts val="0"/>
              </a:spcAft>
            </a:pPr>
            <a:r>
              <a:rPr sz="1300" b="1" i="0">
                <a:solidFill>
                  <a:srgbClr val="2B2B2B"/>
                </a:solidFill>
                <a:latin typeface="Calibri"/>
              </a:rPr>
              <a:t>Database check constraints</a:t>
            </a:r>
          </a:p>
        </p:txBody>
      </p:sp>
      <p:sp>
        <p:nvSpPr>
          <p:cNvPr id="22" name="TextBox 21"/>
          <p:cNvSpPr txBox="1"/>
          <p:nvPr/>
        </p:nvSpPr>
        <p:spPr>
          <a:xfrm>
            <a:off x="6400800" y="3520440"/>
            <a:ext cx="5349240" cy="1188720"/>
          </a:xfrm>
          <a:prstGeom prst="rect">
            <a:avLst/>
          </a:prstGeom>
          <a:noFill/>
        </p:spPr>
        <p:txBody>
          <a:bodyPr wrap="square" lIns="0" rIns="0" tIns="0" bIns="0" anchor="t"/>
          <a:lstStyle/>
          <a:p>
            <a:pPr algn="l" marL="138747" indent="-138747">
              <a:lnSpc>
                <a:spcPct val="115000"/>
              </a:lnSpc>
              <a:spcAft>
                <a:spcPts val="100"/>
              </a:spcAft>
              <a:buChar char="•"/>
            </a:pPr>
            <a:r>
              <a:rPr sz="1150" b="0" i="0">
                <a:solidFill>
                  <a:srgbClr val="2B2B2B"/>
                </a:solidFill>
                <a:latin typeface="Calibri"/>
              </a:rPr>
              <a:t>a correction must point at an event of the same patient</a:t>
            </a:r>
          </a:p>
          <a:p>
            <a:pPr algn="l" marL="138747" indent="-138747">
              <a:lnSpc>
                <a:spcPct val="115000"/>
              </a:lnSpc>
              <a:spcAft>
                <a:spcPts val="100"/>
              </a:spcAft>
              <a:buChar char="•"/>
            </a:pPr>
            <a:r>
              <a:rPr sz="1150" b="0" i="0">
                <a:solidFill>
                  <a:srgbClr val="2B2B2B"/>
                </a:solidFill>
                <a:latin typeface="Calibri"/>
              </a:rPr>
              <a:t>its valid time may not be earlier than its predecessor's</a:t>
            </a:r>
          </a:p>
          <a:p>
            <a:pPr algn="l" marL="138747" indent="-138747">
              <a:lnSpc>
                <a:spcPct val="115000"/>
              </a:lnSpc>
              <a:spcAft>
                <a:spcPts val="100"/>
              </a:spcAft>
              <a:buChar char="•"/>
            </a:pPr>
            <a:r>
              <a:rPr sz="1150" b="0" i="0">
                <a:solidFill>
                  <a:srgbClr val="2B2B2B"/>
                </a:solidFill>
                <a:latin typeface="Calibri"/>
              </a:rPr>
              <a:t>recorded_at may not be earlier than valid_time</a:t>
            </a:r>
          </a:p>
          <a:p>
            <a:pPr algn="l" marL="138747" indent="-138747">
              <a:lnSpc>
                <a:spcPct val="115000"/>
              </a:lnSpc>
              <a:spcAft>
                <a:spcPts val="100"/>
              </a:spcAft>
              <a:buChar char="•"/>
            </a:pPr>
            <a:r>
              <a:rPr sz="1150" b="0" i="0">
                <a:solidFill>
                  <a:srgbClr val="2B2B2B"/>
                </a:solidFill>
                <a:latin typeface="Calibri"/>
              </a:rPr>
              <a:t>no cycles in the correction graph</a:t>
            </a:r>
          </a:p>
        </p:txBody>
      </p:sp>
      <p:sp>
        <p:nvSpPr>
          <p:cNvPr id="23" name="TextBox 22"/>
          <p:cNvSpPr txBox="1"/>
          <p:nvPr/>
        </p:nvSpPr>
        <p:spPr>
          <a:xfrm>
            <a:off x="6400800" y="4709160"/>
            <a:ext cx="5349240" cy="320040"/>
          </a:xfrm>
          <a:prstGeom prst="rect">
            <a:avLst/>
          </a:prstGeom>
          <a:noFill/>
        </p:spPr>
        <p:txBody>
          <a:bodyPr wrap="square" lIns="0" rIns="0" tIns="0" bIns="0" anchor="t"/>
          <a:lstStyle/>
          <a:p>
            <a:pPr algn="l">
              <a:lnSpc>
                <a:spcPct val="115000"/>
              </a:lnSpc>
              <a:spcAft>
                <a:spcPts val="0"/>
              </a:spcAft>
            </a:pPr>
            <a:r>
              <a:rPr sz="1300" b="1" i="0">
                <a:solidFill>
                  <a:srgbClr val="2B2B2B"/>
                </a:solidFill>
                <a:latin typeface="Calibri"/>
              </a:rPr>
              <a:t>Three-valued validity, per query instant</a:t>
            </a:r>
          </a:p>
        </p:txBody>
      </p:sp>
      <p:sp>
        <p:nvSpPr>
          <p:cNvPr id="24" name="Rounded Rectangle 23"/>
          <p:cNvSpPr/>
          <p:nvPr/>
        </p:nvSpPr>
        <p:spPr>
          <a:xfrm>
            <a:off x="6400800" y="5074920"/>
            <a:ext cx="1691640" cy="10972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200" b="1" i="0">
                <a:solidFill>
                  <a:srgbClr val="1F6F5C"/>
                </a:solidFill>
                <a:latin typeface="Calibri"/>
              </a:rPr>
              <a:t>CURRENT</a:t>
            </a:r>
          </a:p>
          <a:p>
            <a:pPr algn="ctr">
              <a:lnSpc>
                <a:spcPct val="100000"/>
              </a:lnSpc>
            </a:pPr>
            <a:r>
              <a:rPr sz="1050" b="0" i="0">
                <a:solidFill>
                  <a:srgbClr val="2B2B2B"/>
                </a:solidFill>
                <a:latin typeface="Calibri"/>
              </a:rPr>
              <a:t>in force now</a:t>
            </a:r>
          </a:p>
        </p:txBody>
      </p:sp>
      <p:sp>
        <p:nvSpPr>
          <p:cNvPr id="25" name="Rounded Rectangle 24"/>
          <p:cNvSpPr/>
          <p:nvPr/>
        </p:nvSpPr>
        <p:spPr>
          <a:xfrm>
            <a:off x="8211312" y="5074920"/>
            <a:ext cx="1691640" cy="10972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200" b="1" i="0">
                <a:solidFill>
                  <a:srgbClr val="BC312C"/>
                </a:solidFill>
                <a:latin typeface="Calibri"/>
              </a:rPr>
              <a:t>SUPERSEDED</a:t>
            </a:r>
          </a:p>
          <a:p>
            <a:pPr algn="ctr">
              <a:lnSpc>
                <a:spcPct val="100000"/>
              </a:lnSpc>
            </a:pPr>
            <a:r>
              <a:rPr sz="1050" b="0" i="0">
                <a:solidFill>
                  <a:srgbClr val="2B2B2B"/>
                </a:solidFill>
                <a:latin typeface="Calibri"/>
              </a:rPr>
              <a:t>a correction points at it</a:t>
            </a:r>
          </a:p>
        </p:txBody>
      </p:sp>
      <p:sp>
        <p:nvSpPr>
          <p:cNvPr id="26" name="Rounded Rectangle 25"/>
          <p:cNvSpPr/>
          <p:nvPr/>
        </p:nvSpPr>
        <p:spPr>
          <a:xfrm>
            <a:off x="10021824" y="5074920"/>
            <a:ext cx="1691640" cy="10972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200" b="1" i="0">
                <a:solidFill>
                  <a:srgbClr val="8A6D00"/>
                </a:solidFill>
                <a:latin typeface="Calibri"/>
              </a:rPr>
              <a:t>HISTORICAL</a:t>
            </a:r>
          </a:p>
          <a:p>
            <a:pPr algn="ctr">
              <a:lnSpc>
                <a:spcPct val="100000"/>
              </a:lnSpc>
            </a:pPr>
            <a:r>
              <a:rPr sz="1050" b="0" i="0">
                <a:solidFill>
                  <a:srgbClr val="2B2B2B"/>
                </a:solidFill>
                <a:latin typeface="Calibri"/>
              </a:rPr>
              <a:t>was current at the asked date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9</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Request Flow: Question to Answer</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Seven steps in a fixed order; the model proposes, our code decides</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Dev</a:t>
            </a:r>
          </a:p>
        </p:txBody>
      </p:sp>
      <p:sp>
        <p:nvSpPr>
          <p:cNvPr id="11" name="Rounded Rectangle 10"/>
          <p:cNvSpPr/>
          <p:nvPr/>
        </p:nvSpPr>
        <p:spPr>
          <a:xfrm>
            <a:off x="411480" y="2011680"/>
            <a:ext cx="2697480" cy="1097280"/>
          </a:xfrm>
          <a:prstGeom prst="roundRect">
            <a:avLst>
              <a:gd name="adj" fmla="val 12000"/>
            </a:avLst>
          </a:prstGeom>
          <a:solidFill>
            <a:srgbClr val="FFFFFF"/>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50" b="1" i="0">
                <a:solidFill>
                  <a:srgbClr val="2B2B2B"/>
                </a:solidFill>
                <a:latin typeface="Calibri"/>
              </a:rPr>
              <a:t>1  Temporal intent</a:t>
            </a:r>
          </a:p>
          <a:p>
            <a:pPr algn="ctr">
              <a:lnSpc>
                <a:spcPct val="95000"/>
              </a:lnSpc>
            </a:pPr>
            <a:r>
              <a:rPr sz="1000" b="0" i="0">
                <a:solidFill>
                  <a:srgbClr val="5A5A5A"/>
                </a:solidFill>
                <a:latin typeface="Calibri"/>
              </a:rPr>
              <a:t>now, as of a date, or history?</a:t>
            </a:r>
          </a:p>
          <a:p>
            <a:pPr algn="ctr">
              <a:lnSpc>
                <a:spcPct val="95000"/>
              </a:lnSpc>
            </a:pPr>
            <a:r>
              <a:rPr sz="1000" b="0" i="0">
                <a:solidFill>
                  <a:srgbClr val="5A5A5A"/>
                </a:solidFill>
                <a:latin typeface="Calibri"/>
              </a:rPr>
              <a:t>"as of 60 days ago" → instant t</a:t>
            </a:r>
          </a:p>
        </p:txBody>
      </p:sp>
      <p:sp>
        <p:nvSpPr>
          <p:cNvPr id="12" name="Rounded Rectangle 11"/>
          <p:cNvSpPr/>
          <p:nvPr/>
        </p:nvSpPr>
        <p:spPr>
          <a:xfrm>
            <a:off x="3291840" y="2011680"/>
            <a:ext cx="2697480" cy="1097280"/>
          </a:xfrm>
          <a:prstGeom prst="roundRect">
            <a:avLst>
              <a:gd name="adj" fmla="val 12000"/>
            </a:avLst>
          </a:prstGeom>
          <a:solidFill>
            <a:srgbClr val="FBEAEA"/>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50" b="1" i="0">
                <a:solidFill>
                  <a:srgbClr val="2B2B2B"/>
                </a:solidFill>
                <a:latin typeface="Calibri"/>
              </a:rPr>
              <a:t>2  Validity-aware retrieval</a:t>
            </a:r>
          </a:p>
          <a:p>
            <a:pPr algn="ctr">
              <a:lnSpc>
                <a:spcPct val="95000"/>
              </a:lnSpc>
            </a:pPr>
            <a:r>
              <a:rPr sz="1000" b="0" i="0">
                <a:solidFill>
                  <a:srgbClr val="5A5A5A"/>
                </a:solidFill>
                <a:latin typeface="Calibri"/>
              </a:rPr>
              <a:t>MedCPT + Qdrant, k = 8</a:t>
            </a:r>
          </a:p>
          <a:p>
            <a:pPr algn="ctr">
              <a:lnSpc>
                <a:spcPct val="95000"/>
              </a:lnSpc>
            </a:pPr>
            <a:r>
              <a:rPr sz="1000" b="0" i="0">
                <a:solidFill>
                  <a:srgbClr val="5A5A5A"/>
                </a:solidFill>
                <a:latin typeface="Calibri"/>
              </a:rPr>
              <a:t>(k = 30 for summaries), α = 0.70</a:t>
            </a:r>
          </a:p>
        </p:txBody>
      </p:sp>
      <p:sp>
        <p:nvSpPr>
          <p:cNvPr id="13" name="Rounded Rectangle 12"/>
          <p:cNvSpPr/>
          <p:nvPr/>
        </p:nvSpPr>
        <p:spPr>
          <a:xfrm>
            <a:off x="6172200" y="2011680"/>
            <a:ext cx="2697480" cy="1097280"/>
          </a:xfrm>
          <a:prstGeom prst="roundRect">
            <a:avLst>
              <a:gd name="adj" fmla="val 12000"/>
            </a:avLst>
          </a:prstGeom>
          <a:solidFill>
            <a:srgbClr val="FFFFFF"/>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50" b="1" i="0">
                <a:solidFill>
                  <a:srgbClr val="2B2B2B"/>
                </a:solidFill>
                <a:latin typeface="Calibri"/>
              </a:rPr>
              <a:t>3  As-of resolution</a:t>
            </a:r>
          </a:p>
          <a:p>
            <a:pPr algn="ctr">
              <a:lnSpc>
                <a:spcPct val="95000"/>
              </a:lnSpc>
            </a:pPr>
            <a:r>
              <a:rPr sz="1000" b="0" i="0">
                <a:solidFill>
                  <a:srgbClr val="5A5A5A"/>
                </a:solidFill>
                <a:latin typeface="Calibri"/>
              </a:rPr>
              <a:t>veto records dated after t;</a:t>
            </a:r>
          </a:p>
          <a:p>
            <a:pPr algn="ctr">
              <a:lnSpc>
                <a:spcPct val="95000"/>
              </a:lnSpc>
            </a:pPr>
            <a:r>
              <a:rPr sz="1000" b="0" i="0">
                <a:solidFill>
                  <a:srgbClr val="5A5A5A"/>
                </a:solidFill>
                <a:latin typeface="Calibri"/>
              </a:rPr>
              <a:t>tiebreak by |v(e) − t|</a:t>
            </a:r>
          </a:p>
        </p:txBody>
      </p:sp>
      <p:sp>
        <p:nvSpPr>
          <p:cNvPr id="14" name="Rounded Rectangle 13"/>
          <p:cNvSpPr/>
          <p:nvPr/>
        </p:nvSpPr>
        <p:spPr>
          <a:xfrm>
            <a:off x="9052560" y="2011680"/>
            <a:ext cx="2697480" cy="1097280"/>
          </a:xfrm>
          <a:prstGeom prst="roundRect">
            <a:avLst>
              <a:gd name="adj" fmla="val 12000"/>
            </a:avLst>
          </a:prstGeom>
          <a:solidFill>
            <a:srgbClr val="FBEAEA"/>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50" b="1" i="0">
                <a:solidFill>
                  <a:srgbClr val="2B2B2B"/>
                </a:solidFill>
                <a:latin typeface="Calibri"/>
              </a:rPr>
              <a:t>4  De-identify</a:t>
            </a:r>
          </a:p>
          <a:p>
            <a:pPr algn="ctr">
              <a:lnSpc>
                <a:spcPct val="95000"/>
              </a:lnSpc>
            </a:pPr>
            <a:r>
              <a:rPr sz="1000" b="0" i="0">
                <a:solidFill>
                  <a:srgbClr val="5A5A5A"/>
                </a:solidFill>
                <a:latin typeface="Calibri"/>
              </a:rPr>
              <a:t>names, dates, IDs → placeholders;</a:t>
            </a:r>
          </a:p>
          <a:p>
            <a:pPr algn="ctr">
              <a:lnSpc>
                <a:spcPct val="95000"/>
              </a:lnSpc>
            </a:pPr>
            <a:r>
              <a:rPr sz="1000" b="0" i="0">
                <a:solidFill>
                  <a:srgbClr val="5A5A5A"/>
                </a:solidFill>
                <a:latin typeface="Calibri"/>
              </a:rPr>
              <a:t>hard gate on the outgoing string</a:t>
            </a:r>
          </a:p>
        </p:txBody>
      </p:sp>
      <p:sp>
        <p:nvSpPr>
          <p:cNvPr id="15" name="Rounded Rectangle 14"/>
          <p:cNvSpPr/>
          <p:nvPr/>
        </p:nvSpPr>
        <p:spPr>
          <a:xfrm>
            <a:off x="9052560" y="3657600"/>
            <a:ext cx="2697480" cy="1097280"/>
          </a:xfrm>
          <a:prstGeom prst="roundRect">
            <a:avLst>
              <a:gd name="adj" fmla="val 12000"/>
            </a:avLst>
          </a:prstGeom>
          <a:solidFill>
            <a:srgbClr val="FFFFFF"/>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50" b="1" i="0">
                <a:solidFill>
                  <a:srgbClr val="2B2B2B"/>
                </a:solidFill>
                <a:latin typeface="Calibri"/>
              </a:rPr>
              <a:t>5  Generate</a:t>
            </a:r>
          </a:p>
          <a:p>
            <a:pPr algn="ctr">
              <a:lnSpc>
                <a:spcPct val="95000"/>
              </a:lnSpc>
            </a:pPr>
            <a:r>
              <a:rPr sz="1000" b="0" i="0">
                <a:solidFill>
                  <a:srgbClr val="5A5A5A"/>
                </a:solidFill>
                <a:latin typeface="Calibri"/>
              </a:rPr>
              <a:t>LLM chain, temperature 0;</a:t>
            </a:r>
          </a:p>
          <a:p>
            <a:pPr algn="ctr">
              <a:lnSpc>
                <a:spcPct val="95000"/>
              </a:lnSpc>
            </a:pPr>
            <a:r>
              <a:rPr sz="1000" b="0" i="0">
                <a:solidFill>
                  <a:srgbClr val="5A5A5A"/>
                </a:solidFill>
                <a:latin typeface="Calibri"/>
              </a:rPr>
              <a:t>records shown as R1, R2 …</a:t>
            </a:r>
          </a:p>
        </p:txBody>
      </p:sp>
      <p:sp>
        <p:nvSpPr>
          <p:cNvPr id="16" name="Rounded Rectangle 15"/>
          <p:cNvSpPr/>
          <p:nvPr/>
        </p:nvSpPr>
        <p:spPr>
          <a:xfrm>
            <a:off x="6172200" y="3657600"/>
            <a:ext cx="2697480" cy="1097280"/>
          </a:xfrm>
          <a:prstGeom prst="roundRect">
            <a:avLst>
              <a:gd name="adj" fmla="val 12000"/>
            </a:avLst>
          </a:prstGeom>
          <a:solidFill>
            <a:srgbClr val="FBEAEA"/>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50" b="1" i="0">
                <a:solidFill>
                  <a:srgbClr val="2B2B2B"/>
                </a:solidFill>
                <a:latin typeface="Calibri"/>
              </a:rPr>
              <a:t>6  Provenance lock</a:t>
            </a:r>
          </a:p>
          <a:p>
            <a:pPr algn="ctr">
              <a:lnSpc>
                <a:spcPct val="95000"/>
              </a:lnSpc>
            </a:pPr>
            <a:r>
              <a:rPr sz="1000" b="0" i="0">
                <a:solidFill>
                  <a:srgbClr val="5A5A5A"/>
                </a:solidFill>
                <a:latin typeface="Calibri"/>
              </a:rPr>
              <a:t>each claim must match its cited</a:t>
            </a:r>
          </a:p>
          <a:p>
            <a:pPr algn="ctr">
              <a:lnSpc>
                <a:spcPct val="95000"/>
              </a:lnSpc>
            </a:pPr>
            <a:r>
              <a:rPr sz="1000" b="0" i="0">
                <a:solidFill>
                  <a:srgbClr val="5A5A5A"/>
                </a:solidFill>
                <a:latin typeface="Calibri"/>
              </a:rPr>
              <a:t>record and the record's validity</a:t>
            </a:r>
          </a:p>
        </p:txBody>
      </p:sp>
      <p:sp>
        <p:nvSpPr>
          <p:cNvPr id="17" name="Rounded Rectangle 16"/>
          <p:cNvSpPr/>
          <p:nvPr/>
        </p:nvSpPr>
        <p:spPr>
          <a:xfrm>
            <a:off x="3291840" y="3657600"/>
            <a:ext cx="2697480" cy="1097280"/>
          </a:xfrm>
          <a:prstGeom prst="roundRect">
            <a:avLst>
              <a:gd name="adj" fmla="val 12000"/>
            </a:avLst>
          </a:prstGeom>
          <a:solidFill>
            <a:srgbClr val="FFFFFF"/>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50" b="1" i="0">
                <a:solidFill>
                  <a:srgbClr val="2B2B2B"/>
                </a:solidFill>
                <a:latin typeface="Calibri"/>
              </a:rPr>
              <a:t>7  Assemble</a:t>
            </a:r>
          </a:p>
          <a:p>
            <a:pPr algn="ctr">
              <a:lnSpc>
                <a:spcPct val="95000"/>
              </a:lnSpc>
            </a:pPr>
            <a:r>
              <a:rPr sz="1000" b="0" i="0">
                <a:solidFill>
                  <a:srgbClr val="5A5A5A"/>
                </a:solidFill>
                <a:latin typeface="Calibri"/>
              </a:rPr>
              <a:t>collapse duplicates; citations carry</a:t>
            </a:r>
          </a:p>
          <a:p>
            <a:pPr algn="ctr">
              <a:lnSpc>
                <a:spcPct val="95000"/>
              </a:lnSpc>
            </a:pPr>
            <a:r>
              <a:rPr sz="1000" b="0" i="0">
                <a:solidFill>
                  <a:srgbClr val="5A5A5A"/>
                </a:solidFill>
                <a:latin typeface="Calibri"/>
              </a:rPr>
              <a:t>their own validity state</a:t>
            </a:r>
          </a:p>
        </p:txBody>
      </p:sp>
      <p:cxnSp>
        <p:nvCxnSpPr>
          <p:cNvPr id="18" name="Connector 17"/>
          <p:cNvCxnSpPr/>
          <p:nvPr/>
        </p:nvCxnSpPr>
        <p:spPr>
          <a:xfrm>
            <a:off x="3108960" y="2560320"/>
            <a:ext cx="182880"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989320" y="2560320"/>
            <a:ext cx="182880"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869680" y="2560320"/>
            <a:ext cx="182880"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401300" y="3108960"/>
            <a:ext cx="0" cy="54864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8869680" y="4206240"/>
            <a:ext cx="182880"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989320" y="4206240"/>
            <a:ext cx="182880"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11480" y="3657600"/>
            <a:ext cx="2697480" cy="1097280"/>
          </a:xfrm>
          <a:prstGeom prst="roundRect">
            <a:avLst>
              <a:gd name="adj" fmla="val 12000"/>
            </a:avLst>
          </a:prstGeom>
          <a:solidFill>
            <a:srgbClr val="E6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250" b="1" i="0">
                <a:solidFill>
                  <a:srgbClr val="1F6F5C"/>
                </a:solidFill>
                <a:latin typeface="Calibri"/>
              </a:rPr>
              <a:t>Grounded answer</a:t>
            </a:r>
          </a:p>
          <a:p>
            <a:pPr algn="ctr">
              <a:lnSpc>
                <a:spcPct val="100000"/>
              </a:lnSpc>
            </a:pPr>
            <a:r>
              <a:rPr sz="1000" b="0" i="0">
                <a:solidFill>
                  <a:srgbClr val="2B2B2B"/>
                </a:solidFill>
                <a:latin typeface="Calibri"/>
              </a:rPr>
              <a:t>or an abstention with no citations</a:t>
            </a:r>
          </a:p>
        </p:txBody>
      </p:sp>
      <p:cxnSp>
        <p:nvCxnSpPr>
          <p:cNvPr id="25" name="Connector 24"/>
          <p:cNvCxnSpPr/>
          <p:nvPr/>
        </p:nvCxnSpPr>
        <p:spPr>
          <a:xfrm flipH="1">
            <a:off x="3108960" y="4206240"/>
            <a:ext cx="182880"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11480" y="5074920"/>
            <a:ext cx="365760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250" b="1" i="0">
                <a:solidFill>
                  <a:srgbClr val="BC312C"/>
                </a:solidFill>
                <a:latin typeface="Calibri"/>
              </a:rPr>
              <a:t>Fast path</a:t>
            </a:r>
          </a:p>
          <a:p>
            <a:pPr algn="ctr">
              <a:lnSpc>
                <a:spcPct val="100000"/>
              </a:lnSpc>
            </a:pPr>
            <a:r>
              <a:rPr sz="1100" b="0" i="0">
                <a:solidFill>
                  <a:srgbClr val="2B2B2B"/>
                </a:solidFill>
                <a:latin typeface="Calibri"/>
              </a:rPr>
              <a:t>a question about one record is answered in about 6 ms without calling the model</a:t>
            </a:r>
          </a:p>
        </p:txBody>
      </p:sp>
      <p:sp>
        <p:nvSpPr>
          <p:cNvPr id="27" name="Rounded Rectangle 26"/>
          <p:cNvSpPr/>
          <p:nvPr/>
        </p:nvSpPr>
        <p:spPr>
          <a:xfrm>
            <a:off x="4233672" y="5074920"/>
            <a:ext cx="365760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250" b="1" i="0">
                <a:solidFill>
                  <a:srgbClr val="BC312C"/>
                </a:solidFill>
                <a:latin typeface="Calibri"/>
              </a:rPr>
              <a:t>Graceful fallback</a:t>
            </a:r>
          </a:p>
          <a:p>
            <a:pPr algn="ctr">
              <a:lnSpc>
                <a:spcPct val="100000"/>
              </a:lnSpc>
            </a:pPr>
            <a:r>
              <a:rPr sz="1100" b="0" i="0">
                <a:solidFill>
                  <a:srgbClr val="2B2B2B"/>
                </a:solidFill>
                <a:latin typeface="Calibri"/>
              </a:rPr>
              <a:t>if every generated claim fails the check, the doctor gets a cited extract of the records</a:t>
            </a:r>
          </a:p>
        </p:txBody>
      </p:sp>
      <p:sp>
        <p:nvSpPr>
          <p:cNvPr id="28" name="Rounded Rectangle 27"/>
          <p:cNvSpPr/>
          <p:nvPr/>
        </p:nvSpPr>
        <p:spPr>
          <a:xfrm>
            <a:off x="8055863" y="5074920"/>
            <a:ext cx="365760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250" b="1" i="0">
                <a:solidFill>
                  <a:srgbClr val="BC312C"/>
                </a:solidFill>
                <a:latin typeface="Calibri"/>
              </a:rPr>
              <a:t>Circuit breaker</a:t>
            </a:r>
          </a:p>
          <a:p>
            <a:pPr algn="ctr">
              <a:lnSpc>
                <a:spcPct val="100000"/>
              </a:lnSpc>
            </a:pPr>
            <a:r>
              <a:rPr sz="1100" b="0" i="0">
                <a:solidFill>
                  <a:srgbClr val="2B2B2B"/>
                </a:solidFill>
                <a:latin typeface="Calibri"/>
              </a:rPr>
              <a:t>an exhausted provider is skipped for 15 minutes; a stalled one is hedged after 12 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10</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Technology Choices and Why</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Each component had a simpler alternative that we rejected for a stated reason</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Dev</a:t>
            </a:r>
          </a:p>
        </p:txBody>
      </p:sp>
      <p:graphicFrame>
        <p:nvGraphicFramePr>
          <p:cNvPr id="11" name="Table 10"/>
          <p:cNvGraphicFramePr>
            <a:graphicFrameLocks noGrp="1"/>
          </p:cNvGraphicFramePr>
          <p:nvPr/>
        </p:nvGraphicFramePr>
        <p:xfrm>
          <a:off x="411480" y="1874519"/>
          <a:ext cx="11365991" cy="3383280"/>
        </p:xfrm>
        <a:graphic>
          <a:graphicData uri="http://schemas.openxmlformats.org/drawingml/2006/table">
            <a:tbl>
              <a:tblPr firstRow="0" bandRow="0">
                <a:tableStyleId>{5C22544A-7EE6-4342-B048-85BDC9FD1C3A}</a:tableStyleId>
              </a:tblPr>
              <a:tblGrid>
                <a:gridCol w="1704898"/>
                <a:gridCol w="4091757"/>
                <a:gridCol w="5569336"/>
              </a:tblGrid>
              <a:tr h="281940">
                <a:tc>
                  <a:txBody>
                    <a:bodyPr wrap="square"/>
                    <a:lstStyle/>
                    <a:p>
                      <a:r>
                        <a:rPr sz="1250" b="1">
                          <a:solidFill>
                            <a:srgbClr val="FFFFFF"/>
                          </a:solidFill>
                          <a:latin typeface="Calibri"/>
                        </a:rPr>
                        <a:t>Layer</a:t>
                      </a:r>
                    </a:p>
                  </a:txBody>
                  <a:tcPr marL="54864" marR="54864" marT="27432" marB="27432">
                    <a:solidFill>
                      <a:srgbClr val="BC312C"/>
                    </a:solidFill>
                  </a:tcPr>
                </a:tc>
                <a:tc>
                  <a:txBody>
                    <a:bodyPr wrap="square"/>
                    <a:lstStyle/>
                    <a:p>
                      <a:r>
                        <a:rPr sz="1250" b="1">
                          <a:solidFill>
                            <a:srgbClr val="FFFFFF"/>
                          </a:solidFill>
                          <a:latin typeface="Calibri"/>
                        </a:rPr>
                        <a:t>Choice</a:t>
                      </a:r>
                    </a:p>
                  </a:txBody>
                  <a:tcPr marL="54864" marR="54864" marT="27432" marB="27432">
                    <a:solidFill>
                      <a:srgbClr val="BC312C"/>
                    </a:solidFill>
                  </a:tcPr>
                </a:tc>
                <a:tc>
                  <a:txBody>
                    <a:bodyPr wrap="square"/>
                    <a:lstStyle/>
                    <a:p>
                      <a:r>
                        <a:rPr sz="1250" b="1">
                          <a:solidFill>
                            <a:srgbClr val="FFFFFF"/>
                          </a:solidFill>
                          <a:latin typeface="Calibri"/>
                        </a:rPr>
                        <a:t>Why we picked it</a:t>
                      </a:r>
                    </a:p>
                  </a:txBody>
                  <a:tcPr marL="54864" marR="54864" marT="27432" marB="27432">
                    <a:solidFill>
                      <a:srgbClr val="BC312C"/>
                    </a:solidFill>
                  </a:tcPr>
                </a:tc>
              </a:tr>
              <a:tr h="281940">
                <a:tc>
                  <a:txBody>
                    <a:bodyPr wrap="square"/>
                    <a:lstStyle/>
                    <a:p>
                      <a:r>
                        <a:rPr sz="1250" b="1">
                          <a:solidFill>
                            <a:srgbClr val="2B2B2B"/>
                          </a:solidFill>
                          <a:latin typeface="Calibri"/>
                        </a:rPr>
                        <a:t>Frontend</a:t>
                      </a:r>
                    </a:p>
                  </a:txBody>
                  <a:tcPr marL="54864" marR="54864" marT="27432" marB="27432">
                    <a:solidFill>
                      <a:srgbClr val="FFFFFF"/>
                    </a:solidFill>
                  </a:tcPr>
                </a:tc>
                <a:tc>
                  <a:txBody>
                    <a:bodyPr wrap="square"/>
                    <a:lstStyle/>
                    <a:p>
                      <a:r>
                        <a:rPr sz="1250" b="0">
                          <a:solidFill>
                            <a:srgbClr val="2B2B2B"/>
                          </a:solidFill>
                          <a:latin typeface="Calibri"/>
                        </a:rPr>
                        <a:t>React 18, TypeScript, Vite, installable PWA</a:t>
                      </a:r>
                    </a:p>
                  </a:txBody>
                  <a:tcPr marL="54864" marR="54864" marT="27432" marB="27432">
                    <a:solidFill>
                      <a:srgbClr val="FFFFFF"/>
                    </a:solidFill>
                  </a:tcPr>
                </a:tc>
                <a:tc>
                  <a:txBody>
                    <a:bodyPr wrap="square"/>
                    <a:lstStyle/>
                    <a:p>
                      <a:r>
                        <a:rPr sz="1250" b="0">
                          <a:solidFill>
                            <a:srgbClr val="2B2B2B"/>
                          </a:solidFill>
                          <a:latin typeface="Calibri"/>
                        </a:rPr>
                        <a:t>One codebase for the doctor's phone and desktop; 25.6 kB gzipped main bundle</a:t>
                      </a:r>
                    </a:p>
                  </a:txBody>
                  <a:tcPr marL="54864" marR="54864" marT="27432" marB="27432">
                    <a:solidFill>
                      <a:srgbClr val="FFFFFF"/>
                    </a:solidFill>
                  </a:tcPr>
                </a:tc>
              </a:tr>
              <a:tr h="281940">
                <a:tc>
                  <a:txBody>
                    <a:bodyPr wrap="square"/>
                    <a:lstStyle/>
                    <a:p>
                      <a:r>
                        <a:rPr sz="1250" b="1">
                          <a:solidFill>
                            <a:srgbClr val="2B2B2B"/>
                          </a:solidFill>
                          <a:latin typeface="Calibri"/>
                        </a:rPr>
                        <a:t>Backend</a:t>
                      </a:r>
                    </a:p>
                  </a:txBody>
                  <a:tcPr marL="54864" marR="54864" marT="27432" marB="27432">
                    <a:solidFill>
                      <a:srgbClr val="FBEAEA"/>
                    </a:solidFill>
                  </a:tcPr>
                </a:tc>
                <a:tc>
                  <a:txBody>
                    <a:bodyPr wrap="square"/>
                    <a:lstStyle/>
                    <a:p>
                      <a:r>
                        <a:rPr sz="1250" b="0">
                          <a:solidFill>
                            <a:srgbClr val="2B2B2B"/>
                          </a:solidFill>
                          <a:latin typeface="Calibri"/>
                        </a:rPr>
                        <a:t>FastAPI (Python 3.12), async SQLAlchemy</a:t>
                      </a:r>
                    </a:p>
                  </a:txBody>
                  <a:tcPr marL="54864" marR="54864" marT="27432" marB="27432">
                    <a:solidFill>
                      <a:srgbClr val="FBEAEA"/>
                    </a:solidFill>
                  </a:tcPr>
                </a:tc>
                <a:tc>
                  <a:txBody>
                    <a:bodyPr wrap="square"/>
                    <a:lstStyle/>
                    <a:p>
                      <a:r>
                        <a:rPr sz="1250" b="0">
                          <a:solidFill>
                            <a:srgbClr val="2B2B2B"/>
                          </a:solidFill>
                          <a:latin typeface="Calibri"/>
                        </a:rPr>
                        <a:t>Async I/O while waiting on a remote model; typed schemas on every route</a:t>
                      </a:r>
                    </a:p>
                  </a:txBody>
                  <a:tcPr marL="54864" marR="54864" marT="27432" marB="27432">
                    <a:solidFill>
                      <a:srgbClr val="FBEAEA"/>
                    </a:solidFill>
                  </a:tcPr>
                </a:tc>
              </a:tr>
              <a:tr h="281940">
                <a:tc>
                  <a:txBody>
                    <a:bodyPr wrap="square"/>
                    <a:lstStyle/>
                    <a:p>
                      <a:r>
                        <a:rPr sz="1250" b="1">
                          <a:solidFill>
                            <a:srgbClr val="2B2B2B"/>
                          </a:solidFill>
                          <a:latin typeface="Calibri"/>
                        </a:rPr>
                        <a:t>Primary store</a:t>
                      </a:r>
                    </a:p>
                  </a:txBody>
                  <a:tcPr marL="54864" marR="54864" marT="27432" marB="27432">
                    <a:solidFill>
                      <a:srgbClr val="FFFFFF"/>
                    </a:solidFill>
                  </a:tcPr>
                </a:tc>
                <a:tc>
                  <a:txBody>
                    <a:bodyPr wrap="square"/>
                    <a:lstStyle/>
                    <a:p>
                      <a:r>
                        <a:rPr sz="1250" b="0">
                          <a:solidFill>
                            <a:srgbClr val="2B2B2B"/>
                          </a:solidFill>
                          <a:latin typeface="Calibri"/>
                        </a:rPr>
                        <a:t>PostgreSQL 16 with JSONB payloads</a:t>
                      </a:r>
                    </a:p>
                  </a:txBody>
                  <a:tcPr marL="54864" marR="54864" marT="27432" marB="27432">
                    <a:solidFill>
                      <a:srgbClr val="FFFFFF"/>
                    </a:solidFill>
                  </a:tcPr>
                </a:tc>
                <a:tc>
                  <a:txBody>
                    <a:bodyPr wrap="square"/>
                    <a:lstStyle/>
                    <a:p>
                      <a:r>
                        <a:rPr sz="1250" b="0">
                          <a:solidFill>
                            <a:srgbClr val="2B2B2B"/>
                          </a:solidFill>
                          <a:latin typeface="Calibri"/>
                        </a:rPr>
                        <a:t>Relational integrity for the supersession pointer; check constraints enforce the rules</a:t>
                      </a:r>
                    </a:p>
                  </a:txBody>
                  <a:tcPr marL="54864" marR="54864" marT="27432" marB="27432">
                    <a:solidFill>
                      <a:srgbClr val="FFFFFF"/>
                    </a:solidFill>
                  </a:tcPr>
                </a:tc>
              </a:tr>
              <a:tr h="281940">
                <a:tc>
                  <a:txBody>
                    <a:bodyPr wrap="square"/>
                    <a:lstStyle/>
                    <a:p>
                      <a:r>
                        <a:rPr sz="1250" b="1">
                          <a:solidFill>
                            <a:srgbClr val="2B2B2B"/>
                          </a:solidFill>
                          <a:latin typeface="Calibri"/>
                        </a:rPr>
                        <a:t>Vector index</a:t>
                      </a:r>
                    </a:p>
                  </a:txBody>
                  <a:tcPr marL="54864" marR="54864" marT="27432" marB="27432">
                    <a:solidFill>
                      <a:srgbClr val="FBEAEA"/>
                    </a:solidFill>
                  </a:tcPr>
                </a:tc>
                <a:tc>
                  <a:txBody>
                    <a:bodyPr wrap="square"/>
                    <a:lstStyle/>
                    <a:p>
                      <a:r>
                        <a:rPr sz="1250" b="0">
                          <a:solidFill>
                            <a:srgbClr val="2B2B2B"/>
                          </a:solidFill>
                          <a:latin typeface="Calibri"/>
                        </a:rPr>
                        <a:t>Qdrant 1.12, named vectors (768-d text, 512-d image)</a:t>
                      </a:r>
                    </a:p>
                  </a:txBody>
                  <a:tcPr marL="54864" marR="54864" marT="27432" marB="27432">
                    <a:solidFill>
                      <a:srgbClr val="FBEAEA"/>
                    </a:solidFill>
                  </a:tcPr>
                </a:tc>
                <a:tc>
                  <a:txBody>
                    <a:bodyPr wrap="square"/>
                    <a:lstStyle/>
                    <a:p>
                      <a:r>
                        <a:rPr sz="1250" b="0">
                          <a:solidFill>
                            <a:srgbClr val="2B2B2B"/>
                          </a:solidFill>
                          <a:latin typeface="Calibri"/>
                        </a:rPr>
                        <a:t>Patient filter is part of the query itself; the index can be rebuilt from the log</a:t>
                      </a:r>
                    </a:p>
                  </a:txBody>
                  <a:tcPr marL="54864" marR="54864" marT="27432" marB="27432">
                    <a:solidFill>
                      <a:srgbClr val="FBEAEA"/>
                    </a:solidFill>
                  </a:tcPr>
                </a:tc>
              </a:tr>
              <a:tr h="281940">
                <a:tc>
                  <a:txBody>
                    <a:bodyPr wrap="square"/>
                    <a:lstStyle/>
                    <a:p>
                      <a:r>
                        <a:rPr sz="1250" b="1">
                          <a:solidFill>
                            <a:srgbClr val="2B2B2B"/>
                          </a:solidFill>
                          <a:latin typeface="Calibri"/>
                        </a:rPr>
                        <a:t>Object storage</a:t>
                      </a:r>
                    </a:p>
                  </a:txBody>
                  <a:tcPr marL="54864" marR="54864" marT="27432" marB="27432">
                    <a:solidFill>
                      <a:srgbClr val="FFFFFF"/>
                    </a:solidFill>
                  </a:tcPr>
                </a:tc>
                <a:tc>
                  <a:txBody>
                    <a:bodyPr wrap="square"/>
                    <a:lstStyle/>
                    <a:p>
                      <a:r>
                        <a:rPr sz="1250" b="0">
                          <a:solidFill>
                            <a:srgbClr val="2B2B2B"/>
                          </a:solidFill>
                          <a:latin typeface="Calibri"/>
                        </a:rPr>
                        <a:t>SeaweedFS (S3-compatible)</a:t>
                      </a:r>
                    </a:p>
                  </a:txBody>
                  <a:tcPr marL="54864" marR="54864" marT="27432" marB="27432">
                    <a:solidFill>
                      <a:srgbClr val="FFFFFF"/>
                    </a:solidFill>
                  </a:tcPr>
                </a:tc>
                <a:tc>
                  <a:txBody>
                    <a:bodyPr wrap="square"/>
                    <a:lstStyle/>
                    <a:p>
                      <a:r>
                        <a:rPr sz="1250" b="0">
                          <a:solidFill>
                            <a:srgbClr val="2B2B2B"/>
                          </a:solidFill>
                          <a:latin typeface="Calibri"/>
                        </a:rPr>
                        <a:t>MinIO Community Edition was archived in April 2026; same S3 API</a:t>
                      </a:r>
                    </a:p>
                  </a:txBody>
                  <a:tcPr marL="54864" marR="54864" marT="27432" marB="27432">
                    <a:solidFill>
                      <a:srgbClr val="FFFFFF"/>
                    </a:solidFill>
                  </a:tcPr>
                </a:tc>
              </a:tr>
              <a:tr h="281940">
                <a:tc>
                  <a:txBody>
                    <a:bodyPr wrap="square"/>
                    <a:lstStyle/>
                    <a:p>
                      <a:r>
                        <a:rPr sz="1250" b="1">
                          <a:solidFill>
                            <a:srgbClr val="2B2B2B"/>
                          </a:solidFill>
                          <a:latin typeface="Calibri"/>
                        </a:rPr>
                        <a:t>Text encoder</a:t>
                      </a:r>
                    </a:p>
                  </a:txBody>
                  <a:tcPr marL="54864" marR="54864" marT="27432" marB="27432">
                    <a:solidFill>
                      <a:srgbClr val="FBEAEA"/>
                    </a:solidFill>
                  </a:tcPr>
                </a:tc>
                <a:tc>
                  <a:txBody>
                    <a:bodyPr wrap="square"/>
                    <a:lstStyle/>
                    <a:p>
                      <a:r>
                        <a:rPr sz="1250" b="0">
                          <a:solidFill>
                            <a:srgbClr val="2B2B2B"/>
                          </a:solidFill>
                          <a:latin typeface="Calibri"/>
                        </a:rPr>
                        <a:t>MedCPT query + article towers</a:t>
                      </a:r>
                    </a:p>
                  </a:txBody>
                  <a:tcPr marL="54864" marR="54864" marT="27432" marB="27432">
                    <a:solidFill>
                      <a:srgbClr val="FBEAEA"/>
                    </a:solidFill>
                  </a:tcPr>
                </a:tc>
                <a:tc>
                  <a:txBody>
                    <a:bodyPr wrap="square"/>
                    <a:lstStyle/>
                    <a:p>
                      <a:r>
                        <a:rPr sz="1250" b="0">
                          <a:solidFill>
                            <a:srgbClr val="2B2B2B"/>
                          </a:solidFill>
                          <a:latin typeface="Calibri"/>
                        </a:rPr>
                        <a:t>Biomedical paraphrase ("blood sugar" finds "Fasting Glucose"); runs locally</a:t>
                      </a:r>
                    </a:p>
                  </a:txBody>
                  <a:tcPr marL="54864" marR="54864" marT="27432" marB="27432">
                    <a:solidFill>
                      <a:srgbClr val="FBEAEA"/>
                    </a:solidFill>
                  </a:tcPr>
                </a:tc>
              </a:tr>
              <a:tr h="281940">
                <a:tc>
                  <a:txBody>
                    <a:bodyPr wrap="square"/>
                    <a:lstStyle/>
                    <a:p>
                      <a:r>
                        <a:rPr sz="1250" b="1">
                          <a:solidFill>
                            <a:srgbClr val="2B2B2B"/>
                          </a:solidFill>
                          <a:latin typeface="Calibri"/>
                        </a:rPr>
                        <a:t>Image encoder</a:t>
                      </a:r>
                    </a:p>
                  </a:txBody>
                  <a:tcPr marL="54864" marR="54864" marT="27432" marB="27432">
                    <a:solidFill>
                      <a:srgbClr val="FFFFFF"/>
                    </a:solidFill>
                  </a:tcPr>
                </a:tc>
                <a:tc>
                  <a:txBody>
                    <a:bodyPr wrap="square"/>
                    <a:lstStyle/>
                    <a:p>
                      <a:r>
                        <a:rPr sz="1250" b="0">
                          <a:solidFill>
                            <a:srgbClr val="2B2B2B"/>
                          </a:solidFill>
                          <a:latin typeface="Calibri"/>
                        </a:rPr>
                        <a:t>BiomedCLIP (PubMedBERT + ViT-B/16)</a:t>
                      </a:r>
                    </a:p>
                  </a:txBody>
                  <a:tcPr marL="54864" marR="54864" marT="27432" marB="27432">
                    <a:solidFill>
                      <a:srgbClr val="FFFFFF"/>
                    </a:solidFill>
                  </a:tcPr>
                </a:tc>
                <a:tc>
                  <a:txBody>
                    <a:bodyPr wrap="square"/>
                    <a:lstStyle/>
                    <a:p>
                      <a:r>
                        <a:rPr sz="1250" b="0">
                          <a:solidFill>
                            <a:srgbClr val="2B2B2B"/>
                          </a:solidFill>
                          <a:latin typeface="Calibri"/>
                        </a:rPr>
                        <a:t>Scans and text share one space, so a study can be found by describing it</a:t>
                      </a:r>
                    </a:p>
                  </a:txBody>
                  <a:tcPr marL="54864" marR="54864" marT="27432" marB="27432">
                    <a:solidFill>
                      <a:srgbClr val="FFFFFF"/>
                    </a:solidFill>
                  </a:tcPr>
                </a:tc>
              </a:tr>
              <a:tr h="281940">
                <a:tc>
                  <a:txBody>
                    <a:bodyPr wrap="square"/>
                    <a:lstStyle/>
                    <a:p>
                      <a:r>
                        <a:rPr sz="1250" b="1">
                          <a:solidFill>
                            <a:srgbClr val="2B2B2B"/>
                          </a:solidFill>
                          <a:latin typeface="Calibri"/>
                        </a:rPr>
                        <a:t>OCR</a:t>
                      </a:r>
                    </a:p>
                  </a:txBody>
                  <a:tcPr marL="54864" marR="54864" marT="27432" marB="27432">
                    <a:solidFill>
                      <a:srgbClr val="FBEAEA"/>
                    </a:solidFill>
                  </a:tcPr>
                </a:tc>
                <a:tc>
                  <a:txBody>
                    <a:bodyPr wrap="square"/>
                    <a:lstStyle/>
                    <a:p>
                      <a:r>
                        <a:rPr sz="1250" b="0">
                          <a:solidFill>
                            <a:srgbClr val="2B2B2B"/>
                          </a:solidFill>
                          <a:latin typeface="Calibri"/>
                        </a:rPr>
                        <a:t>RapidOCR, PP-OCRv4 in ONNX</a:t>
                      </a:r>
                    </a:p>
                  </a:txBody>
                  <a:tcPr marL="54864" marR="54864" marT="27432" marB="27432">
                    <a:solidFill>
                      <a:srgbClr val="FBEAEA"/>
                    </a:solidFill>
                  </a:tcPr>
                </a:tc>
                <a:tc>
                  <a:txBody>
                    <a:bodyPr wrap="square"/>
                    <a:lstStyle/>
                    <a:p>
                      <a:r>
                        <a:rPr sz="1250" b="0">
                          <a:solidFill>
                            <a:srgbClr val="2B2B2B"/>
                          </a:solidFill>
                          <a:latin typeface="Calibri"/>
                        </a:rPr>
                        <a:t>About 31 ms a page on CPU; holds back reads below 0.75 confidence</a:t>
                      </a:r>
                    </a:p>
                  </a:txBody>
                  <a:tcPr marL="54864" marR="54864" marT="27432" marB="27432">
                    <a:solidFill>
                      <a:srgbClr val="FBEAEA"/>
                    </a:solidFill>
                  </a:tcPr>
                </a:tc>
              </a:tr>
              <a:tr h="281940">
                <a:tc>
                  <a:txBody>
                    <a:bodyPr wrap="square"/>
                    <a:lstStyle/>
                    <a:p>
                      <a:r>
                        <a:rPr sz="1250" b="1">
                          <a:solidFill>
                            <a:srgbClr val="2B2B2B"/>
                          </a:solidFill>
                          <a:latin typeface="Calibri"/>
                        </a:rPr>
                        <a:t>PDF engine</a:t>
                      </a:r>
                    </a:p>
                  </a:txBody>
                  <a:tcPr marL="54864" marR="54864" marT="27432" marB="27432">
                    <a:solidFill>
                      <a:srgbClr val="FFFFFF"/>
                    </a:solidFill>
                  </a:tcPr>
                </a:tc>
                <a:tc>
                  <a:txBody>
                    <a:bodyPr wrap="square"/>
                    <a:lstStyle/>
                    <a:p>
                      <a:r>
                        <a:rPr sz="1250" b="0">
                          <a:solidFill>
                            <a:srgbClr val="2B2B2B"/>
                          </a:solidFill>
                          <a:latin typeface="Calibri"/>
                        </a:rPr>
                        <a:t>WeasyPrint (HTML + CSS to PDF)</a:t>
                      </a:r>
                    </a:p>
                  </a:txBody>
                  <a:tcPr marL="54864" marR="54864" marT="27432" marB="27432">
                    <a:solidFill>
                      <a:srgbClr val="FFFFFF"/>
                    </a:solidFill>
                  </a:tcPr>
                </a:tc>
                <a:tc>
                  <a:txBody>
                    <a:bodyPr wrap="square"/>
                    <a:lstStyle/>
                    <a:p>
                      <a:r>
                        <a:rPr sz="1250" b="0">
                          <a:solidFill>
                            <a:srgbClr val="2B2B2B"/>
                          </a:solidFill>
                          <a:latin typeface="Calibri"/>
                        </a:rPr>
                        <a:t>Paged CSS repeats the watermark on every page; no headless browser needed</a:t>
                      </a:r>
                    </a:p>
                  </a:txBody>
                  <a:tcPr marL="54864" marR="54864" marT="27432" marB="27432">
                    <a:solidFill>
                      <a:srgbClr val="FFFFFF"/>
                    </a:solidFill>
                  </a:tcPr>
                </a:tc>
              </a:tr>
              <a:tr h="281940">
                <a:tc>
                  <a:txBody>
                    <a:bodyPr wrap="square"/>
                    <a:lstStyle/>
                    <a:p>
                      <a:r>
                        <a:rPr sz="1250" b="1">
                          <a:solidFill>
                            <a:srgbClr val="2B2B2B"/>
                          </a:solidFill>
                          <a:latin typeface="Calibri"/>
                        </a:rPr>
                        <a:t>Generation</a:t>
                      </a:r>
                    </a:p>
                  </a:txBody>
                  <a:tcPr marL="54864" marR="54864" marT="27432" marB="27432">
                    <a:solidFill>
                      <a:srgbClr val="FBEAEA"/>
                    </a:solidFill>
                  </a:tcPr>
                </a:tc>
                <a:tc>
                  <a:txBody>
                    <a:bodyPr wrap="square"/>
                    <a:lstStyle/>
                    <a:p>
                      <a:r>
                        <a:rPr sz="1250" b="0">
                          <a:solidFill>
                            <a:srgbClr val="2B2B2B"/>
                          </a:solidFill>
                          <a:latin typeface="Calibri"/>
                        </a:rPr>
                        <a:t>Free-tier LLM chain behind a de-identification gate</a:t>
                      </a:r>
                    </a:p>
                  </a:txBody>
                  <a:tcPr marL="54864" marR="54864" marT="27432" marB="27432">
                    <a:solidFill>
                      <a:srgbClr val="FBEAEA"/>
                    </a:solidFill>
                  </a:tcPr>
                </a:tc>
                <a:tc>
                  <a:txBody>
                    <a:bodyPr wrap="square"/>
                    <a:lstStyle/>
                    <a:p>
                      <a:r>
                        <a:rPr sz="1250" b="0">
                          <a:solidFill>
                            <a:srgbClr val="2B2B2B"/>
                          </a:solidFill>
                          <a:latin typeface="Calibri"/>
                        </a:rPr>
                        <a:t>Zero cost; the gate blocks any prompt that still holds an identifier</a:t>
                      </a:r>
                    </a:p>
                  </a:txBody>
                  <a:tcPr marL="54864" marR="54864" marT="27432" marB="27432">
                    <a:solidFill>
                      <a:srgbClr val="FBEAEA"/>
                    </a:solidFill>
                  </a:tcPr>
                </a:tc>
              </a:tr>
              <a:tr h="281940">
                <a:tc>
                  <a:txBody>
                    <a:bodyPr wrap="square"/>
                    <a:lstStyle/>
                    <a:p>
                      <a:r>
                        <a:rPr sz="1250" b="1">
                          <a:solidFill>
                            <a:srgbClr val="2B2B2B"/>
                          </a:solidFill>
                          <a:latin typeface="Calibri"/>
                        </a:rPr>
                        <a:t>Orchestration</a:t>
                      </a:r>
                    </a:p>
                  </a:txBody>
                  <a:tcPr marL="54864" marR="54864" marT="27432" marB="27432">
                    <a:solidFill>
                      <a:srgbClr val="FFFFFF"/>
                    </a:solidFill>
                  </a:tcPr>
                </a:tc>
                <a:tc>
                  <a:txBody>
                    <a:bodyPr wrap="square"/>
                    <a:lstStyle/>
                    <a:p>
                      <a:r>
                        <a:rPr sz="1250" b="0">
                          <a:solidFill>
                            <a:srgbClr val="2B2B2B"/>
                          </a:solidFill>
                          <a:latin typeface="Calibri"/>
                        </a:rPr>
                        <a:t>Docker Compose, 7 services</a:t>
                      </a:r>
                    </a:p>
                  </a:txBody>
                  <a:tcPr marL="54864" marR="54864" marT="27432" marB="27432">
                    <a:solidFill>
                      <a:srgbClr val="FFFFFF"/>
                    </a:solidFill>
                  </a:tcPr>
                </a:tc>
                <a:tc>
                  <a:txBody>
                    <a:bodyPr wrap="square"/>
                    <a:lstStyle/>
                    <a:p>
                      <a:r>
                        <a:rPr sz="1250" b="0">
                          <a:solidFill>
                            <a:srgbClr val="2B2B2B"/>
                          </a:solidFill>
                          <a:latin typeface="Calibri"/>
                        </a:rPr>
                        <a:t>One command starts everything; health is reported at /health</a:t>
                      </a:r>
                    </a:p>
                  </a:txBody>
                  <a:tcPr marL="54864" marR="54864"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11</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Chunking: What a Chunk Holds</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One clinical event is one chunk; measured with MedCPT's own tokenizer</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Rohan</a:t>
            </a:r>
          </a:p>
        </p:txBody>
      </p:sp>
      <p:sp>
        <p:nvSpPr>
          <p:cNvPr id="11" name="TextBox 10"/>
          <p:cNvSpPr txBox="1"/>
          <p:nvPr/>
        </p:nvSpPr>
        <p:spPr>
          <a:xfrm>
            <a:off x="411480" y="1874519"/>
            <a:ext cx="5760720" cy="320040"/>
          </a:xfrm>
          <a:prstGeom prst="rect">
            <a:avLst/>
          </a:prstGeom>
          <a:noFill/>
        </p:spPr>
        <p:txBody>
          <a:bodyPr wrap="square" lIns="0" rIns="0" tIns="0" bIns="0" anchor="t"/>
          <a:lstStyle/>
          <a:p>
            <a:pPr algn="l">
              <a:lnSpc>
                <a:spcPct val="115000"/>
              </a:lnSpc>
              <a:spcAft>
                <a:spcPts val="0"/>
              </a:spcAft>
            </a:pPr>
            <a:r>
              <a:rPr sz="1450" b="1" i="0">
                <a:solidFill>
                  <a:srgbClr val="BC312C"/>
                </a:solidFill>
                <a:latin typeface="Calibri"/>
              </a:rPr>
              <a:t>From stored event to model input</a:t>
            </a:r>
          </a:p>
        </p:txBody>
      </p:sp>
      <p:sp>
        <p:nvSpPr>
          <p:cNvPr id="12" name="Rounded Rectangle 11"/>
          <p:cNvSpPr/>
          <p:nvPr/>
        </p:nvSpPr>
        <p:spPr>
          <a:xfrm>
            <a:off x="411480" y="2240280"/>
            <a:ext cx="5760720" cy="96012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lnSpc>
                <a:spcPct val="100000"/>
              </a:lnSpc>
            </a:pPr>
            <a:r>
              <a:rPr sz="1050" b="0" i="0">
                <a:solidFill>
                  <a:srgbClr val="E6E6E6"/>
                </a:solidFill>
                <a:latin typeface="Consolas"/>
              </a:rPr>
              <a:t>{ event_type: "lab", valid_time: 2026-03-06,</a:t>
            </a:r>
          </a:p>
          <a:p>
            <a:pPr algn="l">
              <a:lnSpc>
                <a:spcPct val="100000"/>
              </a:lnSpc>
            </a:pPr>
            <a:r>
              <a:rPr sz="1050" b="0" i="0">
                <a:solidFill>
                  <a:srgbClr val="E6E6E6"/>
                </a:solidFill>
                <a:latin typeface="Consolas"/>
              </a:rPr>
              <a:t>  payload: { test: "TSH", value: 5.31, unit: "mIU/L",</a:t>
            </a:r>
          </a:p>
          <a:p>
            <a:pPr algn="l">
              <a:lnSpc>
                <a:spcPct val="100000"/>
              </a:lnSpc>
            </a:pPr>
            <a:r>
              <a:rPr sz="1050" b="0" i="0">
                <a:solidFill>
                  <a:srgbClr val="E6E6E6"/>
                </a:solidFill>
                <a:latin typeface="Consolas"/>
              </a:rPr>
              <a:t>             reference_low: 0.4, reference_high: 4.0 } }</a:t>
            </a:r>
          </a:p>
        </p:txBody>
      </p:sp>
      <p:cxnSp>
        <p:nvCxnSpPr>
          <p:cNvPr id="13" name="Connector 12"/>
          <p:cNvCxnSpPr/>
          <p:nvPr/>
        </p:nvCxnSpPr>
        <p:spPr>
          <a:xfrm>
            <a:off x="3291840" y="3200400"/>
            <a:ext cx="0" cy="22860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11480" y="3429000"/>
            <a:ext cx="5760720" cy="566928"/>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lnSpc>
                <a:spcPct val="100000"/>
              </a:lnSpc>
            </a:pPr>
            <a:r>
              <a:rPr sz="1100" b="0" i="0">
                <a:solidFill>
                  <a:srgbClr val="2B2B2B"/>
                </a:solidFill>
                <a:latin typeface="Consolas"/>
              </a:rPr>
              <a:t>"Laboratory result test: TSH value: 5.31 unit: mIU/L reference low: 0.4 reference high: 4.0"</a:t>
            </a:r>
          </a:p>
        </p:txBody>
      </p:sp>
      <p:cxnSp>
        <p:nvCxnSpPr>
          <p:cNvPr id="15" name="Connector 14"/>
          <p:cNvCxnSpPr/>
          <p:nvPr/>
        </p:nvCxnSpPr>
        <p:spPr>
          <a:xfrm>
            <a:off x="3291840" y="3995928"/>
            <a:ext cx="0" cy="22860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11480" y="4224528"/>
            <a:ext cx="5760720" cy="8686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lnSpc>
                <a:spcPct val="100000"/>
              </a:lnSpc>
            </a:pPr>
            <a:r>
              <a:rPr sz="1100" b="1" i="0">
                <a:solidFill>
                  <a:srgbClr val="2B2B2B"/>
                </a:solidFill>
                <a:latin typeface="Calibri"/>
              </a:rPr>
              <a:t>30 WordPiece tokens:</a:t>
            </a:r>
          </a:p>
          <a:p>
            <a:pPr algn="l">
              <a:lnSpc>
                <a:spcPct val="100000"/>
              </a:lnSpc>
            </a:pPr>
            <a:r>
              <a:rPr sz="1000" b="0" i="0">
                <a:solidFill>
                  <a:srgbClr val="2B2B2B"/>
                </a:solidFill>
                <a:latin typeface="Consolas"/>
              </a:rPr>
              <a:t>[CLS] laboratory result test : tsh value : 5 . 31 unit : mi ##u / l reference low : 0 . 4 reference high : 4 . 0 [SEP]</a:t>
            </a:r>
          </a:p>
        </p:txBody>
      </p:sp>
      <p:sp>
        <p:nvSpPr>
          <p:cNvPr id="17" name="TextBox 16"/>
          <p:cNvSpPr txBox="1"/>
          <p:nvPr/>
        </p:nvSpPr>
        <p:spPr>
          <a:xfrm>
            <a:off x="411480" y="5212080"/>
            <a:ext cx="5760720" cy="1051560"/>
          </a:xfrm>
          <a:prstGeom prst="rect">
            <a:avLst/>
          </a:prstGeom>
          <a:noFill/>
        </p:spPr>
        <p:txBody>
          <a:bodyPr wrap="square" lIns="0" rIns="0" tIns="0" bIns="0" anchor="t"/>
          <a:lstStyle/>
          <a:p>
            <a:pPr algn="l">
              <a:lnSpc>
                <a:spcPct val="115000"/>
              </a:lnSpc>
              <a:spcAft>
                <a:spcPts val="0"/>
              </a:spcAft>
            </a:pPr>
            <a:r>
              <a:rPr sz="1150" b="0" i="0">
                <a:solidFill>
                  <a:srgbClr val="5A5A5A"/>
                </a:solidFill>
                <a:latin typeface="Calibri"/>
              </a:rPr>
              <a:t>Nested fields (lists, objects) are skipped; </a:t>
            </a:r>
            <a:r>
              <a:rPr sz="1150" b="1" i="0">
                <a:solidFill>
                  <a:srgbClr val="5A5A5A"/>
                </a:solidFill>
                <a:latin typeface="Calibri"/>
              </a:rPr>
              <a:t>dates are not in the text</a:t>
            </a:r>
            <a:r>
              <a:rPr sz="1150" b="0" i="0">
                <a:solidFill>
                  <a:srgbClr val="5A5A5A"/>
                </a:solidFill>
                <a:latin typeface="Calibri"/>
              </a:rPr>
              <a:t>, because time is handled by the validity layer, not by similarity.</a:t>
            </a:r>
          </a:p>
        </p:txBody>
      </p:sp>
      <p:sp>
        <p:nvSpPr>
          <p:cNvPr id="18" name="TextBox 17"/>
          <p:cNvSpPr txBox="1"/>
          <p:nvPr/>
        </p:nvSpPr>
        <p:spPr>
          <a:xfrm>
            <a:off x="6446520" y="1874519"/>
            <a:ext cx="5303520" cy="320040"/>
          </a:xfrm>
          <a:prstGeom prst="rect">
            <a:avLst/>
          </a:prstGeom>
          <a:noFill/>
        </p:spPr>
        <p:txBody>
          <a:bodyPr wrap="square" lIns="0" rIns="0" tIns="0" bIns="0" anchor="t"/>
          <a:lstStyle/>
          <a:p>
            <a:pPr algn="l">
              <a:lnSpc>
                <a:spcPct val="115000"/>
              </a:lnSpc>
              <a:spcAft>
                <a:spcPts val="0"/>
              </a:spcAft>
            </a:pPr>
            <a:r>
              <a:rPr sz="1450" b="1" i="0">
                <a:solidFill>
                  <a:srgbClr val="BC312C"/>
                </a:solidFill>
                <a:latin typeface="Calibri"/>
              </a:rPr>
              <a:t>How much a chunk holds (TAP-QA seed 1)</a:t>
            </a:r>
          </a:p>
        </p:txBody>
      </p:sp>
      <p:graphicFrame>
        <p:nvGraphicFramePr>
          <p:cNvPr id="19" name="Table 18"/>
          <p:cNvGraphicFramePr>
            <a:graphicFrameLocks noGrp="1"/>
          </p:cNvGraphicFramePr>
          <p:nvPr/>
        </p:nvGraphicFramePr>
        <p:xfrm>
          <a:off x="6446520" y="2240280"/>
          <a:ext cx="5303519" cy="1554480"/>
        </p:xfrm>
        <a:graphic>
          <a:graphicData uri="http://schemas.openxmlformats.org/drawingml/2006/table">
            <a:tbl>
              <a:tblPr firstRow="0" bandRow="0">
                <a:tableStyleId>{5C22544A-7EE6-4342-B048-85BDC9FD1C3A}</a:tableStyleId>
              </a:tblPr>
              <a:tblGrid>
                <a:gridCol w="1591056"/>
                <a:gridCol w="795528"/>
                <a:gridCol w="1060704"/>
                <a:gridCol w="636422"/>
                <a:gridCol w="1219809"/>
              </a:tblGrid>
              <a:tr h="259080">
                <a:tc>
                  <a:txBody>
                    <a:bodyPr wrap="square"/>
                    <a:lstStyle/>
                    <a:p>
                      <a:r>
                        <a:rPr sz="1100" b="1">
                          <a:solidFill>
                            <a:srgbClr val="FFFFFF"/>
                          </a:solidFill>
                          <a:latin typeface="Calibri"/>
                        </a:rPr>
                        <a:t>Record type</a:t>
                      </a:r>
                    </a:p>
                  </a:txBody>
                  <a:tcPr marL="54864" marR="54864" marT="27432" marB="27432">
                    <a:solidFill>
                      <a:srgbClr val="BC312C"/>
                    </a:solidFill>
                  </a:tcPr>
                </a:tc>
                <a:tc>
                  <a:txBody>
                    <a:bodyPr wrap="square"/>
                    <a:lstStyle/>
                    <a:p>
                      <a:r>
                        <a:rPr sz="1100" b="1">
                          <a:solidFill>
                            <a:srgbClr val="FFFFFF"/>
                          </a:solidFill>
                          <a:latin typeface="Calibri"/>
                        </a:rPr>
                        <a:t>Count</a:t>
                      </a:r>
                    </a:p>
                  </a:txBody>
                  <a:tcPr marL="54864" marR="54864" marT="27432" marB="27432">
                    <a:solidFill>
                      <a:srgbClr val="BC312C"/>
                    </a:solidFill>
                  </a:tcPr>
                </a:tc>
                <a:tc>
                  <a:txBody>
                    <a:bodyPr wrap="square"/>
                    <a:lstStyle/>
                    <a:p>
                      <a:r>
                        <a:rPr sz="1100" b="1">
                          <a:solidFill>
                            <a:srgbClr val="FFFFFF"/>
                          </a:solidFill>
                          <a:latin typeface="Calibri"/>
                        </a:rPr>
                        <a:t>Mean tokens</a:t>
                      </a:r>
                    </a:p>
                  </a:txBody>
                  <a:tcPr marL="54864" marR="54864" marT="27432" marB="27432">
                    <a:solidFill>
                      <a:srgbClr val="BC312C"/>
                    </a:solidFill>
                  </a:tcPr>
                </a:tc>
                <a:tc>
                  <a:txBody>
                    <a:bodyPr wrap="square"/>
                    <a:lstStyle/>
                    <a:p>
                      <a:r>
                        <a:rPr sz="1100" b="1">
                          <a:solidFill>
                            <a:srgbClr val="FFFFFF"/>
                          </a:solidFill>
                          <a:latin typeface="Calibri"/>
                        </a:rPr>
                        <a:t>Max</a:t>
                      </a:r>
                    </a:p>
                  </a:txBody>
                  <a:tcPr marL="54864" marR="54864" marT="27432" marB="27432">
                    <a:solidFill>
                      <a:srgbClr val="BC312C"/>
                    </a:solidFill>
                  </a:tcPr>
                </a:tc>
                <a:tc>
                  <a:txBody>
                    <a:bodyPr wrap="square"/>
                    <a:lstStyle/>
                    <a:p>
                      <a:r>
                        <a:rPr sz="1100" b="1">
                          <a:solidFill>
                            <a:srgbClr val="FFFFFF"/>
                          </a:solidFill>
                          <a:latin typeface="Calibri"/>
                        </a:rPr>
                        <a:t>Share of 512</a:t>
                      </a:r>
                    </a:p>
                  </a:txBody>
                  <a:tcPr marL="54864" marR="54864" marT="27432" marB="27432">
                    <a:solidFill>
                      <a:srgbClr val="BC312C"/>
                    </a:solidFill>
                  </a:tcPr>
                </a:tc>
              </a:tr>
              <a:tr h="259080">
                <a:tc>
                  <a:txBody>
                    <a:bodyPr wrap="square"/>
                    <a:lstStyle/>
                    <a:p>
                      <a:r>
                        <a:rPr sz="1100" b="1">
                          <a:solidFill>
                            <a:srgbClr val="2B2B2B"/>
                          </a:solidFill>
                          <a:latin typeface="Calibri"/>
                        </a:rPr>
                        <a:t>Lab result</a:t>
                      </a:r>
                    </a:p>
                  </a:txBody>
                  <a:tcPr marL="54864" marR="54864" marT="27432" marB="27432">
                    <a:solidFill>
                      <a:srgbClr val="FFFFFF"/>
                    </a:solidFill>
                  </a:tcPr>
                </a:tc>
                <a:tc>
                  <a:txBody>
                    <a:bodyPr wrap="square"/>
                    <a:lstStyle/>
                    <a:p>
                      <a:r>
                        <a:rPr sz="1100" b="0">
                          <a:solidFill>
                            <a:srgbClr val="2B2B2B"/>
                          </a:solidFill>
                          <a:latin typeface="Calibri"/>
                        </a:rPr>
                        <a:t>3,251</a:t>
                      </a:r>
                    </a:p>
                  </a:txBody>
                  <a:tcPr marL="54864" marR="54864" marT="27432" marB="27432">
                    <a:solidFill>
                      <a:srgbClr val="FFFFFF"/>
                    </a:solidFill>
                  </a:tcPr>
                </a:tc>
                <a:tc>
                  <a:txBody>
                    <a:bodyPr wrap="square"/>
                    <a:lstStyle/>
                    <a:p>
                      <a:r>
                        <a:rPr sz="1100" b="0">
                          <a:solidFill>
                            <a:srgbClr val="2B2B2B"/>
                          </a:solidFill>
                          <a:latin typeface="Calibri"/>
                        </a:rPr>
                        <a:t>27.9</a:t>
                      </a:r>
                    </a:p>
                  </a:txBody>
                  <a:tcPr marL="54864" marR="54864" marT="27432" marB="27432">
                    <a:solidFill>
                      <a:srgbClr val="FFFFFF"/>
                    </a:solidFill>
                  </a:tcPr>
                </a:tc>
                <a:tc>
                  <a:txBody>
                    <a:bodyPr wrap="square"/>
                    <a:lstStyle/>
                    <a:p>
                      <a:r>
                        <a:rPr sz="1100" b="0">
                          <a:solidFill>
                            <a:srgbClr val="2B2B2B"/>
                          </a:solidFill>
                          <a:latin typeface="Calibri"/>
                        </a:rPr>
                        <a:t>30</a:t>
                      </a:r>
                    </a:p>
                  </a:txBody>
                  <a:tcPr marL="54864" marR="54864" marT="27432" marB="27432">
                    <a:solidFill>
                      <a:srgbClr val="FFFFFF"/>
                    </a:solidFill>
                  </a:tcPr>
                </a:tc>
                <a:tc>
                  <a:txBody>
                    <a:bodyPr wrap="square"/>
                    <a:lstStyle/>
                    <a:p>
                      <a:r>
                        <a:rPr sz="1100" b="0">
                          <a:solidFill>
                            <a:srgbClr val="2B2B2B"/>
                          </a:solidFill>
                          <a:latin typeface="Calibri"/>
                        </a:rPr>
                        <a:t>≈ 5.5 %</a:t>
                      </a:r>
                    </a:p>
                  </a:txBody>
                  <a:tcPr marL="54864" marR="54864" marT="27432" marB="27432">
                    <a:solidFill>
                      <a:srgbClr val="FFFFFF"/>
                    </a:solidFill>
                  </a:tcPr>
                </a:tc>
              </a:tr>
              <a:tr h="259080">
                <a:tc>
                  <a:txBody>
                    <a:bodyPr wrap="square"/>
                    <a:lstStyle/>
                    <a:p>
                      <a:r>
                        <a:rPr sz="1100" b="1">
                          <a:solidFill>
                            <a:srgbClr val="2B2B2B"/>
                          </a:solidFill>
                          <a:latin typeface="Calibri"/>
                        </a:rPr>
                        <a:t>Medication</a:t>
                      </a:r>
                    </a:p>
                  </a:txBody>
                  <a:tcPr marL="54864" marR="54864" marT="27432" marB="27432">
                    <a:solidFill>
                      <a:srgbClr val="FBEAEA"/>
                    </a:solidFill>
                  </a:tcPr>
                </a:tc>
                <a:tc>
                  <a:txBody>
                    <a:bodyPr wrap="square"/>
                    <a:lstStyle/>
                    <a:p>
                      <a:r>
                        <a:rPr sz="1100" b="0">
                          <a:solidFill>
                            <a:srgbClr val="2B2B2B"/>
                          </a:solidFill>
                          <a:latin typeface="Calibri"/>
                        </a:rPr>
                        <a:t>446</a:t>
                      </a:r>
                    </a:p>
                  </a:txBody>
                  <a:tcPr marL="54864" marR="54864" marT="27432" marB="27432">
                    <a:solidFill>
                      <a:srgbClr val="FBEAEA"/>
                    </a:solidFill>
                  </a:tcPr>
                </a:tc>
                <a:tc>
                  <a:txBody>
                    <a:bodyPr wrap="square"/>
                    <a:lstStyle/>
                    <a:p>
                      <a:r>
                        <a:rPr sz="1100" b="0">
                          <a:solidFill>
                            <a:srgbClr val="2B2B2B"/>
                          </a:solidFill>
                          <a:latin typeface="Calibri"/>
                        </a:rPr>
                        <a:t>18.4</a:t>
                      </a:r>
                    </a:p>
                  </a:txBody>
                  <a:tcPr marL="54864" marR="54864" marT="27432" marB="27432">
                    <a:solidFill>
                      <a:srgbClr val="FBEAEA"/>
                    </a:solidFill>
                  </a:tcPr>
                </a:tc>
                <a:tc>
                  <a:txBody>
                    <a:bodyPr wrap="square"/>
                    <a:lstStyle/>
                    <a:p>
                      <a:r>
                        <a:rPr sz="1100" b="0">
                          <a:solidFill>
                            <a:srgbClr val="2B2B2B"/>
                          </a:solidFill>
                          <a:latin typeface="Calibri"/>
                        </a:rPr>
                        <a:t>21</a:t>
                      </a:r>
                    </a:p>
                  </a:txBody>
                  <a:tcPr marL="54864" marR="54864" marT="27432" marB="27432">
                    <a:solidFill>
                      <a:srgbClr val="FBEAEA"/>
                    </a:solidFill>
                  </a:tcPr>
                </a:tc>
                <a:tc>
                  <a:txBody>
                    <a:bodyPr wrap="square"/>
                    <a:lstStyle/>
                    <a:p>
                      <a:r>
                        <a:rPr sz="1100" b="0">
                          <a:solidFill>
                            <a:srgbClr val="2B2B2B"/>
                          </a:solidFill>
                          <a:latin typeface="Calibri"/>
                        </a:rPr>
                        <a:t>≈ 3.6 %</a:t>
                      </a:r>
                    </a:p>
                  </a:txBody>
                  <a:tcPr marL="54864" marR="54864" marT="27432" marB="27432">
                    <a:solidFill>
                      <a:srgbClr val="FBEAEA"/>
                    </a:solidFill>
                  </a:tcPr>
                </a:tc>
              </a:tr>
              <a:tr h="259080">
                <a:tc>
                  <a:txBody>
                    <a:bodyPr wrap="square"/>
                    <a:lstStyle/>
                    <a:p>
                      <a:r>
                        <a:rPr sz="1100" b="1">
                          <a:solidFill>
                            <a:srgbClr val="2B2B2B"/>
                          </a:solidFill>
                          <a:latin typeface="Calibri"/>
                        </a:rPr>
                        <a:t>Clinical note</a:t>
                      </a:r>
                    </a:p>
                  </a:txBody>
                  <a:tcPr marL="54864" marR="54864" marT="27432" marB="27432">
                    <a:solidFill>
                      <a:srgbClr val="FFFFFF"/>
                    </a:solidFill>
                  </a:tcPr>
                </a:tc>
                <a:tc>
                  <a:txBody>
                    <a:bodyPr wrap="square"/>
                    <a:lstStyle/>
                    <a:p>
                      <a:r>
                        <a:rPr sz="1100" b="0">
                          <a:solidFill>
                            <a:srgbClr val="2B2B2B"/>
                          </a:solidFill>
                          <a:latin typeface="Calibri"/>
                        </a:rPr>
                        <a:t>314</a:t>
                      </a:r>
                    </a:p>
                  </a:txBody>
                  <a:tcPr marL="54864" marR="54864" marT="27432" marB="27432">
                    <a:solidFill>
                      <a:srgbClr val="FFFFFF"/>
                    </a:solidFill>
                  </a:tcPr>
                </a:tc>
                <a:tc>
                  <a:txBody>
                    <a:bodyPr wrap="square"/>
                    <a:lstStyle/>
                    <a:p>
                      <a:r>
                        <a:rPr sz="1100" b="0">
                          <a:solidFill>
                            <a:srgbClr val="2B2B2B"/>
                          </a:solidFill>
                          <a:latin typeface="Calibri"/>
                        </a:rPr>
                        <a:t>15.8</a:t>
                      </a:r>
                    </a:p>
                  </a:txBody>
                  <a:tcPr marL="54864" marR="54864" marT="27432" marB="27432">
                    <a:solidFill>
                      <a:srgbClr val="FFFFFF"/>
                    </a:solidFill>
                  </a:tcPr>
                </a:tc>
                <a:tc>
                  <a:txBody>
                    <a:bodyPr wrap="square"/>
                    <a:lstStyle/>
                    <a:p>
                      <a:r>
                        <a:rPr sz="1100" b="0">
                          <a:solidFill>
                            <a:srgbClr val="2B2B2B"/>
                          </a:solidFill>
                          <a:latin typeface="Calibri"/>
                        </a:rPr>
                        <a:t>19</a:t>
                      </a:r>
                    </a:p>
                  </a:txBody>
                  <a:tcPr marL="54864" marR="54864" marT="27432" marB="27432">
                    <a:solidFill>
                      <a:srgbClr val="FFFFFF"/>
                    </a:solidFill>
                  </a:tcPr>
                </a:tc>
                <a:tc>
                  <a:txBody>
                    <a:bodyPr wrap="square"/>
                    <a:lstStyle/>
                    <a:p>
                      <a:r>
                        <a:rPr sz="1100" b="0">
                          <a:solidFill>
                            <a:srgbClr val="2B2B2B"/>
                          </a:solidFill>
                          <a:latin typeface="Calibri"/>
                        </a:rPr>
                        <a:t>≈ 3.1 %</a:t>
                      </a:r>
                    </a:p>
                  </a:txBody>
                  <a:tcPr marL="54864" marR="54864" marT="27432" marB="27432">
                    <a:solidFill>
                      <a:srgbClr val="FFFFFF"/>
                    </a:solidFill>
                  </a:tcPr>
                </a:tc>
              </a:tr>
              <a:tr h="259080">
                <a:tc>
                  <a:txBody>
                    <a:bodyPr wrap="square"/>
                    <a:lstStyle/>
                    <a:p>
                      <a:r>
                        <a:rPr sz="1100" b="1">
                          <a:solidFill>
                            <a:srgbClr val="2B2B2B"/>
                          </a:solidFill>
                          <a:latin typeface="Calibri"/>
                        </a:rPr>
                        <a:t>Diagnosis</a:t>
                      </a:r>
                    </a:p>
                  </a:txBody>
                  <a:tcPr marL="54864" marR="54864" marT="27432" marB="27432">
                    <a:solidFill>
                      <a:srgbClr val="FBEAEA"/>
                    </a:solidFill>
                  </a:tcPr>
                </a:tc>
                <a:tc>
                  <a:txBody>
                    <a:bodyPr wrap="square"/>
                    <a:lstStyle/>
                    <a:p>
                      <a:r>
                        <a:rPr sz="1100" b="0">
                          <a:solidFill>
                            <a:srgbClr val="2B2B2B"/>
                          </a:solidFill>
                          <a:latin typeface="Calibri"/>
                        </a:rPr>
                        <a:t>489</a:t>
                      </a:r>
                    </a:p>
                  </a:txBody>
                  <a:tcPr marL="54864" marR="54864" marT="27432" marB="27432">
                    <a:solidFill>
                      <a:srgbClr val="FBEAEA"/>
                    </a:solidFill>
                  </a:tcPr>
                </a:tc>
                <a:tc>
                  <a:txBody>
                    <a:bodyPr wrap="square"/>
                    <a:lstStyle/>
                    <a:p>
                      <a:r>
                        <a:rPr sz="1100" b="0">
                          <a:solidFill>
                            <a:srgbClr val="2B2B2B"/>
                          </a:solidFill>
                          <a:latin typeface="Calibri"/>
                        </a:rPr>
                        <a:t>7.9</a:t>
                      </a:r>
                    </a:p>
                  </a:txBody>
                  <a:tcPr marL="54864" marR="54864" marT="27432" marB="27432">
                    <a:solidFill>
                      <a:srgbClr val="FBEAEA"/>
                    </a:solidFill>
                  </a:tcPr>
                </a:tc>
                <a:tc>
                  <a:txBody>
                    <a:bodyPr wrap="square"/>
                    <a:lstStyle/>
                    <a:p>
                      <a:r>
                        <a:rPr sz="1100" b="0">
                          <a:solidFill>
                            <a:srgbClr val="2B2B2B"/>
                          </a:solidFill>
                          <a:latin typeface="Calibri"/>
                        </a:rPr>
                        <a:t>10</a:t>
                      </a:r>
                    </a:p>
                  </a:txBody>
                  <a:tcPr marL="54864" marR="54864" marT="27432" marB="27432">
                    <a:solidFill>
                      <a:srgbClr val="FBEAEA"/>
                    </a:solidFill>
                  </a:tcPr>
                </a:tc>
                <a:tc>
                  <a:txBody>
                    <a:bodyPr wrap="square"/>
                    <a:lstStyle/>
                    <a:p>
                      <a:r>
                        <a:rPr sz="1100" b="0">
                          <a:solidFill>
                            <a:srgbClr val="2B2B2B"/>
                          </a:solidFill>
                          <a:latin typeface="Calibri"/>
                        </a:rPr>
                        <a:t>≈ 1.5 %</a:t>
                      </a:r>
                    </a:p>
                  </a:txBody>
                  <a:tcPr marL="54864" marR="54864" marT="27432" marB="27432">
                    <a:solidFill>
                      <a:srgbClr val="FBEAEA"/>
                    </a:solidFill>
                  </a:tcPr>
                </a:tc>
              </a:tr>
              <a:tr h="259080">
                <a:tc>
                  <a:txBody>
                    <a:bodyPr wrap="square"/>
                    <a:lstStyle/>
                    <a:p>
                      <a:r>
                        <a:rPr sz="1100" b="1">
                          <a:solidFill>
                            <a:srgbClr val="2B2B2B"/>
                          </a:solidFill>
                          <a:latin typeface="Calibri"/>
                        </a:rPr>
                        <a:t>All 4,500 records</a:t>
                      </a:r>
                    </a:p>
                  </a:txBody>
                  <a:tcPr marL="54864" marR="54864" marT="27432" marB="27432">
                    <a:solidFill>
                      <a:srgbClr val="FFFFFF"/>
                    </a:solidFill>
                  </a:tcPr>
                </a:tc>
                <a:tc>
                  <a:txBody>
                    <a:bodyPr wrap="square"/>
                    <a:lstStyle/>
                    <a:p>
                      <a:r>
                        <a:rPr sz="1100" b="0">
                          <a:solidFill>
                            <a:srgbClr val="2B2B2B"/>
                          </a:solidFill>
                          <a:latin typeface="Calibri"/>
                        </a:rPr>
                        <a:t>4,500</a:t>
                      </a:r>
                    </a:p>
                  </a:txBody>
                  <a:tcPr marL="54864" marR="54864" marT="27432" marB="27432">
                    <a:solidFill>
                      <a:srgbClr val="FFFFFF"/>
                    </a:solidFill>
                  </a:tcPr>
                </a:tc>
                <a:tc>
                  <a:txBody>
                    <a:bodyPr wrap="square"/>
                    <a:lstStyle/>
                    <a:p>
                      <a:r>
                        <a:rPr sz="1100" b="0">
                          <a:solidFill>
                            <a:srgbClr val="2B2B2B"/>
                          </a:solidFill>
                          <a:latin typeface="Calibri"/>
                        </a:rPr>
                        <a:t>24.0</a:t>
                      </a:r>
                    </a:p>
                  </a:txBody>
                  <a:tcPr marL="54864" marR="54864" marT="27432" marB="27432">
                    <a:solidFill>
                      <a:srgbClr val="FFFFFF"/>
                    </a:solidFill>
                  </a:tcPr>
                </a:tc>
                <a:tc>
                  <a:txBody>
                    <a:bodyPr wrap="square"/>
                    <a:lstStyle/>
                    <a:p>
                      <a:r>
                        <a:rPr sz="1100" b="0">
                          <a:solidFill>
                            <a:srgbClr val="2B2B2B"/>
                          </a:solidFill>
                          <a:latin typeface="Calibri"/>
                        </a:rPr>
                        <a:t>30</a:t>
                      </a:r>
                    </a:p>
                  </a:txBody>
                  <a:tcPr marL="54864" marR="54864" marT="27432" marB="27432">
                    <a:solidFill>
                      <a:srgbClr val="FFFFFF"/>
                    </a:solidFill>
                  </a:tcPr>
                </a:tc>
                <a:tc>
                  <a:txBody>
                    <a:bodyPr wrap="square"/>
                    <a:lstStyle/>
                    <a:p>
                      <a:r>
                        <a:rPr sz="1100" b="0">
                          <a:solidFill>
                            <a:srgbClr val="2B2B2B"/>
                          </a:solidFill>
                          <a:latin typeface="Calibri"/>
                        </a:rPr>
                        <a:t>≈ 4.7 %</a:t>
                      </a:r>
                    </a:p>
                  </a:txBody>
                  <a:tcPr marL="54864" marR="54864" marT="27432" marB="27432">
                    <a:solidFill>
                      <a:srgbClr val="FFFFFF"/>
                    </a:solidFill>
                  </a:tcPr>
                </a:tc>
              </a:tr>
            </a:tbl>
          </a:graphicData>
        </a:graphic>
      </p:graphicFrame>
      <p:sp>
        <p:nvSpPr>
          <p:cNvPr id="20" name="TextBox 19"/>
          <p:cNvSpPr txBox="1"/>
          <p:nvPr/>
        </p:nvSpPr>
        <p:spPr>
          <a:xfrm>
            <a:off x="6446520" y="3886200"/>
            <a:ext cx="5303520" cy="320040"/>
          </a:xfrm>
          <a:prstGeom prst="rect">
            <a:avLst/>
          </a:prstGeom>
          <a:noFill/>
        </p:spPr>
        <p:txBody>
          <a:bodyPr wrap="square" lIns="0" rIns="0" tIns="0" bIns="0" anchor="t"/>
          <a:lstStyle/>
          <a:p>
            <a:pPr algn="l">
              <a:lnSpc>
                <a:spcPct val="115000"/>
              </a:lnSpc>
              <a:spcAft>
                <a:spcPts val="0"/>
              </a:spcAft>
            </a:pPr>
            <a:r>
              <a:rPr sz="1450" b="1" i="0">
                <a:solidFill>
                  <a:srgbClr val="BC312C"/>
                </a:solidFill>
                <a:latin typeface="Calibri"/>
              </a:rPr>
              <a:t>How the size was decided</a:t>
            </a:r>
          </a:p>
        </p:txBody>
      </p:sp>
      <p:sp>
        <p:nvSpPr>
          <p:cNvPr id="21" name="TextBox 20"/>
          <p:cNvSpPr txBox="1"/>
          <p:nvPr/>
        </p:nvSpPr>
        <p:spPr>
          <a:xfrm>
            <a:off x="6446520" y="4251960"/>
            <a:ext cx="5303520" cy="2011680"/>
          </a:xfrm>
          <a:prstGeom prst="rect">
            <a:avLst/>
          </a:prstGeom>
          <a:noFill/>
        </p:spPr>
        <p:txBody>
          <a:bodyPr wrap="square" lIns="0" rIns="0" tIns="0" bIns="0" anchor="t"/>
          <a:lstStyle/>
          <a:p>
            <a:pPr algn="l" marL="138747" indent="-138747">
              <a:lnSpc>
                <a:spcPct val="115000"/>
              </a:lnSpc>
              <a:spcAft>
                <a:spcPts val="100"/>
              </a:spcAft>
              <a:buChar char="•"/>
            </a:pPr>
            <a:r>
              <a:rPr sz="1150" b="0" i="0">
                <a:solidFill>
                  <a:srgbClr val="2B2B2B"/>
                </a:solidFill>
                <a:latin typeface="Calibri"/>
              </a:rPr>
              <a:t>Validity belongs to an event, so the chunk boundary is the event boundary</a:t>
            </a:r>
          </a:p>
          <a:p>
            <a:pPr algn="l" marL="138747" indent="-138747">
              <a:lnSpc>
                <a:spcPct val="115000"/>
              </a:lnSpc>
              <a:spcAft>
                <a:spcPts val="100"/>
              </a:spcAft>
              <a:buChar char="•"/>
            </a:pPr>
            <a:r>
              <a:rPr sz="1150" b="0" i="0">
                <a:solidFill>
                  <a:srgbClr val="2B2B2B"/>
                </a:solidFill>
                <a:latin typeface="Calibri"/>
              </a:rPr>
              <a:t>Splitting would cut a value off from its test name or unit</a:t>
            </a:r>
          </a:p>
          <a:p>
            <a:pPr algn="l" marL="138747" indent="-138747">
              <a:lnSpc>
                <a:spcPct val="115000"/>
              </a:lnSpc>
              <a:spcAft>
                <a:spcPts val="100"/>
              </a:spcAft>
              <a:buChar char="•"/>
            </a:pPr>
            <a:r>
              <a:rPr sz="1150" b="0" i="0">
                <a:solidFill>
                  <a:srgbClr val="2B2B2B"/>
                </a:solidFill>
                <a:latin typeface="Calibri"/>
              </a:rPr>
              <a:t>Merging two events would give one vector to a value and its correction</a:t>
            </a:r>
          </a:p>
          <a:p>
            <a:pPr algn="l" marL="138747" indent="-138747">
              <a:lnSpc>
                <a:spcPct val="115000"/>
              </a:lnSpc>
              <a:spcAft>
                <a:spcPts val="100"/>
              </a:spcAft>
              <a:buChar char="•"/>
            </a:pPr>
            <a:r>
              <a:rPr sz="1150" b="0" i="0">
                <a:solidFill>
                  <a:srgbClr val="2B2B2B"/>
                </a:solidFill>
                <a:latin typeface="Calibri"/>
              </a:rPr>
              <a:t>Cap of 1,800 characters: a full 1,800-character note is about 284 tokens, well under MedCPT's 512 limit, so nothing is silently truncated</a:t>
            </a:r>
          </a:p>
          <a:p>
            <a:pPr algn="l" marL="138747" indent="-138747">
              <a:lnSpc>
                <a:spcPct val="115000"/>
              </a:lnSpc>
              <a:spcAft>
                <a:spcPts val="100"/>
              </a:spcAft>
              <a:buChar char="•"/>
            </a:pPr>
            <a:r>
              <a:rPr sz="1150" b="0" i="0">
                <a:solidFill>
                  <a:srgbClr val="2B2B2B"/>
                </a:solidFill>
                <a:latin typeface="Calibri"/>
              </a:rPr>
              <a:t>No overlap between chunks is needed, since events do not run into each other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12</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Embeddings: How MedCPT Extracts Features</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The pretrained text encoder: what it was trained on, its size, and what it does to a sentence</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Rohan</a:t>
            </a:r>
          </a:p>
        </p:txBody>
      </p:sp>
      <p:graphicFrame>
        <p:nvGraphicFramePr>
          <p:cNvPr id="11" name="Table 10"/>
          <p:cNvGraphicFramePr>
            <a:graphicFrameLocks noGrp="1"/>
          </p:cNvGraphicFramePr>
          <p:nvPr/>
        </p:nvGraphicFramePr>
        <p:xfrm>
          <a:off x="411480" y="1874519"/>
          <a:ext cx="5120639" cy="2331718"/>
        </p:xfrm>
        <a:graphic>
          <a:graphicData uri="http://schemas.openxmlformats.org/drawingml/2006/table">
            <a:tbl>
              <a:tblPr firstRow="0" bandRow="0">
                <a:tableStyleId>{5C22544A-7EE6-4342-B048-85BDC9FD1C3A}</a:tableStyleId>
              </a:tblPr>
              <a:tblGrid>
                <a:gridCol w="1843430"/>
                <a:gridCol w="3277209"/>
              </a:tblGrid>
              <a:tr h="411479">
                <a:tc>
                  <a:txBody>
                    <a:bodyPr wrap="square"/>
                    <a:lstStyle/>
                    <a:p>
                      <a:r>
                        <a:rPr sz="1050" b="1">
                          <a:solidFill>
                            <a:srgbClr val="FFFFFF"/>
                          </a:solidFill>
                          <a:latin typeface="Calibri"/>
                        </a:rPr>
                        <a:t>MedCPT (NCBI, Jin et al., Bioinformatics 2023)</a:t>
                      </a:r>
                    </a:p>
                  </a:txBody>
                  <a:tcPr marL="54864" marR="54864" marT="27432" marB="27432">
                    <a:solidFill>
                      <a:srgbClr val="BC312C"/>
                    </a:solidFill>
                  </a:tcPr>
                </a:tc>
                <a:tc>
                  <a:txBody>
                    <a:bodyPr wrap="square"/>
                    <a:lstStyle/>
                    <a:p>
                      <a:r>
                        <a:rPr sz="1050" b="1">
                          <a:solidFill>
                            <a:srgbClr val="FFFFFF"/>
                          </a:solidFill>
                          <a:latin typeface="Calibri"/>
                        </a:rPr>
                        <a:t/>
                      </a:r>
                    </a:p>
                  </a:txBody>
                  <a:tcPr marL="54864" marR="54864" marT="27432" marB="27432">
                    <a:solidFill>
                      <a:srgbClr val="BC312C"/>
                    </a:solidFill>
                  </a:tcPr>
                </a:tc>
              </a:tr>
              <a:tr h="411479">
                <a:tc>
                  <a:txBody>
                    <a:bodyPr wrap="square"/>
                    <a:lstStyle/>
                    <a:p>
                      <a:r>
                        <a:rPr sz="1050" b="1">
                          <a:solidFill>
                            <a:srgbClr val="2B2B2B"/>
                          </a:solidFill>
                          <a:latin typeface="Calibri"/>
                        </a:rPr>
                        <a:t>Training data</a:t>
                      </a:r>
                    </a:p>
                  </a:txBody>
                  <a:tcPr marL="54864" marR="54864" marT="27432" marB="27432">
                    <a:solidFill>
                      <a:srgbClr val="FFFFFF"/>
                    </a:solidFill>
                  </a:tcPr>
                </a:tc>
                <a:tc>
                  <a:txBody>
                    <a:bodyPr wrap="square"/>
                    <a:lstStyle/>
                    <a:p>
                      <a:r>
                        <a:rPr sz="1050" b="0">
                          <a:solidFill>
                            <a:srgbClr val="2B2B2B"/>
                          </a:solidFill>
                          <a:latin typeface="Calibri"/>
                        </a:rPr>
                        <a:t>255 M query-article pairs from PubMed search logs (contrastive learning)</a:t>
                      </a:r>
                    </a:p>
                  </a:txBody>
                  <a:tcPr marL="54864" marR="54864" marT="27432" marB="27432">
                    <a:solidFill>
                      <a:srgbClr val="FFFFFF"/>
                    </a:solidFill>
                  </a:tcPr>
                </a:tc>
              </a:tr>
              <a:tr h="251460">
                <a:tc>
                  <a:txBody>
                    <a:bodyPr wrap="square"/>
                    <a:lstStyle/>
                    <a:p>
                      <a:r>
                        <a:rPr sz="1050" b="1">
                          <a:solidFill>
                            <a:srgbClr val="2B2B2B"/>
                          </a:solidFill>
                          <a:latin typeface="Calibri"/>
                        </a:rPr>
                        <a:t>Initialised from</a:t>
                      </a:r>
                    </a:p>
                  </a:txBody>
                  <a:tcPr marL="54864" marR="54864" marT="27432" marB="27432">
                    <a:solidFill>
                      <a:srgbClr val="FBEAEA"/>
                    </a:solidFill>
                  </a:tcPr>
                </a:tc>
                <a:tc>
                  <a:txBody>
                    <a:bodyPr wrap="square"/>
                    <a:lstStyle/>
                    <a:p>
                      <a:r>
                        <a:rPr sz="1050" b="0">
                          <a:solidFill>
                            <a:srgbClr val="2B2B2B"/>
                          </a:solidFill>
                          <a:latin typeface="Calibri"/>
                        </a:rPr>
                        <a:t>PubMedBERT (biomedical vocabulary)</a:t>
                      </a:r>
                    </a:p>
                  </a:txBody>
                  <a:tcPr marL="54864" marR="54864" marT="27432" marB="27432">
                    <a:solidFill>
                      <a:srgbClr val="FBEAEA"/>
                    </a:solidFill>
                  </a:tcPr>
                </a:tc>
              </a:tr>
              <a:tr h="251460">
                <a:tc>
                  <a:txBody>
                    <a:bodyPr wrap="square"/>
                    <a:lstStyle/>
                    <a:p>
                      <a:r>
                        <a:rPr sz="1050" b="1">
                          <a:solidFill>
                            <a:srgbClr val="2B2B2B"/>
                          </a:solidFill>
                          <a:latin typeface="Calibri"/>
                        </a:rPr>
                        <a:t>Architecture</a:t>
                      </a:r>
                    </a:p>
                  </a:txBody>
                  <a:tcPr marL="54864" marR="54864" marT="27432" marB="27432">
                    <a:solidFill>
                      <a:srgbClr val="FFFFFF"/>
                    </a:solidFill>
                  </a:tcPr>
                </a:tc>
                <a:tc>
                  <a:txBody>
                    <a:bodyPr wrap="square"/>
                    <a:lstStyle/>
                    <a:p>
                      <a:r>
                        <a:rPr sz="1050" b="0">
                          <a:solidFill>
                            <a:srgbClr val="2B2B2B"/>
                          </a:solidFill>
                          <a:latin typeface="Calibri"/>
                        </a:rPr>
                        <a:t>BERT-base: 12 layers, 12 heads, hidden 768, FFN 3,072</a:t>
                      </a:r>
                    </a:p>
                  </a:txBody>
                  <a:tcPr marL="54864" marR="54864" marT="27432" marB="27432">
                    <a:solidFill>
                      <a:srgbClr val="FFFFFF"/>
                    </a:solidFill>
                  </a:tcPr>
                </a:tc>
              </a:tr>
              <a:tr h="251460">
                <a:tc>
                  <a:txBody>
                    <a:bodyPr wrap="square"/>
                    <a:lstStyle/>
                    <a:p>
                      <a:r>
                        <a:rPr sz="1050" b="1">
                          <a:solidFill>
                            <a:srgbClr val="2B2B2B"/>
                          </a:solidFill>
                          <a:latin typeface="Calibri"/>
                        </a:rPr>
                        <a:t>Vocabulary / max length</a:t>
                      </a:r>
                    </a:p>
                  </a:txBody>
                  <a:tcPr marL="54864" marR="54864" marT="27432" marB="27432">
                    <a:solidFill>
                      <a:srgbClr val="FBEAEA"/>
                    </a:solidFill>
                  </a:tcPr>
                </a:tc>
                <a:tc>
                  <a:txBody>
                    <a:bodyPr wrap="square"/>
                    <a:lstStyle/>
                    <a:p>
                      <a:r>
                        <a:rPr sz="1050" b="0">
                          <a:solidFill>
                            <a:srgbClr val="2B2B2B"/>
                          </a:solidFill>
                          <a:latin typeface="Calibri"/>
                        </a:rPr>
                        <a:t>30,522 WordPiece tokens / 512 positions</a:t>
                      </a:r>
                    </a:p>
                  </a:txBody>
                  <a:tcPr marL="54864" marR="54864" marT="27432" marB="27432">
                    <a:solidFill>
                      <a:srgbClr val="FBEAEA"/>
                    </a:solidFill>
                  </a:tcPr>
                </a:tc>
              </a:tr>
              <a:tr h="251460">
                <a:tc>
                  <a:txBody>
                    <a:bodyPr wrap="square"/>
                    <a:lstStyle/>
                    <a:p>
                      <a:r>
                        <a:rPr sz="1050" b="1">
                          <a:solidFill>
                            <a:srgbClr val="2B2B2B"/>
                          </a:solidFill>
                          <a:latin typeface="Calibri"/>
                        </a:rPr>
                        <a:t>Parameters</a:t>
                      </a:r>
                    </a:p>
                  </a:txBody>
                  <a:tcPr marL="54864" marR="54864" marT="27432" marB="27432">
                    <a:solidFill>
                      <a:srgbClr val="FFFFFF"/>
                    </a:solidFill>
                  </a:tcPr>
                </a:tc>
                <a:tc>
                  <a:txBody>
                    <a:bodyPr wrap="square"/>
                    <a:lstStyle/>
                    <a:p>
                      <a:r>
                        <a:rPr sz="1050" b="0">
                          <a:solidFill>
                            <a:srgbClr val="2B2B2B"/>
                          </a:solidFill>
                          <a:latin typeface="Calibri"/>
                        </a:rPr>
                        <a:t>≈ 109.5 M per tower (438 MB fp32 each)</a:t>
                      </a:r>
                    </a:p>
                  </a:txBody>
                  <a:tcPr marL="54864" marR="54864" marT="27432" marB="27432">
                    <a:solidFill>
                      <a:srgbClr val="FFFFFF"/>
                    </a:solidFill>
                  </a:tcPr>
                </a:tc>
              </a:tr>
              <a:tr h="251460">
                <a:tc>
                  <a:txBody>
                    <a:bodyPr wrap="square"/>
                    <a:lstStyle/>
                    <a:p>
                      <a:r>
                        <a:rPr sz="1050" b="1">
                          <a:solidFill>
                            <a:srgbClr val="2B2B2B"/>
                          </a:solidFill>
                          <a:latin typeface="Calibri"/>
                        </a:rPr>
                        <a:t>Two towers</a:t>
                      </a:r>
                    </a:p>
                  </a:txBody>
                  <a:tcPr marL="54864" marR="54864" marT="27432" marB="27432">
                    <a:solidFill>
                      <a:srgbClr val="FBEAEA"/>
                    </a:solidFill>
                  </a:tcPr>
                </a:tc>
                <a:tc>
                  <a:txBody>
                    <a:bodyPr wrap="square"/>
                    <a:lstStyle/>
                    <a:p>
                      <a:r>
                        <a:rPr sz="1050" b="0">
                          <a:solidFill>
                            <a:srgbClr val="2B2B2B"/>
                          </a:solidFill>
                          <a:latin typeface="Calibri"/>
                        </a:rPr>
                        <a:t>query encoder for questions; article encoder for records</a:t>
                      </a:r>
                    </a:p>
                  </a:txBody>
                  <a:tcPr marL="54864" marR="54864" marT="27432" marB="27432">
                    <a:solidFill>
                      <a:srgbClr val="FBEAEA"/>
                    </a:solidFill>
                  </a:tcPr>
                </a:tc>
              </a:tr>
              <a:tr h="251460">
                <a:tc>
                  <a:txBody>
                    <a:bodyPr wrap="square"/>
                    <a:lstStyle/>
                    <a:p>
                      <a:r>
                        <a:rPr sz="1050" b="1">
                          <a:solidFill>
                            <a:srgbClr val="2B2B2B"/>
                          </a:solidFill>
                          <a:latin typeface="Calibri"/>
                        </a:rPr>
                        <a:t>Output</a:t>
                      </a:r>
                    </a:p>
                  </a:txBody>
                  <a:tcPr marL="54864" marR="54864" marT="27432" marB="27432">
                    <a:solidFill>
                      <a:srgbClr val="FFFFFF"/>
                    </a:solidFill>
                  </a:tcPr>
                </a:tc>
                <a:tc>
                  <a:txBody>
                    <a:bodyPr wrap="square"/>
                    <a:lstStyle/>
                    <a:p>
                      <a:r>
                        <a:rPr sz="1050" b="0">
                          <a:solidFill>
                            <a:srgbClr val="2B2B2B"/>
                          </a:solidFill>
                          <a:latin typeface="Calibri"/>
                        </a:rPr>
                        <a:t>768-d vector, mean-pooled, L2-normalised</a:t>
                      </a:r>
                    </a:p>
                  </a:txBody>
                  <a:tcPr marL="54864" marR="54864" marT="27432" marB="27432">
                    <a:solidFill>
                      <a:srgbClr val="FFFFFF"/>
                    </a:solidFill>
                  </a:tcPr>
                </a:tc>
              </a:tr>
            </a:tbl>
          </a:graphicData>
        </a:graphic>
      </p:graphicFrame>
      <p:sp>
        <p:nvSpPr>
          <p:cNvPr id="12" name="TextBox 11"/>
          <p:cNvSpPr txBox="1"/>
          <p:nvPr/>
        </p:nvSpPr>
        <p:spPr>
          <a:xfrm>
            <a:off x="5760720" y="1874519"/>
            <a:ext cx="5989320" cy="320040"/>
          </a:xfrm>
          <a:prstGeom prst="rect">
            <a:avLst/>
          </a:prstGeom>
          <a:noFill/>
        </p:spPr>
        <p:txBody>
          <a:bodyPr wrap="square" lIns="0" rIns="0" tIns="0" bIns="0" anchor="t"/>
          <a:lstStyle/>
          <a:p>
            <a:pPr algn="l">
              <a:lnSpc>
                <a:spcPct val="115000"/>
              </a:lnSpc>
              <a:spcAft>
                <a:spcPts val="0"/>
              </a:spcAft>
            </a:pPr>
            <a:r>
              <a:rPr sz="1450" b="1" i="0">
                <a:solidFill>
                  <a:srgbClr val="BC312C"/>
                </a:solidFill>
                <a:latin typeface="Calibri"/>
              </a:rPr>
              <a:t>Feature extraction, step by step</a:t>
            </a:r>
          </a:p>
        </p:txBody>
      </p:sp>
      <p:sp>
        <p:nvSpPr>
          <p:cNvPr id="13" name="Rounded Rectangle 12"/>
          <p:cNvSpPr/>
          <p:nvPr/>
        </p:nvSpPr>
        <p:spPr>
          <a:xfrm>
            <a:off x="5760720" y="2240280"/>
            <a:ext cx="1078992" cy="1005840"/>
          </a:xfrm>
          <a:prstGeom prst="roundRect">
            <a:avLst>
              <a:gd name="adj" fmla="val 12000"/>
            </a:avLst>
          </a:prstGeom>
          <a:solidFill>
            <a:srgbClr val="FFFFFF"/>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150" b="1" i="0">
                <a:solidFill>
                  <a:srgbClr val="2B2B2B"/>
                </a:solidFill>
                <a:latin typeface="Calibri"/>
              </a:rPr>
              <a:t>Text</a:t>
            </a:r>
          </a:p>
          <a:p>
            <a:pPr algn="ctr">
              <a:lnSpc>
                <a:spcPct val="95000"/>
              </a:lnSpc>
            </a:pPr>
            <a:r>
              <a:rPr sz="880" b="0" i="0">
                <a:solidFill>
                  <a:srgbClr val="5A5A5A"/>
                </a:solidFill>
                <a:latin typeface="Calibri"/>
              </a:rPr>
              <a:t>flattened chunk</a:t>
            </a:r>
          </a:p>
          <a:p>
            <a:pPr algn="ctr">
              <a:lnSpc>
                <a:spcPct val="95000"/>
              </a:lnSpc>
            </a:pPr>
            <a:r>
              <a:rPr sz="880" b="0" i="0">
                <a:solidFill>
                  <a:srgbClr val="5A5A5A"/>
                </a:solidFill>
                <a:latin typeface="Calibri"/>
              </a:rPr>
              <a:t>or question</a:t>
            </a:r>
          </a:p>
        </p:txBody>
      </p:sp>
      <p:sp>
        <p:nvSpPr>
          <p:cNvPr id="14" name="Rounded Rectangle 13"/>
          <p:cNvSpPr/>
          <p:nvPr/>
        </p:nvSpPr>
        <p:spPr>
          <a:xfrm>
            <a:off x="6976872" y="2240280"/>
            <a:ext cx="1078992" cy="1005840"/>
          </a:xfrm>
          <a:prstGeom prst="roundRect">
            <a:avLst>
              <a:gd name="adj" fmla="val 12000"/>
            </a:avLst>
          </a:prstGeom>
          <a:solidFill>
            <a:srgbClr val="FFFFFF"/>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150" b="1" i="0">
                <a:solidFill>
                  <a:srgbClr val="2B2B2B"/>
                </a:solidFill>
                <a:latin typeface="Calibri"/>
              </a:rPr>
              <a:t>Tokenize</a:t>
            </a:r>
          </a:p>
          <a:p>
            <a:pPr algn="ctr">
              <a:lnSpc>
                <a:spcPct val="95000"/>
              </a:lnSpc>
            </a:pPr>
            <a:r>
              <a:rPr sz="880" b="0" i="0">
                <a:solidFill>
                  <a:srgbClr val="5A5A5A"/>
                </a:solidFill>
                <a:latin typeface="Calibri"/>
              </a:rPr>
              <a:t>WordPiece,</a:t>
            </a:r>
          </a:p>
          <a:p>
            <a:pPr algn="ctr">
              <a:lnSpc>
                <a:spcPct val="95000"/>
              </a:lnSpc>
            </a:pPr>
            <a:r>
              <a:rPr sz="880" b="0" i="0">
                <a:solidFill>
                  <a:srgbClr val="5A5A5A"/>
                </a:solidFill>
                <a:latin typeface="Calibri"/>
              </a:rPr>
              <a:t>≤ 512 tokens</a:t>
            </a:r>
          </a:p>
        </p:txBody>
      </p:sp>
      <p:cxnSp>
        <p:nvCxnSpPr>
          <p:cNvPr id="15" name="Connector 14"/>
          <p:cNvCxnSpPr/>
          <p:nvPr/>
        </p:nvCxnSpPr>
        <p:spPr>
          <a:xfrm>
            <a:off x="6839712" y="2743200"/>
            <a:ext cx="137160"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193024" y="2240280"/>
            <a:ext cx="1078992" cy="1005840"/>
          </a:xfrm>
          <a:prstGeom prst="roundRect">
            <a:avLst>
              <a:gd name="adj" fmla="val 12000"/>
            </a:avLst>
          </a:prstGeom>
          <a:solidFill>
            <a:srgbClr val="FBEAEA"/>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150" b="1" i="0">
                <a:solidFill>
                  <a:srgbClr val="2B2B2B"/>
                </a:solidFill>
                <a:latin typeface="Calibri"/>
              </a:rPr>
              <a:t>12 layers</a:t>
            </a:r>
          </a:p>
          <a:p>
            <a:pPr algn="ctr">
              <a:lnSpc>
                <a:spcPct val="95000"/>
              </a:lnSpc>
            </a:pPr>
            <a:r>
              <a:rPr sz="880" b="0" i="0">
                <a:solidFill>
                  <a:srgbClr val="5A5A5A"/>
                </a:solidFill>
                <a:latin typeface="Calibri"/>
              </a:rPr>
              <a:t>self-attention adds</a:t>
            </a:r>
          </a:p>
          <a:p>
            <a:pPr algn="ctr">
              <a:lnSpc>
                <a:spcPct val="95000"/>
              </a:lnSpc>
            </a:pPr>
            <a:r>
              <a:rPr sz="880" b="0" i="0">
                <a:solidFill>
                  <a:srgbClr val="5A5A5A"/>
                </a:solidFill>
                <a:latin typeface="Calibri"/>
              </a:rPr>
              <a:t>context to each token</a:t>
            </a:r>
          </a:p>
        </p:txBody>
      </p:sp>
      <p:cxnSp>
        <p:nvCxnSpPr>
          <p:cNvPr id="17" name="Connector 16"/>
          <p:cNvCxnSpPr/>
          <p:nvPr/>
        </p:nvCxnSpPr>
        <p:spPr>
          <a:xfrm>
            <a:off x="8055864" y="2743200"/>
            <a:ext cx="137160"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409176" y="2240280"/>
            <a:ext cx="1078992" cy="1005840"/>
          </a:xfrm>
          <a:prstGeom prst="roundRect">
            <a:avLst>
              <a:gd name="adj" fmla="val 12000"/>
            </a:avLst>
          </a:prstGeom>
          <a:solidFill>
            <a:srgbClr val="FBEAEA"/>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150" b="1" i="0">
                <a:solidFill>
                  <a:srgbClr val="2B2B2B"/>
                </a:solidFill>
                <a:latin typeface="Calibri"/>
              </a:rPr>
              <a:t>Mean pool</a:t>
            </a:r>
          </a:p>
          <a:p>
            <a:pPr algn="ctr">
              <a:lnSpc>
                <a:spcPct val="95000"/>
              </a:lnSpc>
            </a:pPr>
            <a:r>
              <a:rPr sz="880" b="0" i="0">
                <a:solidFill>
                  <a:srgbClr val="5A5A5A"/>
                </a:solidFill>
                <a:latin typeface="Calibri"/>
              </a:rPr>
              <a:t>average over</a:t>
            </a:r>
          </a:p>
          <a:p>
            <a:pPr algn="ctr">
              <a:lnSpc>
                <a:spcPct val="95000"/>
              </a:lnSpc>
            </a:pPr>
            <a:r>
              <a:rPr sz="880" b="0" i="0">
                <a:solidFill>
                  <a:srgbClr val="5A5A5A"/>
                </a:solidFill>
                <a:latin typeface="Calibri"/>
              </a:rPr>
              <a:t>attention mask</a:t>
            </a:r>
          </a:p>
        </p:txBody>
      </p:sp>
      <p:cxnSp>
        <p:nvCxnSpPr>
          <p:cNvPr id="19" name="Connector 18"/>
          <p:cNvCxnSpPr/>
          <p:nvPr/>
        </p:nvCxnSpPr>
        <p:spPr>
          <a:xfrm>
            <a:off x="9272015" y="2743200"/>
            <a:ext cx="137161"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625328" y="2240280"/>
            <a:ext cx="1078992" cy="1005840"/>
          </a:xfrm>
          <a:prstGeom prst="roundRect">
            <a:avLst>
              <a:gd name="adj" fmla="val 12000"/>
            </a:avLst>
          </a:prstGeom>
          <a:solidFill>
            <a:srgbClr val="FFFFFF"/>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150" b="1" i="0">
                <a:solidFill>
                  <a:srgbClr val="2B2B2B"/>
                </a:solidFill>
                <a:latin typeface="Calibri"/>
              </a:rPr>
              <a:t>L2 norm</a:t>
            </a:r>
          </a:p>
          <a:p>
            <a:pPr algn="ctr">
              <a:lnSpc>
                <a:spcPct val="95000"/>
              </a:lnSpc>
            </a:pPr>
            <a:r>
              <a:rPr sz="880" b="0" i="0">
                <a:solidFill>
                  <a:srgbClr val="5A5A5A"/>
                </a:solidFill>
                <a:latin typeface="Calibri"/>
              </a:rPr>
              <a:t>unit length,</a:t>
            </a:r>
          </a:p>
          <a:p>
            <a:pPr algn="ctr">
              <a:lnSpc>
                <a:spcPct val="95000"/>
              </a:lnSpc>
            </a:pPr>
            <a:r>
              <a:rPr sz="880" b="0" i="0">
                <a:solidFill>
                  <a:srgbClr val="5A5A5A"/>
                </a:solidFill>
                <a:latin typeface="Calibri"/>
              </a:rPr>
              <a:t>768 numbers</a:t>
            </a:r>
          </a:p>
        </p:txBody>
      </p:sp>
      <p:cxnSp>
        <p:nvCxnSpPr>
          <p:cNvPr id="21" name="Connector 20"/>
          <p:cNvCxnSpPr/>
          <p:nvPr/>
        </p:nvCxnSpPr>
        <p:spPr>
          <a:xfrm>
            <a:off x="10488168" y="2743200"/>
            <a:ext cx="137160" cy="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760720" y="3310128"/>
            <a:ext cx="5989320" cy="566928"/>
          </a:xfrm>
          <a:prstGeom prst="rect">
            <a:avLst/>
          </a:prstGeom>
          <a:noFill/>
        </p:spPr>
        <p:txBody>
          <a:bodyPr wrap="square" lIns="0" rIns="0" tIns="0" bIns="0" anchor="t"/>
          <a:lstStyle/>
          <a:p>
            <a:pPr algn="l">
              <a:lnSpc>
                <a:spcPct val="115000"/>
              </a:lnSpc>
              <a:spcAft>
                <a:spcPts val="0"/>
              </a:spcAft>
            </a:pPr>
            <a:r>
              <a:rPr sz="1100" b="0" i="1">
                <a:solidFill>
                  <a:srgbClr val="5A5A5A"/>
                </a:solidFill>
                <a:latin typeface="Calibri"/>
              </a:rPr>
              <a:t>Cosine similarity between two unit vectors is their dot product; Qdrant returns the top 50 records of that patient by cosine.</a:t>
            </a:r>
          </a:p>
        </p:txBody>
      </p:sp>
      <p:pic>
        <p:nvPicPr>
          <p:cNvPr id="23" name="Picture 22" descr="medcpt_vs_lexical.png"/>
          <p:cNvPicPr>
            <a:picLocks noChangeAspect="1"/>
          </p:cNvPicPr>
          <p:nvPr/>
        </p:nvPicPr>
        <p:blipFill>
          <a:blip r:embed="rId5"/>
          <a:stretch>
            <a:fillRect/>
          </a:stretch>
        </p:blipFill>
        <p:spPr>
          <a:xfrm>
            <a:off x="6823880" y="3840480"/>
            <a:ext cx="3862998" cy="2468880"/>
          </a:xfrm>
          <a:prstGeom prst="rect">
            <a:avLst/>
          </a:prstGeom>
        </p:spPr>
      </p:pic>
      <p:sp>
        <p:nvSpPr>
          <p:cNvPr id="24" name="TextBox 23"/>
          <p:cNvSpPr txBox="1"/>
          <p:nvPr/>
        </p:nvSpPr>
        <p:spPr>
          <a:xfrm>
            <a:off x="411480" y="5349240"/>
            <a:ext cx="5120640" cy="914400"/>
          </a:xfrm>
          <a:prstGeom prst="rect">
            <a:avLst/>
          </a:prstGeom>
          <a:noFill/>
        </p:spPr>
        <p:txBody>
          <a:bodyPr wrap="square" lIns="0" rIns="0" tIns="0" bIns="0" anchor="t"/>
          <a:lstStyle/>
          <a:p>
            <a:pPr algn="l">
              <a:lnSpc>
                <a:spcPct val="115000"/>
              </a:lnSpc>
              <a:spcAft>
                <a:spcPts val="0"/>
              </a:spcAft>
            </a:pPr>
            <a:r>
              <a:rPr sz="1100" b="1" i="0">
                <a:solidFill>
                  <a:srgbClr val="2B2B2B"/>
                </a:solidFill>
                <a:latin typeface="Calibri"/>
              </a:rPr>
              <a:t>Why not one tower for both? </a:t>
            </a:r>
            <a:r>
              <a:rPr sz="1100" b="0" i="0">
                <a:solidFill>
                  <a:srgbClr val="2B2B2B"/>
                </a:solidFill>
                <a:latin typeface="Calibri"/>
              </a:rPr>
              <a:t>MedCPT was trained with separate towers; using the article tower for questions measurably hurts retrieval. Only the query tower is preloaded; the article tower loads for indexing, saving about 430 MB of RAM.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13</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Other Pretrained Models We Use</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What each is specialised in, what it was trained on, its size, and why it is there</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Rohan</a:t>
            </a:r>
          </a:p>
        </p:txBody>
      </p:sp>
      <p:graphicFrame>
        <p:nvGraphicFramePr>
          <p:cNvPr id="11" name="Table 10"/>
          <p:cNvGraphicFramePr>
            <a:graphicFrameLocks noGrp="1"/>
          </p:cNvGraphicFramePr>
          <p:nvPr/>
        </p:nvGraphicFramePr>
        <p:xfrm>
          <a:off x="411480" y="1874519"/>
          <a:ext cx="7543800" cy="3589015"/>
        </p:xfrm>
        <a:graphic>
          <a:graphicData uri="http://schemas.openxmlformats.org/drawingml/2006/table">
            <a:tbl>
              <a:tblPr firstRow="0" bandRow="0">
                <a:tableStyleId>{5C22544A-7EE6-4342-B048-85BDC9FD1C3A}</a:tableStyleId>
              </a:tblPr>
              <a:tblGrid>
                <a:gridCol w="1508760"/>
                <a:gridCol w="1282446"/>
                <a:gridCol w="1659636"/>
                <a:gridCol w="1433322"/>
                <a:gridCol w="1659636"/>
              </a:tblGrid>
              <a:tr h="251460">
                <a:tc>
                  <a:txBody>
                    <a:bodyPr wrap="square"/>
                    <a:lstStyle/>
                    <a:p>
                      <a:r>
                        <a:rPr sz="1050" b="1">
                          <a:solidFill>
                            <a:srgbClr val="FFFFFF"/>
                          </a:solidFill>
                          <a:latin typeface="Calibri"/>
                        </a:rPr>
                        <a:t>Model</a:t>
                      </a:r>
                    </a:p>
                  </a:txBody>
                  <a:tcPr marL="54864" marR="54864" marT="27432" marB="27432">
                    <a:solidFill>
                      <a:srgbClr val="BC312C"/>
                    </a:solidFill>
                  </a:tcPr>
                </a:tc>
                <a:tc>
                  <a:txBody>
                    <a:bodyPr wrap="square"/>
                    <a:lstStyle/>
                    <a:p>
                      <a:r>
                        <a:rPr sz="1050" b="1">
                          <a:solidFill>
                            <a:srgbClr val="FFFFFF"/>
                          </a:solidFill>
                          <a:latin typeface="Calibri"/>
                        </a:rPr>
                        <a:t>Specialised in</a:t>
                      </a:r>
                    </a:p>
                  </a:txBody>
                  <a:tcPr marL="54864" marR="54864" marT="27432" marB="27432">
                    <a:solidFill>
                      <a:srgbClr val="BC312C"/>
                    </a:solidFill>
                  </a:tcPr>
                </a:tc>
                <a:tc>
                  <a:txBody>
                    <a:bodyPr wrap="square"/>
                    <a:lstStyle/>
                    <a:p>
                      <a:r>
                        <a:rPr sz="1050" b="1">
                          <a:solidFill>
                            <a:srgbClr val="FFFFFF"/>
                          </a:solidFill>
                          <a:latin typeface="Calibri"/>
                        </a:rPr>
                        <a:t>Trained on</a:t>
                      </a:r>
                    </a:p>
                  </a:txBody>
                  <a:tcPr marL="54864" marR="54864" marT="27432" marB="27432">
                    <a:solidFill>
                      <a:srgbClr val="BC312C"/>
                    </a:solidFill>
                  </a:tcPr>
                </a:tc>
                <a:tc>
                  <a:txBody>
                    <a:bodyPr wrap="square"/>
                    <a:lstStyle/>
                    <a:p>
                      <a:r>
                        <a:rPr sz="1050" b="1">
                          <a:solidFill>
                            <a:srgbClr val="FFFFFF"/>
                          </a:solidFill>
                          <a:latin typeface="Calibri"/>
                        </a:rPr>
                        <a:t>Size / params</a:t>
                      </a:r>
                    </a:p>
                  </a:txBody>
                  <a:tcPr marL="54864" marR="54864" marT="27432" marB="27432">
                    <a:solidFill>
                      <a:srgbClr val="BC312C"/>
                    </a:solidFill>
                  </a:tcPr>
                </a:tc>
                <a:tc>
                  <a:txBody>
                    <a:bodyPr wrap="square"/>
                    <a:lstStyle/>
                    <a:p>
                      <a:r>
                        <a:rPr sz="1050" b="1">
                          <a:solidFill>
                            <a:srgbClr val="FFFFFF"/>
                          </a:solidFill>
                          <a:latin typeface="Calibri"/>
                        </a:rPr>
                        <a:t>How we use it</a:t>
                      </a:r>
                    </a:p>
                  </a:txBody>
                  <a:tcPr marL="54864" marR="54864" marT="27432" marB="27432">
                    <a:solidFill>
                      <a:srgbClr val="BC312C"/>
                    </a:solidFill>
                  </a:tcPr>
                </a:tc>
              </a:tr>
              <a:tr h="571499">
                <a:tc>
                  <a:txBody>
                    <a:bodyPr wrap="square"/>
                    <a:lstStyle/>
                    <a:p>
                      <a:r>
                        <a:rPr sz="1050" b="1">
                          <a:solidFill>
                            <a:srgbClr val="2B2B2B"/>
                          </a:solidFill>
                          <a:latin typeface="Calibri"/>
                        </a:rPr>
                        <a:t>BiomedCLIP (Microsoft, NEJM AI 2025)</a:t>
                      </a:r>
                    </a:p>
                  </a:txBody>
                  <a:tcPr marL="54864" marR="54864" marT="27432" marB="27432">
                    <a:solidFill>
                      <a:srgbClr val="FFFFFF"/>
                    </a:solidFill>
                  </a:tcPr>
                </a:tc>
                <a:tc>
                  <a:txBody>
                    <a:bodyPr wrap="square"/>
                    <a:lstStyle/>
                    <a:p>
                      <a:r>
                        <a:rPr sz="1050" b="0">
                          <a:solidFill>
                            <a:srgbClr val="2B2B2B"/>
                          </a:solidFill>
                          <a:latin typeface="Calibri"/>
                        </a:rPr>
                        <a:t>Matching medical images with text</a:t>
                      </a:r>
                    </a:p>
                  </a:txBody>
                  <a:tcPr marL="54864" marR="54864" marT="27432" marB="27432">
                    <a:solidFill>
                      <a:srgbClr val="FFFFFF"/>
                    </a:solidFill>
                  </a:tcPr>
                </a:tc>
                <a:tc>
                  <a:txBody>
                    <a:bodyPr wrap="square"/>
                    <a:lstStyle/>
                    <a:p>
                      <a:r>
                        <a:rPr sz="1050" b="0">
                          <a:solidFill>
                            <a:srgbClr val="2B2B2B"/>
                          </a:solidFill>
                          <a:latin typeface="Calibri"/>
                        </a:rPr>
                        <a:t>PMC-15M: 15 M figure-caption pairs from PubMed Central</a:t>
                      </a:r>
                    </a:p>
                  </a:txBody>
                  <a:tcPr marL="54864" marR="54864" marT="27432" marB="27432">
                    <a:solidFill>
                      <a:srgbClr val="FFFFFF"/>
                    </a:solidFill>
                  </a:tcPr>
                </a:tc>
                <a:tc>
                  <a:txBody>
                    <a:bodyPr wrap="square"/>
                    <a:lstStyle/>
                    <a:p>
                      <a:r>
                        <a:rPr sz="1050" b="0">
                          <a:solidFill>
                            <a:srgbClr val="2B2B2B"/>
                          </a:solidFill>
                          <a:latin typeface="Calibri"/>
                        </a:rPr>
                        <a:t>ViT-B/16 + PubMedBERT, 512-d; 784 MB (≈ 196 M)</a:t>
                      </a:r>
                    </a:p>
                  </a:txBody>
                  <a:tcPr marL="54864" marR="54864" marT="27432" marB="27432">
                    <a:solidFill>
                      <a:srgbClr val="FFFFFF"/>
                    </a:solidFill>
                  </a:tcPr>
                </a:tc>
                <a:tc>
                  <a:txBody>
                    <a:bodyPr wrap="square"/>
                    <a:lstStyle/>
                    <a:p>
                      <a:r>
                        <a:rPr sz="1050" b="0">
                          <a:solidFill>
                            <a:srgbClr val="2B2B2B"/>
                          </a:solidFill>
                          <a:latin typeface="Calibri"/>
                        </a:rPr>
                        <a:t>Embeds scans; prompt "this is a medical image of"; loads offline in 8.4 s</a:t>
                      </a:r>
                    </a:p>
                  </a:txBody>
                  <a:tcPr marL="54864" marR="54864" marT="27432" marB="27432">
                    <a:solidFill>
                      <a:srgbClr val="FFFFFF"/>
                    </a:solidFill>
                  </a:tcPr>
                </a:tc>
              </a:tr>
              <a:tr h="731519">
                <a:tc>
                  <a:txBody>
                    <a:bodyPr wrap="square"/>
                    <a:lstStyle/>
                    <a:p>
                      <a:r>
                        <a:rPr sz="1050" b="1">
                          <a:solidFill>
                            <a:srgbClr val="2B2B2B"/>
                          </a:solidFill>
                          <a:latin typeface="Calibri"/>
                        </a:rPr>
                        <a:t>MedGemma 4B (Google, 2025)</a:t>
                      </a:r>
                    </a:p>
                  </a:txBody>
                  <a:tcPr marL="54864" marR="54864" marT="27432" marB="27432">
                    <a:solidFill>
                      <a:srgbClr val="FBEAEA"/>
                    </a:solidFill>
                  </a:tcPr>
                </a:tc>
                <a:tc>
                  <a:txBody>
                    <a:bodyPr wrap="square"/>
                    <a:lstStyle/>
                    <a:p>
                      <a:r>
                        <a:rPr sz="1050" b="0">
                          <a:solidFill>
                            <a:srgbClr val="2B2B2B"/>
                          </a:solidFill>
                          <a:latin typeface="Calibri"/>
                        </a:rPr>
                        <a:t>Reading medical images and documents</a:t>
                      </a:r>
                    </a:p>
                  </a:txBody>
                  <a:tcPr marL="54864" marR="54864" marT="27432" marB="27432">
                    <a:solidFill>
                      <a:srgbClr val="FBEAEA"/>
                    </a:solidFill>
                  </a:tcPr>
                </a:tc>
                <a:tc>
                  <a:txBody>
                    <a:bodyPr wrap="square"/>
                    <a:lstStyle/>
                    <a:p>
                      <a:r>
                        <a:rPr sz="1050" b="0">
                          <a:solidFill>
                            <a:srgbClr val="2B2B2B"/>
                          </a:solidFill>
                          <a:latin typeface="Calibri"/>
                        </a:rPr>
                        <a:t>Gemma 3 base; vision encoder tuned on de-identified medical images</a:t>
                      </a:r>
                    </a:p>
                  </a:txBody>
                  <a:tcPr marL="54864" marR="54864" marT="27432" marB="27432">
                    <a:solidFill>
                      <a:srgbClr val="FBEAEA"/>
                    </a:solidFill>
                  </a:tcPr>
                </a:tc>
                <a:tc>
                  <a:txBody>
                    <a:bodyPr wrap="square"/>
                    <a:lstStyle/>
                    <a:p>
                      <a:r>
                        <a:rPr sz="1050" b="0">
                          <a:solidFill>
                            <a:srgbClr val="2B2B2B"/>
                          </a:solidFill>
                          <a:latin typeface="Calibri"/>
                        </a:rPr>
                        <a:t>4 B; Q4_K_M GGUF 2.49 GB + 851 MB projector</a:t>
                      </a:r>
                    </a:p>
                  </a:txBody>
                  <a:tcPr marL="54864" marR="54864" marT="27432" marB="27432">
                    <a:solidFill>
                      <a:srgbClr val="FBEAEA"/>
                    </a:solidFill>
                  </a:tcPr>
                </a:tc>
                <a:tc>
                  <a:txBody>
                    <a:bodyPr wrap="square"/>
                    <a:lstStyle/>
                    <a:p>
                      <a:r>
                        <a:rPr sz="1050" b="0">
                          <a:solidFill>
                            <a:srgbClr val="2B2B2B"/>
                          </a:solidFill>
                          <a:latin typeface="Calibri"/>
                        </a:rPr>
                        <a:t>Opt-in deep read of unreadable scans; 54.6 s per image on CPU; result needs doctor approval</a:t>
                      </a:r>
                    </a:p>
                  </a:txBody>
                  <a:tcPr marL="54864" marR="54864" marT="27432" marB="27432">
                    <a:solidFill>
                      <a:srgbClr val="FBEAEA"/>
                    </a:solidFill>
                  </a:tcPr>
                </a:tc>
              </a:tr>
              <a:tr h="571499">
                <a:tc>
                  <a:txBody>
                    <a:bodyPr wrap="square"/>
                    <a:lstStyle/>
                    <a:p>
                      <a:r>
                        <a:rPr sz="1050" b="1">
                          <a:solidFill>
                            <a:srgbClr val="2B2B2B"/>
                          </a:solidFill>
                          <a:latin typeface="Calibri"/>
                        </a:rPr>
                        <a:t>RapidOCR (PP-OCRv4, ONNX)</a:t>
                      </a:r>
                    </a:p>
                  </a:txBody>
                  <a:tcPr marL="54864" marR="54864" marT="27432" marB="27432">
                    <a:solidFill>
                      <a:srgbClr val="FFFFFF"/>
                    </a:solidFill>
                  </a:tcPr>
                </a:tc>
                <a:tc>
                  <a:txBody>
                    <a:bodyPr wrap="square"/>
                    <a:lstStyle/>
                    <a:p>
                      <a:r>
                        <a:rPr sz="1050" b="0">
                          <a:solidFill>
                            <a:srgbClr val="2B2B2B"/>
                          </a:solidFill>
                          <a:latin typeface="Calibri"/>
                        </a:rPr>
                        <a:t>Printed text detection + recognition</a:t>
                      </a:r>
                    </a:p>
                  </a:txBody>
                  <a:tcPr marL="54864" marR="54864" marT="27432" marB="27432">
                    <a:solidFill>
                      <a:srgbClr val="FFFFFF"/>
                    </a:solidFill>
                  </a:tcPr>
                </a:tc>
                <a:tc>
                  <a:txBody>
                    <a:bodyPr wrap="square"/>
                    <a:lstStyle/>
                    <a:p>
                      <a:r>
                        <a:rPr sz="1050" b="0">
                          <a:solidFill>
                            <a:srgbClr val="2B2B2B"/>
                          </a:solidFill>
                          <a:latin typeface="Calibri"/>
                        </a:rPr>
                        <a:t>PaddleOCR training sets</a:t>
                      </a:r>
                    </a:p>
                  </a:txBody>
                  <a:tcPr marL="54864" marR="54864" marT="27432" marB="27432">
                    <a:solidFill>
                      <a:srgbClr val="FFFFFF"/>
                    </a:solidFill>
                  </a:tcPr>
                </a:tc>
                <a:tc>
                  <a:txBody>
                    <a:bodyPr wrap="square"/>
                    <a:lstStyle/>
                    <a:p>
                      <a:r>
                        <a:rPr sz="1050" b="0">
                          <a:solidFill>
                            <a:srgbClr val="2B2B2B"/>
                          </a:solidFill>
                          <a:latin typeface="Calibri"/>
                        </a:rPr>
                        <a:t>4.7 MB detector, 10.9 MB recogniser</a:t>
                      </a:r>
                    </a:p>
                  </a:txBody>
                  <a:tcPr marL="54864" marR="54864" marT="27432" marB="27432">
                    <a:solidFill>
                      <a:srgbClr val="FFFFFF"/>
                    </a:solidFill>
                  </a:tcPr>
                </a:tc>
                <a:tc>
                  <a:txBody>
                    <a:bodyPr wrap="square"/>
                    <a:lstStyle/>
                    <a:p>
                      <a:r>
                        <a:rPr sz="1050" b="0">
                          <a:solidFill>
                            <a:srgbClr val="2B2B2B"/>
                          </a:solidFill>
                          <a:latin typeface="Calibri"/>
                        </a:rPr>
                        <a:t>Reads lab printouts in ~31 ms; below 0.75 confidence the document is held back</a:t>
                      </a:r>
                    </a:p>
                  </a:txBody>
                  <a:tcPr marL="54864" marR="54864" marT="27432" marB="27432">
                    <a:solidFill>
                      <a:srgbClr val="FFFFFF"/>
                    </a:solidFill>
                  </a:tcPr>
                </a:tc>
              </a:tr>
              <a:tr h="731519">
                <a:tc>
                  <a:txBody>
                    <a:bodyPr wrap="square"/>
                    <a:lstStyle/>
                    <a:p>
                      <a:r>
                        <a:rPr sz="1050" b="1">
                          <a:solidFill>
                            <a:srgbClr val="2B2B2B"/>
                          </a:solidFill>
                          <a:latin typeface="Calibri"/>
                        </a:rPr>
                        <a:t>BGE-M3 (BAAI, 2024)</a:t>
                      </a:r>
                    </a:p>
                  </a:txBody>
                  <a:tcPr marL="54864" marR="54864" marT="27432" marB="27432">
                    <a:solidFill>
                      <a:srgbClr val="FBEAEA"/>
                    </a:solidFill>
                  </a:tcPr>
                </a:tc>
                <a:tc>
                  <a:txBody>
                    <a:bodyPr wrap="square"/>
                    <a:lstStyle/>
                    <a:p>
                      <a:r>
                        <a:rPr sz="1050" b="0">
                          <a:solidFill>
                            <a:srgbClr val="2B2B2B"/>
                          </a:solidFill>
                          <a:latin typeface="Calibri"/>
                        </a:rPr>
                        <a:t>Multilingual retrieval incl. Hindi</a:t>
                      </a:r>
                    </a:p>
                  </a:txBody>
                  <a:tcPr marL="54864" marR="54864" marT="27432" marB="27432">
                    <a:solidFill>
                      <a:srgbClr val="FBEAEA"/>
                    </a:solidFill>
                  </a:tcPr>
                </a:tc>
                <a:tc>
                  <a:txBody>
                    <a:bodyPr wrap="square"/>
                    <a:lstStyle/>
                    <a:p>
                      <a:r>
                        <a:rPr sz="1050" b="0">
                          <a:solidFill>
                            <a:srgbClr val="2B2B2B"/>
                          </a:solidFill>
                          <a:latin typeface="Calibri"/>
                        </a:rPr>
                        <a:t>Large multilingual corpora, 100+ languages</a:t>
                      </a:r>
                    </a:p>
                  </a:txBody>
                  <a:tcPr marL="54864" marR="54864" marT="27432" marB="27432">
                    <a:solidFill>
                      <a:srgbClr val="FBEAEA"/>
                    </a:solidFill>
                  </a:tcPr>
                </a:tc>
                <a:tc>
                  <a:txBody>
                    <a:bodyPr wrap="square"/>
                    <a:lstStyle/>
                    <a:p>
                      <a:r>
                        <a:rPr sz="1050" b="0">
                          <a:solidFill>
                            <a:srgbClr val="2B2B2B"/>
                          </a:solidFill>
                          <a:latin typeface="Calibri"/>
                        </a:rPr>
                        <a:t>XLM-R large, ≈ 568 M, 1024-d</a:t>
                      </a:r>
                    </a:p>
                  </a:txBody>
                  <a:tcPr marL="54864" marR="54864" marT="27432" marB="27432">
                    <a:solidFill>
                      <a:srgbClr val="FBEAEA"/>
                    </a:solidFill>
                  </a:tcPr>
                </a:tc>
                <a:tc>
                  <a:txBody>
                    <a:bodyPr wrap="square"/>
                    <a:lstStyle/>
                    <a:p>
                      <a:r>
                        <a:rPr sz="1050" b="0">
                          <a:solidFill>
                            <a:srgbClr val="2B2B2B"/>
                          </a:solidFill>
                          <a:latin typeface="Calibri"/>
                        </a:rPr>
                        <a:t>Configured for code-switched notes; not yet measured (about 2 GB RAM)</a:t>
                      </a:r>
                    </a:p>
                  </a:txBody>
                  <a:tcPr marL="54864" marR="54864" marT="27432" marB="27432">
                    <a:solidFill>
                      <a:srgbClr val="FBEAEA"/>
                    </a:solidFill>
                  </a:tcPr>
                </a:tc>
              </a:tr>
              <a:tr h="731519">
                <a:tc>
                  <a:txBody>
                    <a:bodyPr wrap="square"/>
                    <a:lstStyle/>
                    <a:p>
                      <a:r>
                        <a:rPr sz="1050" b="1">
                          <a:solidFill>
                            <a:srgbClr val="2B2B2B"/>
                          </a:solidFill>
                          <a:latin typeface="Calibri"/>
                        </a:rPr>
                        <a:t>LLM chain</a:t>
                      </a:r>
                    </a:p>
                  </a:txBody>
                  <a:tcPr marL="54864" marR="54864" marT="27432" marB="27432">
                    <a:solidFill>
                      <a:srgbClr val="FFFFFF"/>
                    </a:solidFill>
                  </a:tcPr>
                </a:tc>
                <a:tc>
                  <a:txBody>
                    <a:bodyPr wrap="square"/>
                    <a:lstStyle/>
                    <a:p>
                      <a:r>
                        <a:rPr sz="1050" b="0">
                          <a:solidFill>
                            <a:srgbClr val="2B2B2B"/>
                          </a:solidFill>
                          <a:latin typeface="Calibri"/>
                        </a:rPr>
                        <a:t>Writing the answer sentence</a:t>
                      </a:r>
                    </a:p>
                  </a:txBody>
                  <a:tcPr marL="54864" marR="54864" marT="27432" marB="27432">
                    <a:solidFill>
                      <a:srgbClr val="FFFFFF"/>
                    </a:solidFill>
                  </a:tcPr>
                </a:tc>
                <a:tc>
                  <a:txBody>
                    <a:bodyPr wrap="square"/>
                    <a:lstStyle/>
                    <a:p>
                      <a:r>
                        <a:rPr sz="1050" b="0">
                          <a:solidFill>
                            <a:srgbClr val="2B2B2B"/>
                          </a:solidFill>
                          <a:latin typeface="Calibri"/>
                        </a:rPr>
                        <a:t>General web text (hosted models)</a:t>
                      </a:r>
                    </a:p>
                  </a:txBody>
                  <a:tcPr marL="54864" marR="54864" marT="27432" marB="27432">
                    <a:solidFill>
                      <a:srgbClr val="FFFFFF"/>
                    </a:solidFill>
                  </a:tcPr>
                </a:tc>
                <a:tc>
                  <a:txBody>
                    <a:bodyPr wrap="square"/>
                    <a:lstStyle/>
                    <a:p>
                      <a:r>
                        <a:rPr sz="1050" b="0">
                          <a:solidFill>
                            <a:srgbClr val="2B2B2B"/>
                          </a:solidFill>
                          <a:latin typeface="Calibri"/>
                        </a:rPr>
                        <a:t>Qwen3.8 27B (Groq), LFM-2.5 2.6B (OpenRouter), OpenCode Zen</a:t>
                      </a:r>
                    </a:p>
                  </a:txBody>
                  <a:tcPr marL="54864" marR="54864" marT="27432" marB="27432">
                    <a:solidFill>
                      <a:srgbClr val="FFFFFF"/>
                    </a:solidFill>
                  </a:tcPr>
                </a:tc>
                <a:tc>
                  <a:txBody>
                    <a:bodyPr wrap="square"/>
                    <a:lstStyle/>
                    <a:p>
                      <a:r>
                        <a:rPr sz="1050" b="0">
                          <a:solidFill>
                            <a:srgbClr val="2B2B2B"/>
                          </a:solidFill>
                          <a:latin typeface="Calibri"/>
                        </a:rPr>
                        <a:t>Temperature 0; sees only de-identified extracts; facts come from records</a:t>
                      </a:r>
                    </a:p>
                  </a:txBody>
                  <a:tcPr marL="54864" marR="54864" marT="27432" marB="27432">
                    <a:solidFill>
                      <a:srgbClr val="FFFFFF"/>
                    </a:solidFill>
                  </a:tcPr>
                </a:tc>
              </a:tr>
            </a:tbl>
          </a:graphicData>
        </a:graphic>
      </p:graphicFrame>
      <p:pic>
        <p:nvPicPr>
          <p:cNvPr id="12" name="Picture 11" descr="biomedclip.png"/>
          <p:cNvPicPr>
            <a:picLocks noChangeAspect="1"/>
          </p:cNvPicPr>
          <p:nvPr/>
        </p:nvPicPr>
        <p:blipFill>
          <a:blip r:embed="rId5"/>
          <a:stretch>
            <a:fillRect/>
          </a:stretch>
        </p:blipFill>
        <p:spPr>
          <a:xfrm>
            <a:off x="8138160" y="1907937"/>
            <a:ext cx="3611879" cy="2173444"/>
          </a:xfrm>
          <a:prstGeom prst="rect">
            <a:avLst/>
          </a:prstGeom>
        </p:spPr>
      </p:pic>
      <p:sp>
        <p:nvSpPr>
          <p:cNvPr id="13" name="TextBox 12"/>
          <p:cNvSpPr txBox="1"/>
          <p:nvPr/>
        </p:nvSpPr>
        <p:spPr>
          <a:xfrm>
            <a:off x="8138160" y="4114800"/>
            <a:ext cx="3611880" cy="457200"/>
          </a:xfrm>
          <a:prstGeom prst="rect">
            <a:avLst/>
          </a:prstGeom>
          <a:noFill/>
        </p:spPr>
        <p:txBody>
          <a:bodyPr wrap="square" lIns="0" rIns="0" tIns="0" bIns="0" anchor="t"/>
          <a:lstStyle/>
          <a:p>
            <a:pPr algn="l">
              <a:lnSpc>
                <a:spcPct val="115000"/>
              </a:lnSpc>
              <a:spcAft>
                <a:spcPts val="0"/>
              </a:spcAft>
            </a:pPr>
            <a:r>
              <a:rPr sz="1050" b="0" i="1">
                <a:solidFill>
                  <a:srgbClr val="5A5A5A"/>
                </a:solidFill>
                <a:latin typeface="Calibri"/>
              </a:rPr>
              <a:t>BiomedCLIP check: 4 of 4 images closest to their own caption, median margin +0.255.</a:t>
            </a:r>
          </a:p>
        </p:txBody>
      </p:sp>
      <p:sp>
        <p:nvSpPr>
          <p:cNvPr id="14" name="TextBox 13"/>
          <p:cNvSpPr txBox="1"/>
          <p:nvPr/>
        </p:nvSpPr>
        <p:spPr>
          <a:xfrm>
            <a:off x="8138160" y="4617720"/>
            <a:ext cx="3611880" cy="320040"/>
          </a:xfrm>
          <a:prstGeom prst="rect">
            <a:avLst/>
          </a:prstGeom>
          <a:noFill/>
        </p:spPr>
        <p:txBody>
          <a:bodyPr wrap="square" lIns="0" rIns="0" tIns="0" bIns="0" anchor="t"/>
          <a:lstStyle/>
          <a:p>
            <a:pPr algn="l">
              <a:lnSpc>
                <a:spcPct val="115000"/>
              </a:lnSpc>
              <a:spcAft>
                <a:spcPts val="0"/>
              </a:spcAft>
            </a:pPr>
            <a:r>
              <a:rPr sz="1350" b="1" i="0">
                <a:solidFill>
                  <a:srgbClr val="BC312C"/>
                </a:solidFill>
                <a:latin typeface="Calibri"/>
              </a:rPr>
              <a:t>Designed degradation</a:t>
            </a:r>
          </a:p>
        </p:txBody>
      </p:sp>
      <p:sp>
        <p:nvSpPr>
          <p:cNvPr id="15" name="TextBox 14"/>
          <p:cNvSpPr txBox="1"/>
          <p:nvPr/>
        </p:nvSpPr>
        <p:spPr>
          <a:xfrm>
            <a:off x="8138160" y="4937760"/>
            <a:ext cx="3611880" cy="1325880"/>
          </a:xfrm>
          <a:prstGeom prst="rect">
            <a:avLst/>
          </a:prstGeom>
          <a:noFill/>
        </p:spPr>
        <p:txBody>
          <a:bodyPr wrap="square" lIns="0" rIns="0" tIns="0" bIns="0" anchor="t"/>
          <a:lstStyle/>
          <a:p>
            <a:pPr algn="l" marL="126682" indent="-126682">
              <a:lnSpc>
                <a:spcPct val="115000"/>
              </a:lnSpc>
              <a:spcAft>
                <a:spcPts val="100"/>
              </a:spcAft>
              <a:buChar char="•"/>
            </a:pPr>
            <a:r>
              <a:rPr sz="1050" b="0" i="0">
                <a:solidFill>
                  <a:srgbClr val="2B2B2B"/>
                </a:solidFill>
                <a:latin typeface="Calibri"/>
              </a:rPr>
              <a:t>no torch or encoder → word-overlap fallback, reported in /semantic/status</a:t>
            </a:r>
          </a:p>
          <a:p>
            <a:pPr algn="l" marL="126682" indent="-126682">
              <a:lnSpc>
                <a:spcPct val="115000"/>
              </a:lnSpc>
              <a:spcAft>
                <a:spcPts val="100"/>
              </a:spcAft>
              <a:buChar char="•"/>
            </a:pPr>
            <a:r>
              <a:rPr sz="1050" b="0" i="0">
                <a:solidFill>
                  <a:srgbClr val="2B2B2B"/>
                </a:solidFill>
                <a:latin typeface="Calibri"/>
              </a:rPr>
              <a:t>Qdrant down → same fallback, response marked degraded</a:t>
            </a:r>
          </a:p>
          <a:p>
            <a:pPr algn="l" marL="126682" indent="-126682">
              <a:lnSpc>
                <a:spcPct val="115000"/>
              </a:lnSpc>
              <a:spcAft>
                <a:spcPts val="100"/>
              </a:spcAft>
              <a:buChar char="•"/>
            </a:pPr>
            <a:r>
              <a:rPr sz="1050" b="0" i="0">
                <a:solidFill>
                  <a:srgbClr val="2B2B2B"/>
                </a:solidFill>
                <a:latin typeface="Calibri"/>
              </a:rPr>
              <a:t>BiomedCLIP missing → image routes return 503 with a reason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14</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Retrieval: How a Query Gets Its Answer</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Similarity finds the right test; the validity weight decides which version comes first</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Rohan</a:t>
            </a:r>
          </a:p>
        </p:txBody>
      </p:sp>
      <p:sp>
        <p:nvSpPr>
          <p:cNvPr id="11" name="Rounded Rectangle 10"/>
          <p:cNvSpPr/>
          <p:nvPr/>
        </p:nvSpPr>
        <p:spPr>
          <a:xfrm>
            <a:off x="411480" y="1874519"/>
            <a:ext cx="11365992" cy="621792"/>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900" b="1" i="0">
                <a:solidFill>
                  <a:srgbClr val="2B2B2B"/>
                </a:solidFill>
                <a:latin typeface="Cambria"/>
              </a:rPr>
              <a:t>score(q, e) = 0.70 · cos(q, e) + 0.30 · w(e, intent)</a:t>
            </a:r>
          </a:p>
        </p:txBody>
      </p:sp>
      <p:graphicFrame>
        <p:nvGraphicFramePr>
          <p:cNvPr id="12" name="Table 11"/>
          <p:cNvGraphicFramePr>
            <a:graphicFrameLocks noGrp="1"/>
          </p:cNvGraphicFramePr>
          <p:nvPr/>
        </p:nvGraphicFramePr>
        <p:xfrm>
          <a:off x="411480" y="2697480"/>
          <a:ext cx="3931919" cy="1333495"/>
        </p:xfrm>
        <a:graphic>
          <a:graphicData uri="http://schemas.openxmlformats.org/drawingml/2006/table">
            <a:tbl>
              <a:tblPr firstRow="0" bandRow="0">
                <a:tableStyleId>{5C22544A-7EE6-4342-B048-85BDC9FD1C3A}</a:tableStyleId>
              </a:tblPr>
              <a:tblGrid>
                <a:gridCol w="3066897"/>
                <a:gridCol w="865022"/>
              </a:tblGrid>
              <a:tr h="266699">
                <a:tc>
                  <a:txBody>
                    <a:bodyPr wrap="square"/>
                    <a:lstStyle/>
                    <a:p>
                      <a:r>
                        <a:rPr sz="1150" b="1">
                          <a:solidFill>
                            <a:srgbClr val="FFFFFF"/>
                          </a:solidFill>
                          <a:latin typeface="Calibri"/>
                        </a:rPr>
                        <a:t>Situation of record e</a:t>
                      </a:r>
                    </a:p>
                  </a:txBody>
                  <a:tcPr marL="54864" marR="54864" marT="27432" marB="27432">
                    <a:solidFill>
                      <a:srgbClr val="BC312C"/>
                    </a:solidFill>
                  </a:tcPr>
                </a:tc>
                <a:tc>
                  <a:txBody>
                    <a:bodyPr wrap="square"/>
                    <a:lstStyle/>
                    <a:p>
                      <a:r>
                        <a:rPr sz="1150" b="1">
                          <a:solidFill>
                            <a:srgbClr val="FFFFFF"/>
                          </a:solidFill>
                          <a:latin typeface="Calibri"/>
                        </a:rPr>
                        <a:t>w</a:t>
                      </a:r>
                    </a:p>
                  </a:txBody>
                  <a:tcPr marL="54864" marR="54864" marT="27432" marB="27432">
                    <a:solidFill>
                      <a:srgbClr val="BC312C"/>
                    </a:solidFill>
                  </a:tcPr>
                </a:tc>
              </a:tr>
              <a:tr h="266699">
                <a:tc>
                  <a:txBody>
                    <a:bodyPr wrap="square"/>
                    <a:lstStyle/>
                    <a:p>
                      <a:r>
                        <a:rPr sz="1150" b="1">
                          <a:solidFill>
                            <a:srgbClr val="2B2B2B"/>
                          </a:solidFill>
                          <a:latin typeface="Calibri"/>
                        </a:rPr>
                        <a:t>in force at the date the question names</a:t>
                      </a:r>
                    </a:p>
                  </a:txBody>
                  <a:tcPr marL="54864" marR="54864" marT="27432" marB="27432">
                    <a:solidFill>
                      <a:srgbClr val="FFFFFF"/>
                    </a:solidFill>
                  </a:tcPr>
                </a:tc>
                <a:tc>
                  <a:txBody>
                    <a:bodyPr wrap="square"/>
                    <a:lstStyle/>
                    <a:p>
                      <a:r>
                        <a:rPr sz="1150" b="0">
                          <a:solidFill>
                            <a:srgbClr val="2B2B2B"/>
                          </a:solidFill>
                          <a:latin typeface="Calibri"/>
                        </a:rPr>
                        <a:t>1.00</a:t>
                      </a:r>
                    </a:p>
                  </a:txBody>
                  <a:tcPr marL="54864" marR="54864" marT="27432" marB="27432">
                    <a:solidFill>
                      <a:srgbClr val="FFFFFF"/>
                    </a:solidFill>
                  </a:tcPr>
                </a:tc>
              </a:tr>
              <a:tr h="266699">
                <a:tc>
                  <a:txBody>
                    <a:bodyPr wrap="square"/>
                    <a:lstStyle/>
                    <a:p>
                      <a:r>
                        <a:rPr sz="1150" b="1">
                          <a:solidFill>
                            <a:srgbClr val="2B2B2B"/>
                          </a:solidFill>
                          <a:latin typeface="Calibri"/>
                        </a:rPr>
                        <a:t>current, and the question has no date</a:t>
                      </a:r>
                    </a:p>
                  </a:txBody>
                  <a:tcPr marL="54864" marR="54864" marT="27432" marB="27432">
                    <a:solidFill>
                      <a:srgbClr val="FBEAEA"/>
                    </a:solidFill>
                  </a:tcPr>
                </a:tc>
                <a:tc>
                  <a:txBody>
                    <a:bodyPr wrap="square"/>
                    <a:lstStyle/>
                    <a:p>
                      <a:r>
                        <a:rPr sz="1150" b="0">
                          <a:solidFill>
                            <a:srgbClr val="2B2B2B"/>
                          </a:solidFill>
                          <a:latin typeface="Calibri"/>
                        </a:rPr>
                        <a:t>0.85</a:t>
                      </a:r>
                    </a:p>
                  </a:txBody>
                  <a:tcPr marL="54864" marR="54864" marT="27432" marB="27432">
                    <a:solidFill>
                      <a:srgbClr val="FBEAEA"/>
                    </a:solidFill>
                  </a:tcPr>
                </a:tc>
              </a:tr>
              <a:tr h="266699">
                <a:tc>
                  <a:txBody>
                    <a:bodyPr wrap="square"/>
                    <a:lstStyle/>
                    <a:p>
                      <a:r>
                        <a:rPr sz="1150" b="1">
                          <a:solidFill>
                            <a:srgbClr val="2B2B2B"/>
                          </a:solidFill>
                          <a:latin typeface="Calibri"/>
                        </a:rPr>
                        <a:t>superseded (pushed down, kept visible)</a:t>
                      </a:r>
                    </a:p>
                  </a:txBody>
                  <a:tcPr marL="54864" marR="54864" marT="27432" marB="27432">
                    <a:solidFill>
                      <a:srgbClr val="FFFFFF"/>
                    </a:solidFill>
                  </a:tcPr>
                </a:tc>
                <a:tc>
                  <a:txBody>
                    <a:bodyPr wrap="square"/>
                    <a:lstStyle/>
                    <a:p>
                      <a:r>
                        <a:rPr sz="1150" b="0">
                          <a:solidFill>
                            <a:srgbClr val="2B2B2B"/>
                          </a:solidFill>
                          <a:latin typeface="Calibri"/>
                        </a:rPr>
                        <a:t>0.15</a:t>
                      </a:r>
                    </a:p>
                  </a:txBody>
                  <a:tcPr marL="54864" marR="54864" marT="27432" marB="27432">
                    <a:solidFill>
                      <a:srgbClr val="FFFFFF"/>
                    </a:solidFill>
                  </a:tcPr>
                </a:tc>
              </a:tr>
              <a:tr h="266699">
                <a:tc>
                  <a:txBody>
                    <a:bodyPr wrap="square"/>
                    <a:lstStyle/>
                    <a:p>
                      <a:r>
                        <a:rPr sz="1150" b="1">
                          <a:solidFill>
                            <a:srgbClr val="2B2B2B"/>
                          </a:solidFill>
                          <a:latin typeface="Calibri"/>
                        </a:rPr>
                        <a:t>dated after the asked date</a:t>
                      </a:r>
                    </a:p>
                  </a:txBody>
                  <a:tcPr marL="54864" marR="54864" marT="27432" marB="27432">
                    <a:solidFill>
                      <a:srgbClr val="FBEAEA"/>
                    </a:solidFill>
                  </a:tcPr>
                </a:tc>
                <a:tc>
                  <a:txBody>
                    <a:bodyPr wrap="square"/>
                    <a:lstStyle/>
                    <a:p>
                      <a:r>
                        <a:rPr sz="1150" b="0">
                          <a:solidFill>
                            <a:srgbClr val="2B2B2B"/>
                          </a:solidFill>
                          <a:latin typeface="Calibri"/>
                        </a:rPr>
                        <a:t>vetoed</a:t>
                      </a:r>
                    </a:p>
                  </a:txBody>
                  <a:tcPr marL="54864" marR="54864" marT="27432" marB="27432">
                    <a:solidFill>
                      <a:srgbClr val="FBEAEA"/>
                    </a:solidFill>
                  </a:tcPr>
                </a:tc>
              </a:tr>
            </a:tbl>
          </a:graphicData>
        </a:graphic>
      </p:graphicFrame>
      <p:sp>
        <p:nvSpPr>
          <p:cNvPr id="13" name="TextBox 12"/>
          <p:cNvSpPr txBox="1"/>
          <p:nvPr/>
        </p:nvSpPr>
        <p:spPr>
          <a:xfrm>
            <a:off x="411480" y="4526280"/>
            <a:ext cx="3931920" cy="1737360"/>
          </a:xfrm>
          <a:prstGeom prst="rect">
            <a:avLst/>
          </a:prstGeom>
          <a:noFill/>
        </p:spPr>
        <p:txBody>
          <a:bodyPr wrap="square" lIns="0" rIns="0" tIns="0" bIns="0" anchor="t"/>
          <a:lstStyle/>
          <a:p>
            <a:pPr algn="l" marL="132715" indent="-132715">
              <a:lnSpc>
                <a:spcPct val="115000"/>
              </a:lnSpc>
              <a:spcAft>
                <a:spcPts val="100"/>
              </a:spcAft>
              <a:buChar char="•"/>
            </a:pPr>
            <a:r>
              <a:rPr sz="1100" b="0" i="0">
                <a:solidFill>
                  <a:srgbClr val="2B2B2B"/>
                </a:solidFill>
                <a:latin typeface="Calibri"/>
              </a:rPr>
              <a:t>Qdrant search is filtered by patient_id inside the query, top 50 by cosine</a:t>
            </a:r>
          </a:p>
          <a:p>
            <a:pPr algn="l" marL="132715" indent="-132715">
              <a:lnSpc>
                <a:spcPct val="115000"/>
              </a:lnSpc>
              <a:spcAft>
                <a:spcPts val="100"/>
              </a:spcAft>
              <a:buChar char="•"/>
            </a:pPr>
            <a:r>
              <a:rPr sz="1100" b="0" i="0">
                <a:solidFill>
                  <a:srgbClr val="2B2B2B"/>
                </a:solidFill>
                <a:latin typeface="Calibri"/>
              </a:rPr>
              <a:t>Ties among admissible records: closest valid time to t, not newest</a:t>
            </a:r>
          </a:p>
          <a:p>
            <a:pPr algn="l" marL="132715" indent="-132715">
              <a:lnSpc>
                <a:spcPct val="115000"/>
              </a:lnSpc>
              <a:spcAft>
                <a:spcPts val="100"/>
              </a:spcAft>
              <a:buChar char="•"/>
            </a:pPr>
            <a:r>
              <a:rPr sz="1100" b="0" i="0">
                <a:solidFill>
                  <a:srgbClr val="2B2B2B"/>
                </a:solidFill>
                <a:latin typeface="Calibri"/>
              </a:rPr>
              <a:t>Top k = 8 go to the LLM (k = 30 for summaries)</a:t>
            </a:r>
          </a:p>
          <a:p>
            <a:pPr algn="l" marL="132715" indent="-132715">
              <a:lnSpc>
                <a:spcPct val="115000"/>
              </a:lnSpc>
              <a:spcAft>
                <a:spcPts val="100"/>
              </a:spcAft>
              <a:buChar char="•"/>
            </a:pPr>
            <a:r>
              <a:rPr sz="1100" b="0" i="0">
                <a:solidFill>
                  <a:srgbClr val="2B2B2B"/>
                </a:solidFill>
                <a:latin typeface="Calibri"/>
              </a:rPr>
              <a:t>Weights are categorical, so a 2-hour-old and a 2-year-old correction count the same</a:t>
            </a:r>
          </a:p>
        </p:txBody>
      </p:sp>
      <p:sp>
        <p:nvSpPr>
          <p:cNvPr id="14" name="TextBox 13"/>
          <p:cNvSpPr txBox="1"/>
          <p:nvPr/>
        </p:nvSpPr>
        <p:spPr>
          <a:xfrm>
            <a:off x="4617720" y="2697480"/>
            <a:ext cx="7132320" cy="320040"/>
          </a:xfrm>
          <a:prstGeom prst="rect">
            <a:avLst/>
          </a:prstGeom>
          <a:noFill/>
        </p:spPr>
        <p:txBody>
          <a:bodyPr wrap="square" lIns="0" rIns="0" tIns="0" bIns="0" anchor="t"/>
          <a:lstStyle/>
          <a:p>
            <a:pPr algn="l">
              <a:lnSpc>
                <a:spcPct val="115000"/>
              </a:lnSpc>
              <a:spcAft>
                <a:spcPts val="0"/>
              </a:spcAft>
            </a:pPr>
            <a:r>
              <a:rPr sz="1400" b="1" i="0">
                <a:solidFill>
                  <a:srgbClr val="BC312C"/>
                </a:solidFill>
                <a:latin typeface="Calibri"/>
              </a:rPr>
              <a:t>Worked example (illustrative cosine values)</a:t>
            </a:r>
          </a:p>
        </p:txBody>
      </p:sp>
      <p:graphicFrame>
        <p:nvGraphicFramePr>
          <p:cNvPr id="15" name="Table 14"/>
          <p:cNvGraphicFramePr>
            <a:graphicFrameLocks noGrp="1"/>
          </p:cNvGraphicFramePr>
          <p:nvPr/>
        </p:nvGraphicFramePr>
        <p:xfrm>
          <a:off x="4617720" y="3063240"/>
          <a:ext cx="7132317" cy="1295400"/>
        </p:xfrm>
        <a:graphic>
          <a:graphicData uri="http://schemas.openxmlformats.org/drawingml/2006/table">
            <a:tbl>
              <a:tblPr firstRow="0" bandRow="0">
                <a:tableStyleId>{5C22544A-7EE6-4342-B048-85BDC9FD1C3A}</a:tableStyleId>
              </a:tblPr>
              <a:tblGrid>
                <a:gridCol w="1925726"/>
                <a:gridCol w="1925726"/>
                <a:gridCol w="641908"/>
                <a:gridCol w="713232"/>
                <a:gridCol w="927201"/>
                <a:gridCol w="998524"/>
              </a:tblGrid>
              <a:tr h="259080">
                <a:tc>
                  <a:txBody>
                    <a:bodyPr wrap="square"/>
                    <a:lstStyle/>
                    <a:p>
                      <a:r>
                        <a:rPr sz="1100" b="1">
                          <a:solidFill>
                            <a:srgbClr val="FFFFFF"/>
                          </a:solidFill>
                          <a:latin typeface="Calibri"/>
                        </a:rPr>
                        <a:t>Question</a:t>
                      </a:r>
                    </a:p>
                  </a:txBody>
                  <a:tcPr marL="54864" marR="54864" marT="27432" marB="27432">
                    <a:solidFill>
                      <a:srgbClr val="BC312C"/>
                    </a:solidFill>
                  </a:tcPr>
                </a:tc>
                <a:tc>
                  <a:txBody>
                    <a:bodyPr wrap="square"/>
                    <a:lstStyle/>
                    <a:p>
                      <a:r>
                        <a:rPr sz="1100" b="1">
                          <a:solidFill>
                            <a:srgbClr val="FFFFFF"/>
                          </a:solidFill>
                          <a:latin typeface="Calibri"/>
                        </a:rPr>
                        <a:t>Record</a:t>
                      </a:r>
                    </a:p>
                  </a:txBody>
                  <a:tcPr marL="54864" marR="54864" marT="27432" marB="27432">
                    <a:solidFill>
                      <a:srgbClr val="BC312C"/>
                    </a:solidFill>
                  </a:tcPr>
                </a:tc>
                <a:tc>
                  <a:txBody>
                    <a:bodyPr wrap="square"/>
                    <a:lstStyle/>
                    <a:p>
                      <a:r>
                        <a:rPr sz="1100" b="1">
                          <a:solidFill>
                            <a:srgbClr val="FFFFFF"/>
                          </a:solidFill>
                          <a:latin typeface="Calibri"/>
                        </a:rPr>
                        <a:t>cos</a:t>
                      </a:r>
                    </a:p>
                  </a:txBody>
                  <a:tcPr marL="54864" marR="54864" marT="27432" marB="27432">
                    <a:solidFill>
                      <a:srgbClr val="BC312C"/>
                    </a:solidFill>
                  </a:tcPr>
                </a:tc>
                <a:tc>
                  <a:txBody>
                    <a:bodyPr wrap="square"/>
                    <a:lstStyle/>
                    <a:p>
                      <a:r>
                        <a:rPr sz="1100" b="1">
                          <a:solidFill>
                            <a:srgbClr val="FFFFFF"/>
                          </a:solidFill>
                          <a:latin typeface="Calibri"/>
                        </a:rPr>
                        <a:t>w</a:t>
                      </a:r>
                    </a:p>
                  </a:txBody>
                  <a:tcPr marL="54864" marR="54864" marT="27432" marB="27432">
                    <a:solidFill>
                      <a:srgbClr val="BC312C"/>
                    </a:solidFill>
                  </a:tcPr>
                </a:tc>
                <a:tc>
                  <a:txBody>
                    <a:bodyPr wrap="square"/>
                    <a:lstStyle/>
                    <a:p>
                      <a:r>
                        <a:rPr sz="1100" b="1">
                          <a:solidFill>
                            <a:srgbClr val="FFFFFF"/>
                          </a:solidFill>
                          <a:latin typeface="Calibri"/>
                        </a:rPr>
                        <a:t>score</a:t>
                      </a:r>
                    </a:p>
                  </a:txBody>
                  <a:tcPr marL="54864" marR="54864" marT="27432" marB="27432">
                    <a:solidFill>
                      <a:srgbClr val="BC312C"/>
                    </a:solidFill>
                  </a:tcPr>
                </a:tc>
                <a:tc>
                  <a:txBody>
                    <a:bodyPr wrap="square"/>
                    <a:lstStyle/>
                    <a:p>
                      <a:r>
                        <a:rPr sz="1100" b="1">
                          <a:solidFill>
                            <a:srgbClr val="FFFFFF"/>
                          </a:solidFill>
                          <a:latin typeface="Calibri"/>
                        </a:rPr>
                        <a:t>Rank</a:t>
                      </a:r>
                    </a:p>
                  </a:txBody>
                  <a:tcPr marL="54864" marR="54864" marT="27432" marB="27432">
                    <a:solidFill>
                      <a:srgbClr val="BC312C"/>
                    </a:solidFill>
                  </a:tcPr>
                </a:tc>
              </a:tr>
              <a:tr h="259080">
                <a:tc>
                  <a:txBody>
                    <a:bodyPr wrap="square"/>
                    <a:lstStyle/>
                    <a:p>
                      <a:r>
                        <a:rPr sz="1100" b="1">
                          <a:solidFill>
                            <a:srgbClr val="2B2B2B"/>
                          </a:solidFill>
                          <a:latin typeface="Calibri"/>
                        </a:rPr>
                        <a:t>"What is the creatinine?"</a:t>
                      </a:r>
                    </a:p>
                  </a:txBody>
                  <a:tcPr marL="54864" marR="54864" marT="27432" marB="27432">
                    <a:solidFill>
                      <a:srgbClr val="FFFFFF"/>
                    </a:solidFill>
                  </a:tcPr>
                </a:tc>
                <a:tc>
                  <a:txBody>
                    <a:bodyPr wrap="square"/>
                    <a:lstStyle/>
                    <a:p>
                      <a:r>
                        <a:rPr sz="1100" b="0">
                          <a:solidFill>
                            <a:srgbClr val="2B2B2B"/>
                          </a:solidFill>
                          <a:latin typeface="Calibri"/>
                        </a:rPr>
                        <a:t>v1  1.1 (superseded)</a:t>
                      </a:r>
                    </a:p>
                  </a:txBody>
                  <a:tcPr marL="54864" marR="54864" marT="27432" marB="27432">
                    <a:solidFill>
                      <a:srgbClr val="FFFFFF"/>
                    </a:solidFill>
                  </a:tcPr>
                </a:tc>
                <a:tc>
                  <a:txBody>
                    <a:bodyPr wrap="square"/>
                    <a:lstStyle/>
                    <a:p>
                      <a:r>
                        <a:rPr sz="1100" b="0">
                          <a:solidFill>
                            <a:srgbClr val="2B2B2B"/>
                          </a:solidFill>
                          <a:latin typeface="Calibri"/>
                        </a:rPr>
                        <a:t>0.80</a:t>
                      </a:r>
                    </a:p>
                  </a:txBody>
                  <a:tcPr marL="54864" marR="54864" marT="27432" marB="27432">
                    <a:solidFill>
                      <a:srgbClr val="FFFFFF"/>
                    </a:solidFill>
                  </a:tcPr>
                </a:tc>
                <a:tc>
                  <a:txBody>
                    <a:bodyPr wrap="square"/>
                    <a:lstStyle/>
                    <a:p>
                      <a:r>
                        <a:rPr sz="1100" b="0">
                          <a:solidFill>
                            <a:srgbClr val="2B2B2B"/>
                          </a:solidFill>
                          <a:latin typeface="Calibri"/>
                        </a:rPr>
                        <a:t>0.15</a:t>
                      </a:r>
                    </a:p>
                  </a:txBody>
                  <a:tcPr marL="54864" marR="54864" marT="27432" marB="27432">
                    <a:solidFill>
                      <a:srgbClr val="FFFFFF"/>
                    </a:solidFill>
                  </a:tcPr>
                </a:tc>
                <a:tc>
                  <a:txBody>
                    <a:bodyPr wrap="square"/>
                    <a:lstStyle/>
                    <a:p>
                      <a:r>
                        <a:rPr sz="1100" b="0">
                          <a:solidFill>
                            <a:srgbClr val="2B2B2B"/>
                          </a:solidFill>
                          <a:latin typeface="Calibri"/>
                        </a:rPr>
                        <a:t>0.605</a:t>
                      </a:r>
                    </a:p>
                  </a:txBody>
                  <a:tcPr marL="54864" marR="54864" marT="27432" marB="27432">
                    <a:solidFill>
                      <a:srgbClr val="FFFFFF"/>
                    </a:solidFill>
                  </a:tcPr>
                </a:tc>
                <a:tc>
                  <a:txBody>
                    <a:bodyPr wrap="square"/>
                    <a:lstStyle/>
                    <a:p>
                      <a:r>
                        <a:rPr sz="1100" b="0">
                          <a:solidFill>
                            <a:srgbClr val="2B2B2B"/>
                          </a:solidFill>
                          <a:latin typeface="Calibri"/>
                        </a:rPr>
                        <a:t>2</a:t>
                      </a:r>
                    </a:p>
                  </a:txBody>
                  <a:tcPr marL="54864" marR="54864" marT="27432" marB="27432">
                    <a:solidFill>
                      <a:srgbClr val="FFFFFF"/>
                    </a:solidFill>
                  </a:tcPr>
                </a:tc>
              </a:tr>
              <a:tr h="259080">
                <a:tc>
                  <a:txBody>
                    <a:bodyPr wrap="square"/>
                    <a:lstStyle/>
                    <a:p>
                      <a:r>
                        <a:rPr sz="1100" b="1">
                          <a:solidFill>
                            <a:srgbClr val="2B2B2B"/>
                          </a:solidFill>
                          <a:latin typeface="Calibri"/>
                        </a:rPr>
                        <a:t/>
                      </a:r>
                    </a:p>
                  </a:txBody>
                  <a:tcPr marL="54864" marR="54864" marT="27432" marB="27432">
                    <a:solidFill>
                      <a:srgbClr val="FBEAEA"/>
                    </a:solidFill>
                  </a:tcPr>
                </a:tc>
                <a:tc>
                  <a:txBody>
                    <a:bodyPr wrap="square"/>
                    <a:lstStyle/>
                    <a:p>
                      <a:r>
                        <a:rPr sz="1100" b="0">
                          <a:solidFill>
                            <a:srgbClr val="2B2B2B"/>
                          </a:solidFill>
                          <a:latin typeface="Calibri"/>
                        </a:rPr>
                        <a:t>v2  1.4 (current)</a:t>
                      </a:r>
                    </a:p>
                  </a:txBody>
                  <a:tcPr marL="54864" marR="54864" marT="27432" marB="27432">
                    <a:solidFill>
                      <a:srgbClr val="FBEAEA"/>
                    </a:solidFill>
                  </a:tcPr>
                </a:tc>
                <a:tc>
                  <a:txBody>
                    <a:bodyPr wrap="square"/>
                    <a:lstStyle/>
                    <a:p>
                      <a:r>
                        <a:rPr sz="1100" b="0">
                          <a:solidFill>
                            <a:srgbClr val="2B2B2B"/>
                          </a:solidFill>
                          <a:latin typeface="Calibri"/>
                        </a:rPr>
                        <a:t>0.80</a:t>
                      </a:r>
                    </a:p>
                  </a:txBody>
                  <a:tcPr marL="54864" marR="54864" marT="27432" marB="27432">
                    <a:solidFill>
                      <a:srgbClr val="FBEAEA"/>
                    </a:solidFill>
                  </a:tcPr>
                </a:tc>
                <a:tc>
                  <a:txBody>
                    <a:bodyPr wrap="square"/>
                    <a:lstStyle/>
                    <a:p>
                      <a:r>
                        <a:rPr sz="1100" b="0">
                          <a:solidFill>
                            <a:srgbClr val="2B2B2B"/>
                          </a:solidFill>
                          <a:latin typeface="Calibri"/>
                        </a:rPr>
                        <a:t>0.85</a:t>
                      </a:r>
                    </a:p>
                  </a:txBody>
                  <a:tcPr marL="54864" marR="54864" marT="27432" marB="27432">
                    <a:solidFill>
                      <a:srgbClr val="FBEAEA"/>
                    </a:solidFill>
                  </a:tcPr>
                </a:tc>
                <a:tc>
                  <a:txBody>
                    <a:bodyPr wrap="square"/>
                    <a:lstStyle/>
                    <a:p>
                      <a:r>
                        <a:rPr sz="1100" b="0">
                          <a:solidFill>
                            <a:srgbClr val="2B2B2B"/>
                          </a:solidFill>
                          <a:latin typeface="Calibri"/>
                        </a:rPr>
                        <a:t>0.815</a:t>
                      </a:r>
                    </a:p>
                  </a:txBody>
                  <a:tcPr marL="54864" marR="54864" marT="27432" marB="27432">
                    <a:solidFill>
                      <a:srgbClr val="FBEAEA"/>
                    </a:solidFill>
                  </a:tcPr>
                </a:tc>
                <a:tc>
                  <a:txBody>
                    <a:bodyPr wrap="square"/>
                    <a:lstStyle/>
                    <a:p>
                      <a:r>
                        <a:rPr sz="1100" b="0">
                          <a:solidFill>
                            <a:srgbClr val="2B2B2B"/>
                          </a:solidFill>
                          <a:latin typeface="Calibri"/>
                        </a:rPr>
                        <a:t>1  ✔</a:t>
                      </a:r>
                    </a:p>
                  </a:txBody>
                  <a:tcPr marL="54864" marR="54864" marT="27432" marB="27432">
                    <a:solidFill>
                      <a:srgbClr val="FBEAEA"/>
                    </a:solidFill>
                  </a:tcPr>
                </a:tc>
              </a:tr>
              <a:tr h="259080">
                <a:tc>
                  <a:txBody>
                    <a:bodyPr wrap="square"/>
                    <a:lstStyle/>
                    <a:p>
                      <a:r>
                        <a:rPr sz="1100" b="1">
                          <a:solidFill>
                            <a:srgbClr val="2B2B2B"/>
                          </a:solidFill>
                          <a:latin typeface="Calibri"/>
                        </a:rPr>
                        <a:t>"Creatinine as of 4 Mar?"</a:t>
                      </a:r>
                    </a:p>
                  </a:txBody>
                  <a:tcPr marL="54864" marR="54864" marT="27432" marB="27432">
                    <a:solidFill>
                      <a:srgbClr val="FFFFFF"/>
                    </a:solidFill>
                  </a:tcPr>
                </a:tc>
                <a:tc>
                  <a:txBody>
                    <a:bodyPr wrap="square"/>
                    <a:lstStyle/>
                    <a:p>
                      <a:r>
                        <a:rPr sz="1100" b="0">
                          <a:solidFill>
                            <a:srgbClr val="2B2B2B"/>
                          </a:solidFill>
                          <a:latin typeface="Calibri"/>
                        </a:rPr>
                        <a:t>v1  1.1 (in force on 4 Mar)</a:t>
                      </a:r>
                    </a:p>
                  </a:txBody>
                  <a:tcPr marL="54864" marR="54864" marT="27432" marB="27432">
                    <a:solidFill>
                      <a:srgbClr val="FFFFFF"/>
                    </a:solidFill>
                  </a:tcPr>
                </a:tc>
                <a:tc>
                  <a:txBody>
                    <a:bodyPr wrap="square"/>
                    <a:lstStyle/>
                    <a:p>
                      <a:r>
                        <a:rPr sz="1100" b="0">
                          <a:solidFill>
                            <a:srgbClr val="2B2B2B"/>
                          </a:solidFill>
                          <a:latin typeface="Calibri"/>
                        </a:rPr>
                        <a:t>0.80</a:t>
                      </a:r>
                    </a:p>
                  </a:txBody>
                  <a:tcPr marL="54864" marR="54864" marT="27432" marB="27432">
                    <a:solidFill>
                      <a:srgbClr val="FFFFFF"/>
                    </a:solidFill>
                  </a:tcPr>
                </a:tc>
                <a:tc>
                  <a:txBody>
                    <a:bodyPr wrap="square"/>
                    <a:lstStyle/>
                    <a:p>
                      <a:r>
                        <a:rPr sz="1100" b="0">
                          <a:solidFill>
                            <a:srgbClr val="2B2B2B"/>
                          </a:solidFill>
                          <a:latin typeface="Calibri"/>
                        </a:rPr>
                        <a:t>1.00</a:t>
                      </a:r>
                    </a:p>
                  </a:txBody>
                  <a:tcPr marL="54864" marR="54864" marT="27432" marB="27432">
                    <a:solidFill>
                      <a:srgbClr val="FFFFFF"/>
                    </a:solidFill>
                  </a:tcPr>
                </a:tc>
                <a:tc>
                  <a:txBody>
                    <a:bodyPr wrap="square"/>
                    <a:lstStyle/>
                    <a:p>
                      <a:r>
                        <a:rPr sz="1100" b="0">
                          <a:solidFill>
                            <a:srgbClr val="2B2B2B"/>
                          </a:solidFill>
                          <a:latin typeface="Calibri"/>
                        </a:rPr>
                        <a:t>0.860</a:t>
                      </a:r>
                    </a:p>
                  </a:txBody>
                  <a:tcPr marL="54864" marR="54864" marT="27432" marB="27432">
                    <a:solidFill>
                      <a:srgbClr val="FFFFFF"/>
                    </a:solidFill>
                  </a:tcPr>
                </a:tc>
                <a:tc>
                  <a:txBody>
                    <a:bodyPr wrap="square"/>
                    <a:lstStyle/>
                    <a:p>
                      <a:r>
                        <a:rPr sz="1100" b="0">
                          <a:solidFill>
                            <a:srgbClr val="2B2B2B"/>
                          </a:solidFill>
                          <a:latin typeface="Calibri"/>
                        </a:rPr>
                        <a:t>1  ✔</a:t>
                      </a:r>
                    </a:p>
                  </a:txBody>
                  <a:tcPr marL="54864" marR="54864" marT="27432" marB="27432">
                    <a:solidFill>
                      <a:srgbClr val="FFFFFF"/>
                    </a:solidFill>
                  </a:tcPr>
                </a:tc>
              </a:tr>
              <a:tr h="259080">
                <a:tc>
                  <a:txBody>
                    <a:bodyPr wrap="square"/>
                    <a:lstStyle/>
                    <a:p>
                      <a:r>
                        <a:rPr sz="1100" b="1">
                          <a:solidFill>
                            <a:srgbClr val="2B2B2B"/>
                          </a:solidFill>
                          <a:latin typeface="Calibri"/>
                        </a:rPr>
                        <a:t/>
                      </a:r>
                    </a:p>
                  </a:txBody>
                  <a:tcPr marL="54864" marR="54864" marT="27432" marB="27432">
                    <a:solidFill>
                      <a:srgbClr val="FBEAEA"/>
                    </a:solidFill>
                  </a:tcPr>
                </a:tc>
                <a:tc>
                  <a:txBody>
                    <a:bodyPr wrap="square"/>
                    <a:lstStyle/>
                    <a:p>
                      <a:r>
                        <a:rPr sz="1100" b="0">
                          <a:solidFill>
                            <a:srgbClr val="2B2B2B"/>
                          </a:solidFill>
                          <a:latin typeface="Calibri"/>
                        </a:rPr>
                        <a:t>v2  1.4 (dated 6 Mar)</a:t>
                      </a:r>
                    </a:p>
                  </a:txBody>
                  <a:tcPr marL="54864" marR="54864" marT="27432" marB="27432">
                    <a:solidFill>
                      <a:srgbClr val="FBEAEA"/>
                    </a:solidFill>
                  </a:tcPr>
                </a:tc>
                <a:tc>
                  <a:txBody>
                    <a:bodyPr wrap="square"/>
                    <a:lstStyle/>
                    <a:p>
                      <a:r>
                        <a:rPr sz="1100" b="0">
                          <a:solidFill>
                            <a:srgbClr val="2B2B2B"/>
                          </a:solidFill>
                          <a:latin typeface="Calibri"/>
                        </a:rPr>
                        <a:t>0.80</a:t>
                      </a:r>
                    </a:p>
                  </a:txBody>
                  <a:tcPr marL="54864" marR="54864" marT="27432" marB="27432">
                    <a:solidFill>
                      <a:srgbClr val="FBEAEA"/>
                    </a:solidFill>
                  </a:tcPr>
                </a:tc>
                <a:tc>
                  <a:txBody>
                    <a:bodyPr wrap="square"/>
                    <a:lstStyle/>
                    <a:p>
                      <a:r>
                        <a:rPr sz="1100" b="0">
                          <a:solidFill>
                            <a:srgbClr val="2B2B2B"/>
                          </a:solidFill>
                          <a:latin typeface="Calibri"/>
                        </a:rPr>
                        <a:t>veto</a:t>
                      </a:r>
                    </a:p>
                  </a:txBody>
                  <a:tcPr marL="54864" marR="54864" marT="27432" marB="27432">
                    <a:solidFill>
                      <a:srgbClr val="FBEAEA"/>
                    </a:solidFill>
                  </a:tcPr>
                </a:tc>
                <a:tc>
                  <a:txBody>
                    <a:bodyPr wrap="square"/>
                    <a:lstStyle/>
                    <a:p>
                      <a:r>
                        <a:rPr sz="1100" b="0">
                          <a:solidFill>
                            <a:srgbClr val="2B2B2B"/>
                          </a:solidFill>
                          <a:latin typeface="Calibri"/>
                        </a:rPr>
                        <a:t>removed</a:t>
                      </a:r>
                    </a:p>
                  </a:txBody>
                  <a:tcPr marL="54864" marR="54864" marT="27432" marB="27432">
                    <a:solidFill>
                      <a:srgbClr val="FBEAEA"/>
                    </a:solidFill>
                  </a:tcPr>
                </a:tc>
                <a:tc>
                  <a:txBody>
                    <a:bodyPr wrap="square"/>
                    <a:lstStyle/>
                    <a:p>
                      <a:r>
                        <a:rPr sz="1100" b="0">
                          <a:solidFill>
                            <a:srgbClr val="2B2B2B"/>
                          </a:solidFill>
                          <a:latin typeface="Calibri"/>
                        </a:rPr>
                        <a:t>–</a:t>
                      </a:r>
                    </a:p>
                  </a:txBody>
                  <a:tcPr marL="54864" marR="54864" marT="27432" marB="27432">
                    <a:solidFill>
                      <a:srgbClr val="FBEAEA"/>
                    </a:solidFill>
                  </a:tcPr>
                </a:tc>
              </a:tr>
            </a:tbl>
          </a:graphicData>
        </a:graphic>
      </p:graphicFrame>
      <p:sp>
        <p:nvSpPr>
          <p:cNvPr id="16" name="TextBox 15"/>
          <p:cNvSpPr txBox="1"/>
          <p:nvPr/>
        </p:nvSpPr>
        <p:spPr>
          <a:xfrm>
            <a:off x="4617720" y="4800600"/>
            <a:ext cx="7132320" cy="1463040"/>
          </a:xfrm>
          <a:prstGeom prst="rect">
            <a:avLst/>
          </a:prstGeom>
          <a:noFill/>
        </p:spPr>
        <p:txBody>
          <a:bodyPr wrap="square" lIns="0" rIns="0" tIns="0" bIns="0" anchor="t"/>
          <a:lstStyle/>
          <a:p>
            <a:pPr algn="l">
              <a:lnSpc>
                <a:spcPct val="115000"/>
              </a:lnSpc>
              <a:spcAft>
                <a:spcPts val="0"/>
              </a:spcAft>
            </a:pPr>
            <a:r>
              <a:rPr sz="1150" b="1" i="0">
                <a:solidFill>
                  <a:srgbClr val="2B2B2B"/>
                </a:solidFill>
                <a:latin typeface="Calibri"/>
              </a:rPr>
              <a:t>Why the similarity term cannot do this alone: </a:t>
            </a:r>
            <a:r>
              <a:rPr sz="1150" b="0" i="0">
                <a:solidFill>
                  <a:srgbClr val="2B2B2B"/>
                </a:solidFill>
                <a:latin typeface="Calibri"/>
              </a:rPr>
              <a:t>a test and its correction share the name and almost the whole payload, and on all 600 corrected and historical queries of each seed their similarity scores were exactly equal. Only the validity weight separates them. </a:t>
            </a:r>
            <a:r>
              <a:rPr sz="1150" b="1" i="0">
                <a:solidFill>
                  <a:srgbClr val="2B2B2B"/>
                </a:solidFill>
                <a:latin typeface="Calibri"/>
              </a:rPr>
              <a:t>Sensitivity: </a:t>
            </a:r>
            <a:r>
              <a:rPr sz="1150" b="0" i="0">
                <a:solidFill>
                  <a:srgbClr val="2B2B2B"/>
                </a:solidFill>
                <a:latin typeface="Calibri"/>
              </a:rPr>
              <a:t>α from 0.40 to 0.95 left every headline number unchanged.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15</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LLM, De-identification and Provenance</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What the model sees, why it is safe to send, and how its answer is checked</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Rohan</a:t>
            </a:r>
          </a:p>
        </p:txBody>
      </p:sp>
      <p:sp>
        <p:nvSpPr>
          <p:cNvPr id="11" name="TextBox 10"/>
          <p:cNvSpPr txBox="1"/>
          <p:nvPr/>
        </p:nvSpPr>
        <p:spPr>
          <a:xfrm>
            <a:off x="411480" y="1874519"/>
            <a:ext cx="5669280" cy="320040"/>
          </a:xfrm>
          <a:prstGeom prst="rect">
            <a:avLst/>
          </a:prstGeom>
          <a:noFill/>
        </p:spPr>
        <p:txBody>
          <a:bodyPr wrap="square" lIns="0" rIns="0" tIns="0" bIns="0" anchor="t"/>
          <a:lstStyle/>
          <a:p>
            <a:pPr algn="l">
              <a:lnSpc>
                <a:spcPct val="115000"/>
              </a:lnSpc>
              <a:spcAft>
                <a:spcPts val="0"/>
              </a:spcAft>
            </a:pPr>
            <a:r>
              <a:rPr sz="1450" b="1" i="0">
                <a:solidFill>
                  <a:srgbClr val="BC312C"/>
                </a:solidFill>
                <a:latin typeface="Calibri"/>
              </a:rPr>
              <a:t>De-identification on the way out</a:t>
            </a:r>
          </a:p>
        </p:txBody>
      </p:sp>
      <p:sp>
        <p:nvSpPr>
          <p:cNvPr id="12" name="Rounded Rectangle 11"/>
          <p:cNvSpPr/>
          <p:nvPr/>
        </p:nvSpPr>
        <p:spPr>
          <a:xfrm>
            <a:off x="411480" y="2240280"/>
            <a:ext cx="5669280" cy="749808"/>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lnSpc>
                <a:spcPct val="100000"/>
              </a:lnSpc>
            </a:pPr>
            <a:r>
              <a:rPr sz="1100" b="1" i="0">
                <a:solidFill>
                  <a:srgbClr val="2B2B2B"/>
                </a:solidFill>
                <a:latin typeface="Calibri"/>
              </a:rPr>
              <a:t>Before:  </a:t>
            </a:r>
            <a:r>
              <a:rPr sz="1100" b="0" i="0">
                <a:solidFill>
                  <a:srgbClr val="2B2B2B"/>
                </a:solidFill>
                <a:latin typeface="Consolas"/>
              </a:rPr>
              <a:t>Sunita Devi, 47-year-old, phone 9876543210, potassium 4.8 mEq/L on 2026-09-03</a:t>
            </a:r>
          </a:p>
        </p:txBody>
      </p:sp>
      <p:cxnSp>
        <p:nvCxnSpPr>
          <p:cNvPr id="13" name="Connector 12"/>
          <p:cNvCxnSpPr/>
          <p:nvPr/>
        </p:nvCxnSpPr>
        <p:spPr>
          <a:xfrm>
            <a:off x="3246120" y="2990088"/>
            <a:ext cx="0" cy="210312"/>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11480" y="3200400"/>
            <a:ext cx="5669280" cy="749808"/>
          </a:xfrm>
          <a:prstGeom prst="roundRect">
            <a:avLst>
              <a:gd name="adj" fmla="val 6000"/>
            </a:avLst>
          </a:prstGeom>
          <a:solidFill>
            <a:srgbClr val="E6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lnSpc>
                <a:spcPct val="100000"/>
              </a:lnSpc>
            </a:pPr>
            <a:r>
              <a:rPr sz="1100" b="1" i="0">
                <a:solidFill>
                  <a:srgbClr val="2B2B2B"/>
                </a:solidFill>
                <a:latin typeface="Calibri"/>
              </a:rPr>
              <a:t>Sent:  </a:t>
            </a:r>
            <a:r>
              <a:rPr sz="1100" b="0" i="0">
                <a:solidFill>
                  <a:srgbClr val="2B2B2B"/>
                </a:solidFill>
                <a:latin typeface="Consolas"/>
              </a:rPr>
              <a:t>[PT_01], [AGE_47] years old, phone [PH_01], potassium 4.8 mEq/L on [T_MINUS_14D]</a:t>
            </a:r>
          </a:p>
        </p:txBody>
      </p:sp>
      <p:sp>
        <p:nvSpPr>
          <p:cNvPr id="15" name="TextBox 14"/>
          <p:cNvSpPr txBox="1"/>
          <p:nvPr/>
        </p:nvSpPr>
        <p:spPr>
          <a:xfrm>
            <a:off x="411480" y="4041648"/>
            <a:ext cx="5669280" cy="2240280"/>
          </a:xfrm>
          <a:prstGeom prst="rect">
            <a:avLst/>
          </a:prstGeom>
          <a:noFill/>
        </p:spPr>
        <p:txBody>
          <a:bodyPr wrap="square" lIns="0" rIns="0" tIns="0" bIns="0" anchor="t"/>
          <a:lstStyle/>
          <a:p>
            <a:pPr algn="l" marL="138747" indent="-138747">
              <a:lnSpc>
                <a:spcPct val="115000"/>
              </a:lnSpc>
              <a:spcAft>
                <a:spcPts val="200"/>
              </a:spcAft>
              <a:buChar char="•"/>
            </a:pPr>
            <a:r>
              <a:rPr sz="1150" b="0" i="0">
                <a:solidFill>
                  <a:srgbClr val="2B2B2B"/>
                </a:solidFill>
                <a:latin typeface="Calibri"/>
              </a:rPr>
              <a:t>Removed: names, Indian mobile numbers, emails, Aadhaar-shaped numbers, MRN / UHID, digit runs of 6+, calendar dates</a:t>
            </a:r>
          </a:p>
          <a:p>
            <a:pPr algn="l" marL="138747" indent="-138747">
              <a:lnSpc>
                <a:spcPct val="115000"/>
              </a:lnSpc>
              <a:spcAft>
                <a:spcPts val="200"/>
              </a:spcAft>
              <a:buChar char="•"/>
            </a:pPr>
            <a:r>
              <a:rPr sz="1150" b="0" i="0">
                <a:solidFill>
                  <a:srgbClr val="2B2B2B"/>
                </a:solidFill>
                <a:latin typeface="Calibri"/>
              </a:rPr>
              <a:t>Kept: clinical values and units, which the model needs and which identify nobody</a:t>
            </a:r>
          </a:p>
          <a:p>
            <a:pPr algn="l" marL="138747" indent="-138747">
              <a:lnSpc>
                <a:spcPct val="115000"/>
              </a:lnSpc>
              <a:spcAft>
                <a:spcPts val="200"/>
              </a:spcAft>
              <a:buChar char="•"/>
            </a:pPr>
            <a:r>
              <a:rPr sz="1150" b="0" i="0">
                <a:solidFill>
                  <a:srgbClr val="2B2B2B"/>
                </a:solidFill>
                <a:latin typeface="Calibri"/>
              </a:rPr>
              <a:t>Dates become offsets from today, so order and recency survive</a:t>
            </a:r>
          </a:p>
          <a:p>
            <a:pPr algn="l" marL="138747" indent="-138747">
              <a:lnSpc>
                <a:spcPct val="115000"/>
              </a:lnSpc>
              <a:spcAft>
                <a:spcPts val="200"/>
              </a:spcAft>
              <a:buChar char="•"/>
            </a:pPr>
            <a:r>
              <a:rPr sz="1150" b="0" i="0">
                <a:solidFill>
                  <a:srgbClr val="2B2B2B"/>
                </a:solidFill>
                <a:latin typeface="Calibri"/>
              </a:rPr>
              <a:t>Record IDs become R1, R2 … and are mapped back locally</a:t>
            </a:r>
          </a:p>
          <a:p>
            <a:pPr algn="l" marL="138747" indent="-138747">
              <a:lnSpc>
                <a:spcPct val="115000"/>
              </a:lnSpc>
              <a:spcAft>
                <a:spcPts val="200"/>
              </a:spcAft>
              <a:buChar char="•"/>
            </a:pPr>
            <a:r>
              <a:rPr sz="1150" b="0" i="0">
                <a:solidFill>
                  <a:srgbClr val="2B2B2B"/>
                </a:solidFill>
                <a:latin typeface="Calibri"/>
              </a:rPr>
              <a:t>assert_safe() runs on the exact outgoing string; one leak and the request is never sent</a:t>
            </a:r>
          </a:p>
        </p:txBody>
      </p:sp>
      <p:sp>
        <p:nvSpPr>
          <p:cNvPr id="16" name="TextBox 15"/>
          <p:cNvSpPr txBox="1"/>
          <p:nvPr/>
        </p:nvSpPr>
        <p:spPr>
          <a:xfrm>
            <a:off x="6355080" y="1874519"/>
            <a:ext cx="5394960" cy="320040"/>
          </a:xfrm>
          <a:prstGeom prst="rect">
            <a:avLst/>
          </a:prstGeom>
          <a:noFill/>
        </p:spPr>
        <p:txBody>
          <a:bodyPr wrap="square" lIns="0" rIns="0" tIns="0" bIns="0" anchor="t"/>
          <a:lstStyle/>
          <a:p>
            <a:pPr algn="l">
              <a:lnSpc>
                <a:spcPct val="115000"/>
              </a:lnSpc>
              <a:spcAft>
                <a:spcPts val="0"/>
              </a:spcAft>
            </a:pPr>
            <a:r>
              <a:rPr sz="1450" b="1" i="0">
                <a:solidFill>
                  <a:srgbClr val="BC312C"/>
                </a:solidFill>
                <a:latin typeface="Calibri"/>
              </a:rPr>
              <a:t>Provenance check on the way back</a:t>
            </a:r>
          </a:p>
        </p:txBody>
      </p:sp>
      <p:sp>
        <p:nvSpPr>
          <p:cNvPr id="17" name="Rounded Rectangle 16"/>
          <p:cNvSpPr/>
          <p:nvPr/>
        </p:nvSpPr>
        <p:spPr>
          <a:xfrm>
            <a:off x="6355080" y="2240280"/>
            <a:ext cx="5394960" cy="77724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92240" y="2286000"/>
            <a:ext cx="5120640" cy="292608"/>
          </a:xfrm>
          <a:prstGeom prst="rect">
            <a:avLst/>
          </a:prstGeom>
          <a:noFill/>
        </p:spPr>
        <p:txBody>
          <a:bodyPr wrap="square" lIns="0" rIns="0" tIns="0" bIns="0" anchor="t"/>
          <a:lstStyle/>
          <a:p>
            <a:pPr algn="l">
              <a:lnSpc>
                <a:spcPct val="115000"/>
              </a:lnSpc>
              <a:spcAft>
                <a:spcPts val="0"/>
              </a:spcAft>
            </a:pPr>
            <a:r>
              <a:rPr sz="1250" b="1" i="0">
                <a:solidFill>
                  <a:srgbClr val="2B2B2B"/>
                </a:solidFill>
                <a:latin typeface="Calibri"/>
              </a:rPr>
              <a:t>Axis A: faithfulness</a:t>
            </a:r>
          </a:p>
        </p:txBody>
      </p:sp>
      <p:sp>
        <p:nvSpPr>
          <p:cNvPr id="19" name="TextBox 18"/>
          <p:cNvSpPr txBox="1"/>
          <p:nvPr/>
        </p:nvSpPr>
        <p:spPr>
          <a:xfrm>
            <a:off x="6492240" y="2569464"/>
            <a:ext cx="5120640" cy="438912"/>
          </a:xfrm>
          <a:prstGeom prst="rect">
            <a:avLst/>
          </a:prstGeom>
          <a:noFill/>
        </p:spPr>
        <p:txBody>
          <a:bodyPr wrap="square" lIns="0" rIns="0" tIns="0" bIns="0" anchor="t"/>
          <a:lstStyle/>
          <a:p>
            <a:pPr algn="l">
              <a:lnSpc>
                <a:spcPct val="115000"/>
              </a:lnSpc>
              <a:spcAft>
                <a:spcPts val="0"/>
              </a:spcAft>
            </a:pPr>
            <a:r>
              <a:rPr sz="1100" b="0" i="0">
                <a:solidFill>
                  <a:srgbClr val="2B2B2B"/>
                </a:solidFill>
                <a:latin typeface="Calibri"/>
              </a:rPr>
              <a:t>the numbers and units in a claim must appear in the record it cites</a:t>
            </a:r>
          </a:p>
        </p:txBody>
      </p:sp>
      <p:sp>
        <p:nvSpPr>
          <p:cNvPr id="20" name="Rounded Rectangle 19"/>
          <p:cNvSpPr/>
          <p:nvPr/>
        </p:nvSpPr>
        <p:spPr>
          <a:xfrm>
            <a:off x="6355080" y="3108960"/>
            <a:ext cx="5394960" cy="77724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92240" y="3154680"/>
            <a:ext cx="5120640" cy="292608"/>
          </a:xfrm>
          <a:prstGeom prst="rect">
            <a:avLst/>
          </a:prstGeom>
          <a:noFill/>
        </p:spPr>
        <p:txBody>
          <a:bodyPr wrap="square" lIns="0" rIns="0" tIns="0" bIns="0" anchor="t"/>
          <a:lstStyle/>
          <a:p>
            <a:pPr algn="l">
              <a:lnSpc>
                <a:spcPct val="115000"/>
              </a:lnSpc>
              <a:spcAft>
                <a:spcPts val="0"/>
              </a:spcAft>
            </a:pPr>
            <a:r>
              <a:rPr sz="1250" b="1" i="0">
                <a:solidFill>
                  <a:srgbClr val="2B2B2B"/>
                </a:solidFill>
                <a:latin typeface="Calibri"/>
              </a:rPr>
              <a:t>Axis B: temporal validity</a:t>
            </a:r>
          </a:p>
        </p:txBody>
      </p:sp>
      <p:sp>
        <p:nvSpPr>
          <p:cNvPr id="22" name="TextBox 21"/>
          <p:cNvSpPr txBox="1"/>
          <p:nvPr/>
        </p:nvSpPr>
        <p:spPr>
          <a:xfrm>
            <a:off x="6492240" y="3438144"/>
            <a:ext cx="5120640" cy="438912"/>
          </a:xfrm>
          <a:prstGeom prst="rect">
            <a:avLst/>
          </a:prstGeom>
          <a:noFill/>
        </p:spPr>
        <p:txBody>
          <a:bodyPr wrap="square" lIns="0" rIns="0" tIns="0" bIns="0" anchor="t"/>
          <a:lstStyle/>
          <a:p>
            <a:pPr algn="l">
              <a:lnSpc>
                <a:spcPct val="115000"/>
              </a:lnSpc>
              <a:spcAft>
                <a:spcPts val="0"/>
              </a:spcAft>
            </a:pPr>
            <a:r>
              <a:rPr sz="1100" b="0" i="0">
                <a:solidFill>
                  <a:srgbClr val="2B2B2B"/>
                </a:solidFill>
                <a:latin typeface="Calibri"/>
              </a:rPr>
              <a:t>a present-tense claim ("is", "currently") may not cite a superseded record</a:t>
            </a:r>
          </a:p>
        </p:txBody>
      </p:sp>
      <p:sp>
        <p:nvSpPr>
          <p:cNvPr id="23" name="Rounded Rectangle 22"/>
          <p:cNvSpPr/>
          <p:nvPr/>
        </p:nvSpPr>
        <p:spPr>
          <a:xfrm>
            <a:off x="6355080" y="3977639"/>
            <a:ext cx="5394960" cy="7772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92240" y="4023359"/>
            <a:ext cx="5120640" cy="292608"/>
          </a:xfrm>
          <a:prstGeom prst="rect">
            <a:avLst/>
          </a:prstGeom>
          <a:noFill/>
        </p:spPr>
        <p:txBody>
          <a:bodyPr wrap="square" lIns="0" rIns="0" tIns="0" bIns="0" anchor="t"/>
          <a:lstStyle/>
          <a:p>
            <a:pPr algn="l">
              <a:lnSpc>
                <a:spcPct val="115000"/>
              </a:lnSpc>
              <a:spcAft>
                <a:spcPts val="0"/>
              </a:spcAft>
            </a:pPr>
            <a:r>
              <a:rPr sz="1250" b="1" i="0">
                <a:solidFill>
                  <a:srgbClr val="2B2B2B"/>
                </a:solidFill>
                <a:latin typeface="Calibri"/>
              </a:rPr>
              <a:t>Outcome</a:t>
            </a:r>
          </a:p>
        </p:txBody>
      </p:sp>
      <p:sp>
        <p:nvSpPr>
          <p:cNvPr id="25" name="TextBox 24"/>
          <p:cNvSpPr txBox="1"/>
          <p:nvPr/>
        </p:nvSpPr>
        <p:spPr>
          <a:xfrm>
            <a:off x="6492240" y="4306824"/>
            <a:ext cx="5120640" cy="438912"/>
          </a:xfrm>
          <a:prstGeom prst="rect">
            <a:avLst/>
          </a:prstGeom>
          <a:noFill/>
        </p:spPr>
        <p:txBody>
          <a:bodyPr wrap="square" lIns="0" rIns="0" tIns="0" bIns="0" anchor="t"/>
          <a:lstStyle/>
          <a:p>
            <a:pPr algn="l">
              <a:lnSpc>
                <a:spcPct val="115000"/>
              </a:lnSpc>
              <a:spcAft>
                <a:spcPts val="0"/>
              </a:spcAft>
            </a:pPr>
            <a:r>
              <a:rPr sz="1100" b="0" i="0">
                <a:solidFill>
                  <a:srgbClr val="2B2B2B"/>
                </a:solidFill>
                <a:latin typeface="Calibri"/>
              </a:rPr>
              <a:t>failing claims are dropped; if all fail, the doctor sees a cited extract; an "I don't know" carries no citations</a:t>
            </a:r>
          </a:p>
        </p:txBody>
      </p:sp>
      <p:sp>
        <p:nvSpPr>
          <p:cNvPr id="26" name="TextBox 25"/>
          <p:cNvSpPr txBox="1"/>
          <p:nvPr/>
        </p:nvSpPr>
        <p:spPr>
          <a:xfrm>
            <a:off x="6355080" y="4937760"/>
            <a:ext cx="5394960" cy="320040"/>
          </a:xfrm>
          <a:prstGeom prst="rect">
            <a:avLst/>
          </a:prstGeom>
          <a:noFill/>
        </p:spPr>
        <p:txBody>
          <a:bodyPr wrap="square" lIns="0" rIns="0" tIns="0" bIns="0" anchor="t"/>
          <a:lstStyle/>
          <a:p>
            <a:pPr algn="l">
              <a:lnSpc>
                <a:spcPct val="115000"/>
              </a:lnSpc>
              <a:spcAft>
                <a:spcPts val="0"/>
              </a:spcAft>
            </a:pPr>
            <a:r>
              <a:rPr sz="1350" b="1" i="0">
                <a:solidFill>
                  <a:srgbClr val="BC312C"/>
                </a:solidFill>
                <a:latin typeface="Calibri"/>
              </a:rPr>
              <a:t>Why use an LLM at all?</a:t>
            </a:r>
          </a:p>
        </p:txBody>
      </p:sp>
      <p:sp>
        <p:nvSpPr>
          <p:cNvPr id="27" name="TextBox 26"/>
          <p:cNvSpPr txBox="1"/>
          <p:nvPr/>
        </p:nvSpPr>
        <p:spPr>
          <a:xfrm>
            <a:off x="6355080" y="5257800"/>
            <a:ext cx="5394960" cy="1005840"/>
          </a:xfrm>
          <a:prstGeom prst="rect">
            <a:avLst/>
          </a:prstGeom>
          <a:noFill/>
        </p:spPr>
        <p:txBody>
          <a:bodyPr wrap="square" lIns="0" rIns="0" tIns="0" bIns="0" anchor="t"/>
          <a:lstStyle/>
          <a:p>
            <a:pPr algn="l">
              <a:lnSpc>
                <a:spcPct val="115000"/>
              </a:lnSpc>
              <a:spcAft>
                <a:spcPts val="0"/>
              </a:spcAft>
            </a:pPr>
            <a:r>
              <a:rPr sz="1150" b="0" i="0">
                <a:solidFill>
                  <a:srgbClr val="2B2B2B"/>
                </a:solidFill>
                <a:latin typeface="Calibri"/>
              </a:rPr>
              <a:t>It turns several records into one readable sentence and drafts weekly summaries. The facts come from the records we retrieved, and the check above decides what survives. Questions about one record skip the 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16</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Paper Capture and Issued Documents</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OCR that refuses to guess, and four document types delivered to the patient</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Rohan</a:t>
            </a:r>
          </a:p>
        </p:txBody>
      </p:sp>
      <p:sp>
        <p:nvSpPr>
          <p:cNvPr id="11" name="Rounded Rectangle 10"/>
          <p:cNvSpPr/>
          <p:nvPr/>
        </p:nvSpPr>
        <p:spPr>
          <a:xfrm>
            <a:off x="411480" y="1920240"/>
            <a:ext cx="2926080" cy="713232"/>
          </a:xfrm>
          <a:prstGeom prst="roundRect">
            <a:avLst>
              <a:gd name="adj" fmla="val 12000"/>
            </a:avLst>
          </a:prstGeom>
          <a:solidFill>
            <a:srgbClr val="FFFFFF"/>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Photo upload</a:t>
            </a:r>
          </a:p>
          <a:p>
            <a:pPr algn="ctr">
              <a:lnSpc>
                <a:spcPct val="95000"/>
              </a:lnSpc>
            </a:pPr>
            <a:r>
              <a:rPr sz="950" b="0" i="0">
                <a:solidFill>
                  <a:srgbClr val="5A5A5A"/>
                </a:solidFill>
                <a:latin typeface="Calibri"/>
              </a:rPr>
              <a:t>JPEG / PNG / WebP / TIFF</a:t>
            </a:r>
          </a:p>
          <a:p>
            <a:pPr algn="ctr">
              <a:lnSpc>
                <a:spcPct val="95000"/>
              </a:lnSpc>
            </a:pPr>
            <a:r>
              <a:rPr sz="950" b="0" i="0">
                <a:solidFill>
                  <a:srgbClr val="5A5A5A"/>
                </a:solidFill>
                <a:latin typeface="Calibri"/>
              </a:rPr>
              <a:t>up to 12 MB</a:t>
            </a:r>
          </a:p>
        </p:txBody>
      </p:sp>
      <p:sp>
        <p:nvSpPr>
          <p:cNvPr id="12" name="Rounded Rectangle 11"/>
          <p:cNvSpPr/>
          <p:nvPr/>
        </p:nvSpPr>
        <p:spPr>
          <a:xfrm>
            <a:off x="411480" y="2788920"/>
            <a:ext cx="2926080" cy="713232"/>
          </a:xfrm>
          <a:prstGeom prst="roundRect">
            <a:avLst>
              <a:gd name="adj" fmla="val 12000"/>
            </a:avLst>
          </a:prstGeom>
          <a:solidFill>
            <a:srgbClr val="FFFFFF"/>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Quality gate</a:t>
            </a:r>
          </a:p>
          <a:p>
            <a:pPr algn="ctr">
              <a:lnSpc>
                <a:spcPct val="95000"/>
              </a:lnSpc>
            </a:pPr>
            <a:r>
              <a:rPr sz="950" b="0" i="0">
                <a:solidFill>
                  <a:srgbClr val="5A5A5A"/>
                </a:solidFill>
                <a:latin typeface="Calibri"/>
              </a:rPr>
              <a:t>blur, contrast,</a:t>
            </a:r>
          </a:p>
          <a:p>
            <a:pPr algn="ctr">
              <a:lnSpc>
                <a:spcPct val="95000"/>
              </a:lnSpc>
            </a:pPr>
            <a:r>
              <a:rPr sz="950" b="0" i="0">
                <a:solidFill>
                  <a:srgbClr val="5A5A5A"/>
                </a:solidFill>
                <a:latin typeface="Calibri"/>
              </a:rPr>
              <a:t>min 400 × 400 px</a:t>
            </a:r>
          </a:p>
        </p:txBody>
      </p:sp>
      <p:cxnSp>
        <p:nvCxnSpPr>
          <p:cNvPr id="13" name="Connector 12"/>
          <p:cNvCxnSpPr/>
          <p:nvPr/>
        </p:nvCxnSpPr>
        <p:spPr>
          <a:xfrm>
            <a:off x="1874519" y="2633472"/>
            <a:ext cx="0" cy="155448"/>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11480" y="3657600"/>
            <a:ext cx="2926080" cy="713232"/>
          </a:xfrm>
          <a:prstGeom prst="roundRect">
            <a:avLst>
              <a:gd name="adj" fmla="val 12000"/>
            </a:avLst>
          </a:prstGeom>
          <a:solidFill>
            <a:srgbClr val="FFFFFF"/>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RapidOCR</a:t>
            </a:r>
          </a:p>
          <a:p>
            <a:pPr algn="ctr">
              <a:lnSpc>
                <a:spcPct val="95000"/>
              </a:lnSpc>
            </a:pPr>
            <a:r>
              <a:rPr sz="950" b="0" i="0">
                <a:solidFill>
                  <a:srgbClr val="5A5A5A"/>
                </a:solidFill>
                <a:latin typeface="Calibri"/>
              </a:rPr>
              <a:t>text + confidence</a:t>
            </a:r>
          </a:p>
          <a:p>
            <a:pPr algn="ctr">
              <a:lnSpc>
                <a:spcPct val="95000"/>
              </a:lnSpc>
            </a:pPr>
            <a:r>
              <a:rPr sz="950" b="0" i="0">
                <a:solidFill>
                  <a:srgbClr val="5A5A5A"/>
                </a:solidFill>
                <a:latin typeface="Calibri"/>
              </a:rPr>
              <a:t>per line, ~31 ms</a:t>
            </a:r>
          </a:p>
        </p:txBody>
      </p:sp>
      <p:cxnSp>
        <p:nvCxnSpPr>
          <p:cNvPr id="15" name="Connector 14"/>
          <p:cNvCxnSpPr/>
          <p:nvPr/>
        </p:nvCxnSpPr>
        <p:spPr>
          <a:xfrm>
            <a:off x="1874519" y="3502152"/>
            <a:ext cx="0" cy="155448"/>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11480" y="4526279"/>
            <a:ext cx="2926080" cy="713232"/>
          </a:xfrm>
          <a:prstGeom prst="roundRect">
            <a:avLst>
              <a:gd name="adj" fmla="val 12000"/>
            </a:avLst>
          </a:prstGeom>
          <a:solidFill>
            <a:srgbClr val="FFFFFF"/>
          </a:solidFill>
          <a:ln w="12700">
            <a:solidFill>
              <a:srgbClr val="C98A8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lnSpc>
                <a:spcPct val="95000"/>
              </a:lnSpc>
            </a:pPr>
            <a:r>
              <a:rPr sz="1200" b="1" i="0">
                <a:solidFill>
                  <a:srgbClr val="2B2B2B"/>
                </a:solidFill>
                <a:latin typeface="Calibri"/>
              </a:rPr>
              <a:t>Field extraction</a:t>
            </a:r>
          </a:p>
          <a:p>
            <a:pPr algn="ctr">
              <a:lnSpc>
                <a:spcPct val="95000"/>
              </a:lnSpc>
            </a:pPr>
            <a:r>
              <a:rPr sz="950" b="0" i="0">
                <a:solidFill>
                  <a:srgbClr val="5A5A5A"/>
                </a:solidFill>
                <a:latin typeface="Calibri"/>
              </a:rPr>
              <a:t>known tests, explicit unit</a:t>
            </a:r>
          </a:p>
          <a:p>
            <a:pPr algn="ctr">
              <a:lnSpc>
                <a:spcPct val="95000"/>
              </a:lnSpc>
            </a:pPr>
            <a:r>
              <a:rPr sz="950" b="0" i="0">
                <a:solidFill>
                  <a:srgbClr val="5A5A5A"/>
                </a:solidFill>
                <a:latin typeface="Calibri"/>
              </a:rPr>
              <a:t>map; unknown units left blank</a:t>
            </a:r>
          </a:p>
        </p:txBody>
      </p:sp>
      <p:cxnSp>
        <p:nvCxnSpPr>
          <p:cNvPr id="17" name="Connector 16"/>
          <p:cNvCxnSpPr/>
          <p:nvPr/>
        </p:nvCxnSpPr>
        <p:spPr>
          <a:xfrm>
            <a:off x="1874519" y="4370831"/>
            <a:ext cx="0" cy="155448"/>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11480" y="5440680"/>
            <a:ext cx="2926080" cy="777240"/>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250" b="1" i="0">
                <a:solidFill>
                  <a:srgbClr val="2B2B2B"/>
                </a:solidFill>
                <a:latin typeface="Calibri"/>
              </a:rPr>
              <a:t>confidence ≥ 0.75 ?</a:t>
            </a:r>
          </a:p>
          <a:p>
            <a:pPr algn="ctr">
              <a:lnSpc>
                <a:spcPct val="100000"/>
              </a:lnSpc>
            </a:pPr>
            <a:r>
              <a:rPr sz="1050" b="0" i="0">
                <a:solidFill>
                  <a:srgbClr val="2B2B2B"/>
                </a:solidFill>
                <a:latin typeface="Calibri"/>
              </a:rPr>
              <a:t>yes → dated event   ·   no → held for review</a:t>
            </a:r>
          </a:p>
        </p:txBody>
      </p:sp>
      <p:cxnSp>
        <p:nvCxnSpPr>
          <p:cNvPr id="19" name="Connector 18"/>
          <p:cNvCxnSpPr/>
          <p:nvPr/>
        </p:nvCxnSpPr>
        <p:spPr>
          <a:xfrm>
            <a:off x="1874519" y="5257800"/>
            <a:ext cx="0" cy="182880"/>
          </a:xfrm>
          <a:prstGeom prst="line">
            <a:avLst/>
          </a:prstGeom>
          <a:ln w="1905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566160" y="1920240"/>
            <a:ext cx="3291840" cy="4343400"/>
          </a:xfrm>
          <a:prstGeom prst="rect">
            <a:avLst/>
          </a:prstGeom>
          <a:noFill/>
        </p:spPr>
        <p:txBody>
          <a:bodyPr wrap="square" lIns="0" rIns="0" tIns="0" bIns="0" anchor="t"/>
          <a:lstStyle/>
          <a:p>
            <a:pPr algn="l">
              <a:lnSpc>
                <a:spcPct val="105000"/>
              </a:lnSpc>
              <a:spcAft>
                <a:spcPts val="0"/>
              </a:spcAft>
            </a:pPr>
            <a:r>
              <a:rPr sz="1150" b="1" i="0">
                <a:solidFill>
                  <a:srgbClr val="2B2B2B"/>
                </a:solidFill>
                <a:latin typeface="Calibri"/>
              </a:rPr>
              <a:t>MedGemma is built, measured and kept off by default. </a:t>
            </a:r>
            <a:r>
              <a:rPr sz="1150" b="0" i="0">
                <a:solidFill>
                  <a:srgbClr val="2B2B2B"/>
                </a:solidFill>
                <a:latin typeface="Calibri"/>
              </a:rPr>
              <a:t>Model load 6.3 s, image encode 54.6 s, 5.4 GB resident on this CPU. It runs only when asked (deep_read=true), through the worker, and its reading is stored as committed=false until a doctor confirms it.</a:t>
            </a:r>
          </a:p>
          <a:p>
            <a:pPr algn="l">
              <a:lnSpc>
                <a:spcPct val="105000"/>
              </a:lnSpc>
              <a:spcAft>
                <a:spcPts val="0"/>
              </a:spcAft>
            </a:pPr>
            <a:r>
              <a:rPr sz="1150" b="0" i="0">
                <a:solidFill>
                  <a:srgbClr val="2B2B2B"/>
                </a:solidFill>
                <a:latin typeface="Calibri"/>
              </a:rPr>
              <a:t/>
            </a:r>
          </a:p>
          <a:p>
            <a:pPr algn="l">
              <a:lnSpc>
                <a:spcPct val="105000"/>
              </a:lnSpc>
              <a:spcAft>
                <a:spcPts val="0"/>
              </a:spcAft>
            </a:pPr>
            <a:r>
              <a:rPr sz="1150" b="1" i="0">
                <a:solidFill>
                  <a:srgbClr val="2B2B2B"/>
                </a:solidFill>
                <a:latin typeface="Calibri"/>
              </a:rPr>
              <a:t>Four documents, one stylesheet. </a:t>
            </a:r>
            <a:r>
              <a:rPr sz="1150" b="0" i="0">
                <a:solidFill>
                  <a:srgbClr val="2B2B2B"/>
                </a:solidFill>
                <a:latin typeface="Calibri"/>
              </a:rPr>
              <a:t>Prescription, medical certificate, invoice and weekly report, rendered by WeasyPrint with a diagonal watermark, the doctor's registration and a provenance footer. Downloads use presigned URLs that expire in 15 minutes.</a:t>
            </a:r>
          </a:p>
          <a:p>
            <a:pPr algn="l">
              <a:lnSpc>
                <a:spcPct val="105000"/>
              </a:lnSpc>
              <a:spcAft>
                <a:spcPts val="0"/>
              </a:spcAft>
            </a:pPr>
            <a:r>
              <a:rPr sz="1150" b="0" i="0">
                <a:solidFill>
                  <a:srgbClr val="2B2B2B"/>
                </a:solidFill>
                <a:latin typeface="Calibri"/>
              </a:rPr>
              <a:t/>
            </a:r>
          </a:p>
          <a:p>
            <a:pPr algn="l">
              <a:lnSpc>
                <a:spcPct val="105000"/>
              </a:lnSpc>
              <a:spcAft>
                <a:spcPts val="0"/>
              </a:spcAft>
            </a:pPr>
            <a:r>
              <a:rPr sz="1150" b="1" i="0">
                <a:solidFill>
                  <a:srgbClr val="2B2B2B"/>
                </a:solidFill>
                <a:latin typeface="Calibri"/>
              </a:rPr>
              <a:t>Identity linking. </a:t>
            </a:r>
            <a:r>
              <a:rPr sz="1150" b="0" i="0">
                <a:solidFill>
                  <a:srgbClr val="2B2B2B"/>
                </a:solidFill>
                <a:latin typeface="Calibri"/>
              </a:rPr>
              <a:t>A walk-in patient created with an email is linked automatically when they register with the same email; every link is audited.</a:t>
            </a:r>
          </a:p>
        </p:txBody>
      </p:sp>
      <p:pic>
        <p:nvPicPr>
          <p:cNvPr id="21" name="Picture 20" descr="prescription_pdf.png"/>
          <p:cNvPicPr>
            <a:picLocks noChangeAspect="1"/>
          </p:cNvPicPr>
          <p:nvPr/>
        </p:nvPicPr>
        <p:blipFill>
          <a:blip r:embed="rId5"/>
          <a:stretch>
            <a:fillRect/>
          </a:stretch>
        </p:blipFill>
        <p:spPr>
          <a:xfrm>
            <a:off x="7086600" y="2014130"/>
            <a:ext cx="4663440" cy="3881299"/>
          </a:xfrm>
          <a:prstGeom prst="rect">
            <a:avLst/>
          </a:prstGeom>
        </p:spPr>
      </p:pic>
      <p:sp>
        <p:nvSpPr>
          <p:cNvPr id="22" name="Rectangle 21"/>
          <p:cNvSpPr/>
          <p:nvPr/>
        </p:nvSpPr>
        <p:spPr>
          <a:xfrm>
            <a:off x="7068312" y="1995842"/>
            <a:ext cx="4700016" cy="3917875"/>
          </a:xfrm>
          <a:prstGeom prst="rect">
            <a:avLst/>
          </a:prstGeom>
          <a:noFill/>
          <a:ln w="9525">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086600" y="6016752"/>
            <a:ext cx="4663440" cy="274320"/>
          </a:xfrm>
          <a:prstGeom prst="rect">
            <a:avLst/>
          </a:prstGeom>
          <a:noFill/>
        </p:spPr>
        <p:txBody>
          <a:bodyPr wrap="square" lIns="0" rIns="0" tIns="0" bIns="0" anchor="t"/>
          <a:lstStyle/>
          <a:p>
            <a:pPr algn="ctr">
              <a:lnSpc>
                <a:spcPct val="115000"/>
              </a:lnSpc>
              <a:spcAft>
                <a:spcPts val="0"/>
              </a:spcAft>
            </a:pPr>
            <a:r>
              <a:rPr sz="1000" b="0" i="1">
                <a:solidFill>
                  <a:srgbClr val="5A5A5A"/>
                </a:solidFill>
                <a:latin typeface="Calibri"/>
              </a:rPr>
              <a:t>Issued prescription PDF (16,980 bytes, verified as %PDF in the end-to-end test)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17</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TAP-QA: The Benchmark We Built</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Synthetic patients with planted corrections, so the right answer is known by construction</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Nihal</a:t>
            </a:r>
          </a:p>
        </p:txBody>
      </p:sp>
      <p:pic>
        <p:nvPicPr>
          <p:cNvPr id="11" name="Picture 10" descr="benchmark.png"/>
          <p:cNvPicPr>
            <a:picLocks noChangeAspect="1"/>
          </p:cNvPicPr>
          <p:nvPr/>
        </p:nvPicPr>
        <p:blipFill>
          <a:blip r:embed="rId5"/>
          <a:stretch>
            <a:fillRect/>
          </a:stretch>
        </p:blipFill>
        <p:spPr>
          <a:xfrm>
            <a:off x="411479" y="1942907"/>
            <a:ext cx="6675120" cy="2103504"/>
          </a:xfrm>
          <a:prstGeom prst="rect">
            <a:avLst/>
          </a:prstGeom>
        </p:spPr>
      </p:pic>
      <p:sp>
        <p:nvSpPr>
          <p:cNvPr id="12" name="TextBox 11"/>
          <p:cNvSpPr txBox="1"/>
          <p:nvPr/>
        </p:nvSpPr>
        <p:spPr>
          <a:xfrm>
            <a:off x="411480" y="4160520"/>
            <a:ext cx="6675120" cy="320040"/>
          </a:xfrm>
          <a:prstGeom prst="rect">
            <a:avLst/>
          </a:prstGeom>
          <a:noFill/>
        </p:spPr>
        <p:txBody>
          <a:bodyPr wrap="square" lIns="0" rIns="0" tIns="0" bIns="0" anchor="t"/>
          <a:lstStyle/>
          <a:p>
            <a:pPr algn="l">
              <a:lnSpc>
                <a:spcPct val="115000"/>
              </a:lnSpc>
              <a:spcAft>
                <a:spcPts val="0"/>
              </a:spcAft>
            </a:pPr>
            <a:r>
              <a:rPr sz="1400" b="1" i="0">
                <a:solidFill>
                  <a:srgbClr val="BC312C"/>
                </a:solidFill>
                <a:latin typeface="Calibri"/>
              </a:rPr>
              <a:t>Design decisions</a:t>
            </a:r>
          </a:p>
        </p:txBody>
      </p:sp>
      <p:sp>
        <p:nvSpPr>
          <p:cNvPr id="13" name="TextBox 12"/>
          <p:cNvSpPr txBox="1"/>
          <p:nvPr/>
        </p:nvSpPr>
        <p:spPr>
          <a:xfrm>
            <a:off x="411480" y="4480560"/>
            <a:ext cx="6675120" cy="1828800"/>
          </a:xfrm>
          <a:prstGeom prst="rect">
            <a:avLst/>
          </a:prstGeom>
          <a:noFill/>
        </p:spPr>
        <p:txBody>
          <a:bodyPr wrap="square" lIns="0" rIns="0" tIns="0" bIns="0" anchor="t"/>
          <a:lstStyle/>
          <a:p>
            <a:pPr algn="l" marL="132715" indent="-132715">
              <a:lnSpc>
                <a:spcPct val="115000"/>
              </a:lnSpc>
              <a:spcAft>
                <a:spcPts val="100"/>
              </a:spcAft>
              <a:buChar char="•"/>
            </a:pPr>
            <a:r>
              <a:rPr sz="1100" b="0" i="0">
                <a:solidFill>
                  <a:srgbClr val="2B2B2B"/>
                </a:solidFill>
                <a:latin typeface="Calibri"/>
              </a:rPr>
              <a:t>Correction shifts the value by 12–55 % of the reference range; filed 1, 3 or 14 days later (skewed), so size and age give nothing away</a:t>
            </a:r>
          </a:p>
          <a:p>
            <a:pPr algn="l" marL="132715" indent="-132715">
              <a:lnSpc>
                <a:spcPct val="115000"/>
              </a:lnSpc>
              <a:spcAft>
                <a:spcPts val="100"/>
              </a:spcAft>
              <a:buChar char="•"/>
            </a:pPr>
            <a:r>
              <a:rPr sz="1100" b="0" i="0">
                <a:solidFill>
                  <a:srgbClr val="2B2B2B"/>
                </a:solidFill>
                <a:latin typeface="Calibri"/>
              </a:rPr>
              <a:t>Distractor corrections on tests no query asks about penalise blanket demotion of corrections</a:t>
            </a:r>
          </a:p>
          <a:p>
            <a:pPr algn="l" marL="132715" indent="-132715">
              <a:lnSpc>
                <a:spcPct val="115000"/>
              </a:lnSpc>
              <a:spcAft>
                <a:spcPts val="100"/>
              </a:spcAft>
              <a:buChar char="•"/>
            </a:pPr>
            <a:r>
              <a:rPr sz="1100" b="0" i="0">
                <a:solidFill>
                  <a:srgbClr val="2B2B2B"/>
                </a:solidFill>
                <a:latin typeface="Calibri"/>
              </a:rPr>
              <a:t>Why synthetic: in real charts the correction is almost always the newest entry, which makes recency look like a fix</a:t>
            </a:r>
          </a:p>
          <a:p>
            <a:pPr algn="l" marL="132715" indent="-132715">
              <a:lnSpc>
                <a:spcPct val="115000"/>
              </a:lnSpc>
              <a:spcAft>
                <a:spcPts val="100"/>
              </a:spcAft>
              <a:buChar char="•"/>
            </a:pPr>
            <a:r>
              <a:rPr sz="1100" b="0" i="0">
                <a:solidFill>
                  <a:srgbClr val="2B2B2B"/>
                </a:solidFill>
                <a:latin typeface="Calibri"/>
              </a:rPr>
              <a:t>Seed 20260714 repeats everything: 274 patients, 1,001 corrections, 852 queries</a:t>
            </a:r>
          </a:p>
        </p:txBody>
      </p:sp>
      <p:sp>
        <p:nvSpPr>
          <p:cNvPr id="14" name="TextBox 13"/>
          <p:cNvSpPr txBox="1"/>
          <p:nvPr/>
        </p:nvSpPr>
        <p:spPr>
          <a:xfrm>
            <a:off x="7360920" y="1874519"/>
            <a:ext cx="4389120" cy="320040"/>
          </a:xfrm>
          <a:prstGeom prst="rect">
            <a:avLst/>
          </a:prstGeom>
          <a:noFill/>
        </p:spPr>
        <p:txBody>
          <a:bodyPr wrap="square" lIns="0" rIns="0" tIns="0" bIns="0" anchor="t"/>
          <a:lstStyle/>
          <a:p>
            <a:pPr algn="l">
              <a:lnSpc>
                <a:spcPct val="115000"/>
              </a:lnSpc>
              <a:spcAft>
                <a:spcPts val="0"/>
              </a:spcAft>
            </a:pPr>
            <a:r>
              <a:rPr sz="1400" b="1" i="0">
                <a:solidFill>
                  <a:srgbClr val="BC312C"/>
                </a:solidFill>
                <a:latin typeface="Calibri"/>
              </a:rPr>
              <a:t>How we score</a:t>
            </a:r>
          </a:p>
        </p:txBody>
      </p:sp>
      <p:graphicFrame>
        <p:nvGraphicFramePr>
          <p:cNvPr id="15" name="Table 14"/>
          <p:cNvGraphicFramePr>
            <a:graphicFrameLocks noGrp="1"/>
          </p:cNvGraphicFramePr>
          <p:nvPr/>
        </p:nvGraphicFramePr>
        <p:xfrm>
          <a:off x="7360920" y="2240280"/>
          <a:ext cx="4389120" cy="1325878"/>
        </p:xfrm>
        <a:graphic>
          <a:graphicData uri="http://schemas.openxmlformats.org/drawingml/2006/table">
            <a:tbl>
              <a:tblPr firstRow="0" bandRow="0">
                <a:tableStyleId>{5C22544A-7EE6-4342-B048-85BDC9FD1C3A}</a:tableStyleId>
              </a:tblPr>
              <a:tblGrid>
                <a:gridCol w="1755648"/>
                <a:gridCol w="2633472"/>
              </a:tblGrid>
              <a:tr h="251460">
                <a:tc>
                  <a:txBody>
                    <a:bodyPr wrap="square"/>
                    <a:lstStyle/>
                    <a:p>
                      <a:r>
                        <a:rPr sz="1050" b="1">
                          <a:solidFill>
                            <a:srgbClr val="FFFFFF"/>
                          </a:solidFill>
                          <a:latin typeface="Calibri"/>
                        </a:rPr>
                        <a:t>Metric</a:t>
                      </a:r>
                    </a:p>
                  </a:txBody>
                  <a:tcPr marL="54864" marR="54864" marT="27432" marB="27432">
                    <a:solidFill>
                      <a:srgbClr val="BC312C"/>
                    </a:solidFill>
                  </a:tcPr>
                </a:tc>
                <a:tc>
                  <a:txBody>
                    <a:bodyPr wrap="square"/>
                    <a:lstStyle/>
                    <a:p>
                      <a:r>
                        <a:rPr sz="1050" b="1">
                          <a:solidFill>
                            <a:srgbClr val="FFFFFF"/>
                          </a:solidFill>
                          <a:latin typeface="Calibri"/>
                        </a:rPr>
                        <a:t>Meaning</a:t>
                      </a:r>
                    </a:p>
                  </a:txBody>
                  <a:tcPr marL="54864" marR="54864" marT="27432" marB="27432">
                    <a:solidFill>
                      <a:srgbClr val="BC312C"/>
                    </a:solidFill>
                  </a:tcPr>
                </a:tc>
              </a:tr>
              <a:tr h="411479">
                <a:tc>
                  <a:txBody>
                    <a:bodyPr wrap="square"/>
                    <a:lstStyle/>
                    <a:p>
                      <a:r>
                        <a:rPr sz="1050" b="1">
                          <a:solidFill>
                            <a:srgbClr val="2B2B2B"/>
                          </a:solidFill>
                          <a:latin typeface="Calibri"/>
                        </a:rPr>
                        <a:t>Stale answer rate (SAR)</a:t>
                      </a:r>
                    </a:p>
                  </a:txBody>
                  <a:tcPr marL="54864" marR="54864" marT="27432" marB="27432">
                    <a:solidFill>
                      <a:srgbClr val="FFFFFF"/>
                    </a:solidFill>
                  </a:tcPr>
                </a:tc>
                <a:tc>
                  <a:txBody>
                    <a:bodyPr wrap="square"/>
                    <a:lstStyle/>
                    <a:p>
                      <a:r>
                        <a:rPr sz="1050" b="0">
                          <a:solidFill>
                            <a:srgbClr val="2B2B2B"/>
                          </a:solidFill>
                          <a:latin typeface="Calibri"/>
                        </a:rPr>
                        <a:t>corrected queries whose top record is superseded at t</a:t>
                      </a:r>
                    </a:p>
                  </a:txBody>
                  <a:tcPr marL="54864" marR="54864" marT="27432" marB="27432">
                    <a:solidFill>
                      <a:srgbClr val="FFFFFF"/>
                    </a:solidFill>
                  </a:tcPr>
                </a:tc>
              </a:tr>
              <a:tr h="411479">
                <a:tc>
                  <a:txBody>
                    <a:bodyPr wrap="square"/>
                    <a:lstStyle/>
                    <a:p>
                      <a:r>
                        <a:rPr sz="1050" b="1">
                          <a:solidFill>
                            <a:srgbClr val="2B2B2B"/>
                          </a:solidFill>
                          <a:latin typeface="Calibri"/>
                        </a:rPr>
                        <a:t>Historical accuracy</a:t>
                      </a:r>
                    </a:p>
                  </a:txBody>
                  <a:tcPr marL="54864" marR="54864" marT="27432" marB="27432">
                    <a:solidFill>
                      <a:srgbClr val="FBEAEA"/>
                    </a:solidFill>
                  </a:tcPr>
                </a:tc>
                <a:tc>
                  <a:txBody>
                    <a:bodyPr wrap="square"/>
                    <a:lstStyle/>
                    <a:p>
                      <a:r>
                        <a:rPr sz="1050" b="0">
                          <a:solidFill>
                            <a:srgbClr val="2B2B2B"/>
                          </a:solidFill>
                          <a:latin typeface="Calibri"/>
                        </a:rPr>
                        <a:t>as-of queries whose top record was in force at t</a:t>
                      </a:r>
                    </a:p>
                  </a:txBody>
                  <a:tcPr marL="54864" marR="54864" marT="27432" marB="27432">
                    <a:solidFill>
                      <a:srgbClr val="FBEAEA"/>
                    </a:solidFill>
                  </a:tcPr>
                </a:tc>
              </a:tr>
              <a:tr h="251460">
                <a:tc>
                  <a:txBody>
                    <a:bodyPr wrap="square"/>
                    <a:lstStyle/>
                    <a:p>
                      <a:r>
                        <a:rPr sz="1050" b="1">
                          <a:solidFill>
                            <a:srgbClr val="2B2B2B"/>
                          </a:solidFill>
                          <a:latin typeface="Calibri"/>
                        </a:rPr>
                        <a:t>Safe answer</a:t>
                      </a:r>
                    </a:p>
                  </a:txBody>
                  <a:tcPr marL="54864" marR="54864" marT="27432" marB="27432">
                    <a:solidFill>
                      <a:srgbClr val="FFFFFF"/>
                    </a:solidFill>
                  </a:tcPr>
                </a:tc>
                <a:tc>
                  <a:txBody>
                    <a:bodyPr wrap="square"/>
                    <a:lstStyle/>
                    <a:p>
                      <a:r>
                        <a:rPr sz="1050" b="0">
                          <a:solidFill>
                            <a:srgbClr val="2B2B2B"/>
                          </a:solidFill>
                          <a:latin typeface="Calibri"/>
                        </a:rPr>
                        <a:t>top record is gold and not superseded</a:t>
                      </a:r>
                    </a:p>
                  </a:txBody>
                  <a:tcPr marL="54864" marR="54864" marT="27432" marB="27432">
                    <a:solidFill>
                      <a:srgbClr val="FFFFFF"/>
                    </a:solidFill>
                  </a:tcPr>
                </a:tc>
              </a:tr>
            </a:tbl>
          </a:graphicData>
        </a:graphic>
      </p:graphicFrame>
      <p:sp>
        <p:nvSpPr>
          <p:cNvPr id="16" name="TextBox 15"/>
          <p:cNvSpPr txBox="1"/>
          <p:nvPr/>
        </p:nvSpPr>
        <p:spPr>
          <a:xfrm>
            <a:off x="7360920" y="3703320"/>
            <a:ext cx="4389120" cy="2743200"/>
          </a:xfrm>
          <a:prstGeom prst="rect">
            <a:avLst/>
          </a:prstGeom>
          <a:noFill/>
        </p:spPr>
        <p:txBody>
          <a:bodyPr wrap="square" lIns="0" rIns="0" tIns="0" bIns="0" anchor="t"/>
          <a:lstStyle/>
          <a:p>
            <a:pPr algn="l" marL="132715" indent="-132715">
              <a:lnSpc>
                <a:spcPct val="115000"/>
              </a:lnSpc>
              <a:spcAft>
                <a:spcPts val="100"/>
              </a:spcAft>
              <a:buChar char="•"/>
            </a:pPr>
            <a:r>
              <a:rPr sz="1100" b="0" i="0">
                <a:solidFill>
                  <a:srgbClr val="2B2B2B"/>
                </a:solidFill>
                <a:latin typeface="Calibri"/>
              </a:rPr>
              <a:t>Harness calls the shipping ValidityAwareRetriever through a thin adapter</a:t>
            </a:r>
          </a:p>
          <a:p>
            <a:pPr algn="l" marL="132715" indent="-132715">
              <a:lnSpc>
                <a:spcPct val="115000"/>
              </a:lnSpc>
              <a:spcAft>
                <a:spcPts val="100"/>
              </a:spcAft>
              <a:buChar char="•"/>
            </a:pPr>
            <a:r>
              <a:rPr sz="1100" b="0" i="0">
                <a:solidFill>
                  <a:srgbClr val="2B2B2B"/>
                </a:solidFill>
                <a:latin typeface="Calibri"/>
              </a:rPr>
              <a:t>Tie-aware ranks: two records tied at the top each get rank 1.5</a:t>
            </a:r>
          </a:p>
          <a:p>
            <a:pPr algn="l" marL="132715" indent="-132715">
              <a:lnSpc>
                <a:spcPct val="115000"/>
              </a:lnSpc>
              <a:spcAft>
                <a:spcPts val="100"/>
              </a:spcAft>
              <a:buChar char="•"/>
            </a:pPr>
            <a:r>
              <a:rPr sz="1100" b="0" i="0">
                <a:solidFill>
                  <a:srgbClr val="2B2B2B"/>
                </a:solidFill>
                <a:latin typeface="Calibri"/>
              </a:rPr>
              <a:t>45 configurations per seed: 10 methods + 35 decay settings</a:t>
            </a:r>
          </a:p>
          <a:p>
            <a:pPr algn="l" marL="132715" indent="-132715">
              <a:lnSpc>
                <a:spcPct val="115000"/>
              </a:lnSpc>
              <a:spcAft>
                <a:spcPts val="100"/>
              </a:spcAft>
              <a:buChar char="•"/>
            </a:pPr>
            <a:r>
              <a:rPr sz="1100" b="0" i="0">
                <a:solidFill>
                  <a:srgbClr val="2B2B2B"/>
                </a:solidFill>
                <a:latin typeface="Calibri"/>
              </a:rPr>
              <a:t>10,000 bootstrap resamples clustered by patient; McNemar's exact test on paired outcomes</a:t>
            </a:r>
          </a:p>
          <a:p>
            <a:pPr algn="l" marL="132715" indent="-132715">
              <a:lnSpc>
                <a:spcPct val="115000"/>
              </a:lnSpc>
              <a:spcAft>
                <a:spcPts val="100"/>
              </a:spcAft>
              <a:buChar char="•"/>
            </a:pPr>
            <a:r>
              <a:rPr sz="1100" b="0" i="0">
                <a:solidFill>
                  <a:srgbClr val="2B2B2B"/>
                </a:solidFill>
                <a:latin typeface="Calibri"/>
              </a:rPr>
              <a:t>One command per seed, byte-identical reruns, 57 s per full run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18</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Results: Ten Methods, Two Seeds</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Only the graph-based rankers get both goals right</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Nihal</a:t>
            </a:r>
          </a:p>
        </p:txBody>
      </p:sp>
      <p:pic>
        <p:nvPicPr>
          <p:cNvPr id="11" name="Picture 10" descr="methods_bars.png"/>
          <p:cNvPicPr>
            <a:picLocks noChangeAspect="1"/>
          </p:cNvPicPr>
          <p:nvPr/>
        </p:nvPicPr>
        <p:blipFill>
          <a:blip r:embed="rId5"/>
          <a:stretch>
            <a:fillRect/>
          </a:stretch>
        </p:blipFill>
        <p:spPr>
          <a:xfrm>
            <a:off x="411480" y="1910739"/>
            <a:ext cx="8138160" cy="3448001"/>
          </a:xfrm>
          <a:prstGeom prst="rect">
            <a:avLst/>
          </a:prstGeom>
        </p:spPr>
      </p:pic>
      <p:sp>
        <p:nvSpPr>
          <p:cNvPr id="12" name="Rounded Rectangle 11"/>
          <p:cNvSpPr/>
          <p:nvPr/>
        </p:nvSpPr>
        <p:spPr>
          <a:xfrm>
            <a:off x="8778240" y="1874519"/>
            <a:ext cx="2971800" cy="804672"/>
          </a:xfrm>
          <a:prstGeom prst="roundRect">
            <a:avLst>
              <a:gd name="adj" fmla="val 8000"/>
            </a:avLst>
          </a:prstGeom>
          <a:solidFill>
            <a:srgbClr val="E6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95000"/>
              </a:lnSpc>
            </a:pPr>
            <a:r>
              <a:rPr sz="1700" b="1" i="0">
                <a:solidFill>
                  <a:srgbClr val="1F6F5C"/>
                </a:solidFill>
                <a:latin typeface="Calibri"/>
              </a:rPr>
              <a:t>0.0 %</a:t>
            </a:r>
          </a:p>
          <a:p>
            <a:pPr algn="ctr">
              <a:lnSpc>
                <a:spcPct val="95000"/>
              </a:lnSpc>
            </a:pPr>
            <a:r>
              <a:rPr sz="950" b="0" i="0">
                <a:solidFill>
                  <a:srgbClr val="5A5A5A"/>
                </a:solidFill>
                <a:latin typeface="Calibri"/>
              </a:rPr>
              <a:t>stale answers, both seeds</a:t>
            </a:r>
          </a:p>
          <a:p>
            <a:pPr algn="ctr">
              <a:lnSpc>
                <a:spcPct val="95000"/>
              </a:lnSpc>
            </a:pPr>
            <a:r>
              <a:rPr sz="950" b="0" i="0">
                <a:solidFill>
                  <a:srgbClr val="5A5A5A"/>
                </a:solidFill>
                <a:latin typeface="Calibri"/>
              </a:rPr>
              <a:t>(0 of 200 each; 95 % upper bound ≈ 1.9 %)</a:t>
            </a:r>
          </a:p>
        </p:txBody>
      </p:sp>
      <p:sp>
        <p:nvSpPr>
          <p:cNvPr id="13" name="Rounded Rectangle 12"/>
          <p:cNvSpPr/>
          <p:nvPr/>
        </p:nvSpPr>
        <p:spPr>
          <a:xfrm>
            <a:off x="8778240" y="2788920"/>
            <a:ext cx="2971800" cy="804672"/>
          </a:xfrm>
          <a:prstGeom prst="roundRect">
            <a:avLst>
              <a:gd name="adj" fmla="val 8000"/>
            </a:avLst>
          </a:prstGeom>
          <a:solidFill>
            <a:srgbClr val="E6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95000"/>
              </a:lnSpc>
            </a:pPr>
            <a:r>
              <a:rPr sz="1700" b="1" i="0">
                <a:solidFill>
                  <a:srgbClr val="1F6F5C"/>
                </a:solidFill>
                <a:latin typeface="Calibri"/>
              </a:rPr>
              <a:t>97.8 %</a:t>
            </a:r>
          </a:p>
          <a:p>
            <a:pPr algn="ctr">
              <a:lnSpc>
                <a:spcPct val="95000"/>
              </a:lnSpc>
            </a:pPr>
            <a:r>
              <a:rPr sz="950" b="0" i="0">
                <a:solidFill>
                  <a:srgbClr val="5A5A5A"/>
                </a:solidFill>
                <a:latin typeface="Calibri"/>
              </a:rPr>
              <a:t>historical accuracy</a:t>
            </a:r>
          </a:p>
          <a:p>
            <a:pPr algn="ctr">
              <a:lnSpc>
                <a:spcPct val="95000"/>
              </a:lnSpc>
            </a:pPr>
            <a:r>
              <a:rPr sz="950" b="0" i="0">
                <a:solidFill>
                  <a:srgbClr val="5A5A5A"/>
                </a:solidFill>
                <a:latin typeface="Calibri"/>
              </a:rPr>
              <a:t>(391 of 400 on each seed)</a:t>
            </a:r>
          </a:p>
        </p:txBody>
      </p:sp>
      <p:sp>
        <p:nvSpPr>
          <p:cNvPr id="14" name="Rounded Rectangle 13"/>
          <p:cNvSpPr/>
          <p:nvPr/>
        </p:nvSpPr>
        <p:spPr>
          <a:xfrm>
            <a:off x="8778240" y="3703320"/>
            <a:ext cx="2971800" cy="804672"/>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95000"/>
              </a:lnSpc>
            </a:pPr>
            <a:r>
              <a:rPr sz="1700" b="1" i="0">
                <a:solidFill>
                  <a:srgbClr val="2B2B2B"/>
                </a:solidFill>
                <a:latin typeface="Calibri"/>
              </a:rPr>
              <a:t>p = 2.7×10⁻⁵</a:t>
            </a:r>
          </a:p>
          <a:p>
            <a:pPr algn="ctr">
              <a:lnSpc>
                <a:spcPct val="95000"/>
              </a:lnSpc>
            </a:pPr>
            <a:r>
              <a:rPr sz="950" b="0" i="0">
                <a:solidFill>
                  <a:srgbClr val="5A5A5A"/>
                </a:solidFill>
                <a:latin typeface="Calibri"/>
              </a:rPr>
              <a:t>McNemar vs bitemporal,</a:t>
            </a:r>
          </a:p>
          <a:p>
            <a:pPr algn="ctr">
              <a:lnSpc>
                <a:spcPct val="95000"/>
              </a:lnSpc>
            </a:pPr>
            <a:r>
              <a:rPr sz="950" b="0" i="0">
                <a:solidFill>
                  <a:srgbClr val="5A5A5A"/>
                </a:solidFill>
                <a:latin typeface="Calibri"/>
              </a:rPr>
              <a:t>safe-answer outcome, seed 1</a:t>
            </a:r>
          </a:p>
        </p:txBody>
      </p:sp>
      <p:sp>
        <p:nvSpPr>
          <p:cNvPr id="15" name="Rounded Rectangle 14"/>
          <p:cNvSpPr/>
          <p:nvPr/>
        </p:nvSpPr>
        <p:spPr>
          <a:xfrm>
            <a:off x="8778240" y="4617720"/>
            <a:ext cx="2971800" cy="804672"/>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95000"/>
              </a:lnSpc>
            </a:pPr>
            <a:r>
              <a:rPr sz="1700" b="1" i="0">
                <a:solidFill>
                  <a:srgbClr val="2B2B2B"/>
                </a:solidFill>
                <a:latin typeface="Calibri"/>
              </a:rPr>
              <a:t>p = 8.0×10⁻²⁷</a:t>
            </a:r>
          </a:p>
          <a:p>
            <a:pPr algn="ctr">
              <a:lnSpc>
                <a:spcPct val="95000"/>
              </a:lnSpc>
            </a:pPr>
            <a:r>
              <a:rPr sz="950" b="0" i="0">
                <a:solidFill>
                  <a:srgbClr val="5A5A5A"/>
                </a:solidFill>
                <a:latin typeface="Calibri"/>
              </a:rPr>
              <a:t>McNemar vs dense-only,</a:t>
            </a:r>
          </a:p>
          <a:p>
            <a:pPr algn="ctr">
              <a:lnSpc>
                <a:spcPct val="95000"/>
              </a:lnSpc>
            </a:pPr>
            <a:r>
              <a:rPr sz="950" b="0" i="0">
                <a:solidFill>
                  <a:srgbClr val="5A5A5A"/>
                </a:solidFill>
                <a:latin typeface="Calibri"/>
              </a:rPr>
              <a:t>safe-answer outcome, seed 1</a:t>
            </a:r>
          </a:p>
        </p:txBody>
      </p:sp>
      <p:sp>
        <p:nvSpPr>
          <p:cNvPr id="16" name="TextBox 15"/>
          <p:cNvSpPr txBox="1"/>
          <p:nvPr/>
        </p:nvSpPr>
        <p:spPr>
          <a:xfrm>
            <a:off x="411480" y="5532120"/>
            <a:ext cx="11338560" cy="731520"/>
          </a:xfrm>
          <a:prstGeom prst="rect">
            <a:avLst/>
          </a:prstGeom>
          <a:noFill/>
        </p:spPr>
        <p:txBody>
          <a:bodyPr wrap="square" lIns="0" rIns="0" tIns="0" bIns="0" anchor="t"/>
          <a:lstStyle/>
          <a:p>
            <a:pPr algn="l">
              <a:lnSpc>
                <a:spcPct val="115000"/>
              </a:lnSpc>
              <a:spcAft>
                <a:spcPts val="0"/>
              </a:spcAft>
            </a:pPr>
            <a:r>
              <a:rPr sz="1150" b="1" i="0">
                <a:solidFill>
                  <a:srgbClr val="2B2B2B"/>
                </a:solidFill>
                <a:latin typeface="Calibri"/>
              </a:rPr>
              <a:t>Reading it: </a:t>
            </a:r>
            <a:r>
              <a:rPr sz="1150" b="0" i="0">
                <a:solidFill>
                  <a:srgbClr val="2B2B2B"/>
                </a:solidFill>
                <a:latin typeface="Calibri"/>
              </a:rPr>
              <a:t>Valid-time only and Latest-N reach 0 % SAR only by never answering the past (0 % historical). The patient-clustered 95 % interval on our historical gain over bitemporal is [+0.875, +0.948].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19</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Results: The Edge Is What Matters</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All 45 configurations, and an honest finding about our own weighting</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Nihal</a:t>
            </a:r>
          </a:p>
        </p:txBody>
      </p:sp>
      <p:pic>
        <p:nvPicPr>
          <p:cNvPr id="11" name="Picture 10" descr="plane.png"/>
          <p:cNvPicPr>
            <a:picLocks noChangeAspect="1"/>
          </p:cNvPicPr>
          <p:nvPr/>
        </p:nvPicPr>
        <p:blipFill>
          <a:blip r:embed="rId5"/>
          <a:stretch>
            <a:fillRect/>
          </a:stretch>
        </p:blipFill>
        <p:spPr>
          <a:xfrm>
            <a:off x="477600" y="1828800"/>
            <a:ext cx="5902798" cy="4023360"/>
          </a:xfrm>
          <a:prstGeom prst="rect">
            <a:avLst/>
          </a:prstGeom>
        </p:spPr>
      </p:pic>
      <p:sp>
        <p:nvSpPr>
          <p:cNvPr id="12" name="TextBox 11"/>
          <p:cNvSpPr txBox="1"/>
          <p:nvPr/>
        </p:nvSpPr>
        <p:spPr>
          <a:xfrm>
            <a:off x="411480" y="5852160"/>
            <a:ext cx="6035040" cy="411480"/>
          </a:xfrm>
          <a:prstGeom prst="rect">
            <a:avLst/>
          </a:prstGeom>
          <a:noFill/>
        </p:spPr>
        <p:txBody>
          <a:bodyPr wrap="square" lIns="0" rIns="0" tIns="0" bIns="0" anchor="t"/>
          <a:lstStyle/>
          <a:p>
            <a:pPr algn="ctr">
              <a:lnSpc>
                <a:spcPct val="115000"/>
              </a:lnSpc>
              <a:spcAft>
                <a:spcPts val="0"/>
              </a:spcAft>
            </a:pPr>
            <a:r>
              <a:rPr sz="1050" b="0" i="1">
                <a:solidFill>
                  <a:srgbClr val="5A5A5A"/>
                </a:solidFill>
                <a:latin typeface="Calibri"/>
              </a:rPr>
              <a:t>Seed 20260601; seed 20260714 gives the same picture.</a:t>
            </a:r>
          </a:p>
        </p:txBody>
      </p:sp>
      <p:sp>
        <p:nvSpPr>
          <p:cNvPr id="13" name="TextBox 12"/>
          <p:cNvSpPr txBox="1"/>
          <p:nvPr/>
        </p:nvSpPr>
        <p:spPr>
          <a:xfrm>
            <a:off x="6675120" y="1874519"/>
            <a:ext cx="5074920" cy="320040"/>
          </a:xfrm>
          <a:prstGeom prst="rect">
            <a:avLst/>
          </a:prstGeom>
          <a:noFill/>
        </p:spPr>
        <p:txBody>
          <a:bodyPr wrap="square" lIns="0" rIns="0" tIns="0" bIns="0" anchor="t"/>
          <a:lstStyle/>
          <a:p>
            <a:pPr algn="l">
              <a:lnSpc>
                <a:spcPct val="115000"/>
              </a:lnSpc>
              <a:spcAft>
                <a:spcPts val="0"/>
              </a:spcAft>
            </a:pPr>
            <a:r>
              <a:rPr sz="1400" b="1" i="0">
                <a:solidFill>
                  <a:srgbClr val="BC312C"/>
                </a:solidFill>
                <a:latin typeface="Calibri"/>
              </a:rPr>
              <a:t>Hard filter vs our weighted rule</a:t>
            </a:r>
          </a:p>
        </p:txBody>
      </p:sp>
      <p:graphicFrame>
        <p:nvGraphicFramePr>
          <p:cNvPr id="14" name="Table 13"/>
          <p:cNvGraphicFramePr>
            <a:graphicFrameLocks noGrp="1"/>
          </p:cNvGraphicFramePr>
          <p:nvPr/>
        </p:nvGraphicFramePr>
        <p:xfrm>
          <a:off x="6675120" y="2240280"/>
          <a:ext cx="5074919" cy="1257300"/>
        </p:xfrm>
        <a:graphic>
          <a:graphicData uri="http://schemas.openxmlformats.org/drawingml/2006/table">
            <a:tbl>
              <a:tblPr firstRow="0" bandRow="0">
                <a:tableStyleId>{5C22544A-7EE6-4342-B048-85BDC9FD1C3A}</a:tableStyleId>
              </a:tblPr>
              <a:tblGrid>
                <a:gridCol w="2029968"/>
                <a:gridCol w="1573225"/>
                <a:gridCol w="1471726"/>
              </a:tblGrid>
              <a:tr h="251460">
                <a:tc>
                  <a:txBody>
                    <a:bodyPr wrap="square"/>
                    <a:lstStyle/>
                    <a:p>
                      <a:r>
                        <a:rPr sz="1050" b="1">
                          <a:solidFill>
                            <a:srgbClr val="FFFFFF"/>
                          </a:solidFill>
                          <a:latin typeface="Calibri"/>
                        </a:rPr>
                        <a:t/>
                      </a:r>
                    </a:p>
                  </a:txBody>
                  <a:tcPr marL="54864" marR="54864" marT="27432" marB="27432">
                    <a:solidFill>
                      <a:srgbClr val="BC312C"/>
                    </a:solidFill>
                  </a:tcPr>
                </a:tc>
                <a:tc>
                  <a:txBody>
                    <a:bodyPr wrap="square"/>
                    <a:lstStyle/>
                    <a:p>
                      <a:r>
                        <a:rPr sz="1050" b="1">
                          <a:solidFill>
                            <a:srgbClr val="FFFFFF"/>
                          </a:solidFill>
                          <a:latin typeface="Calibri"/>
                        </a:rPr>
                        <a:t>Graph filter (hard)</a:t>
                      </a:r>
                    </a:p>
                  </a:txBody>
                  <a:tcPr marL="54864" marR="54864" marT="27432" marB="27432">
                    <a:solidFill>
                      <a:srgbClr val="BC312C"/>
                    </a:solidFill>
                  </a:tcPr>
                </a:tc>
                <a:tc>
                  <a:txBody>
                    <a:bodyPr wrap="square"/>
                    <a:lstStyle/>
                    <a:p>
                      <a:r>
                        <a:rPr sz="1050" b="1">
                          <a:solidFill>
                            <a:srgbClr val="FFFFFF"/>
                          </a:solidFill>
                          <a:latin typeface="Calibri"/>
                        </a:rPr>
                        <a:t>Ours (soft weight)</a:t>
                      </a:r>
                    </a:p>
                  </a:txBody>
                  <a:tcPr marL="54864" marR="54864" marT="27432" marB="27432">
                    <a:solidFill>
                      <a:srgbClr val="BC312C"/>
                    </a:solidFill>
                  </a:tcPr>
                </a:tc>
              </a:tr>
              <a:tr h="251460">
                <a:tc>
                  <a:txBody>
                    <a:bodyPr wrap="square"/>
                    <a:lstStyle/>
                    <a:p>
                      <a:r>
                        <a:rPr sz="1050" b="1">
                          <a:solidFill>
                            <a:srgbClr val="2B2B2B"/>
                          </a:solidFill>
                          <a:latin typeface="Calibri"/>
                        </a:rPr>
                        <a:t>Historical accuracy, s1 / s2</a:t>
                      </a:r>
                    </a:p>
                  </a:txBody>
                  <a:tcPr marL="54864" marR="54864" marT="27432" marB="27432">
                    <a:solidFill>
                      <a:srgbClr val="FFFFFF"/>
                    </a:solidFill>
                  </a:tcPr>
                </a:tc>
                <a:tc>
                  <a:txBody>
                    <a:bodyPr wrap="square"/>
                    <a:lstStyle/>
                    <a:p>
                      <a:r>
                        <a:rPr sz="1050" b="0">
                          <a:solidFill>
                            <a:srgbClr val="2B2B2B"/>
                          </a:solidFill>
                          <a:latin typeface="Calibri"/>
                        </a:rPr>
                        <a:t>98.2 / 98.2 %</a:t>
                      </a:r>
                    </a:p>
                  </a:txBody>
                  <a:tcPr marL="54864" marR="54864" marT="27432" marB="27432">
                    <a:solidFill>
                      <a:srgbClr val="FFFFFF"/>
                    </a:solidFill>
                  </a:tcPr>
                </a:tc>
                <a:tc>
                  <a:txBody>
                    <a:bodyPr wrap="square"/>
                    <a:lstStyle/>
                    <a:p>
                      <a:r>
                        <a:rPr sz="1050" b="0">
                          <a:solidFill>
                            <a:srgbClr val="2B2B2B"/>
                          </a:solidFill>
                          <a:latin typeface="Calibri"/>
                        </a:rPr>
                        <a:t>97.8 / 97.8 %</a:t>
                      </a:r>
                    </a:p>
                  </a:txBody>
                  <a:tcPr marL="54864" marR="54864" marT="27432" marB="27432">
                    <a:solidFill>
                      <a:srgbClr val="FFFFFF"/>
                    </a:solidFill>
                  </a:tcPr>
                </a:tc>
              </a:tr>
              <a:tr h="251460">
                <a:tc>
                  <a:txBody>
                    <a:bodyPr wrap="square"/>
                    <a:lstStyle/>
                    <a:p>
                      <a:r>
                        <a:rPr sz="1050" b="1">
                          <a:solidFill>
                            <a:srgbClr val="2B2B2B"/>
                          </a:solidFill>
                          <a:latin typeface="Calibri"/>
                        </a:rPr>
                        <a:t>Safe answer, s1 / s2</a:t>
                      </a:r>
                    </a:p>
                  </a:txBody>
                  <a:tcPr marL="54864" marR="54864" marT="27432" marB="27432">
                    <a:solidFill>
                      <a:srgbClr val="FBEAEA"/>
                    </a:solidFill>
                  </a:tcPr>
                </a:tc>
                <a:tc>
                  <a:txBody>
                    <a:bodyPr wrap="square"/>
                    <a:lstStyle/>
                    <a:p>
                      <a:r>
                        <a:rPr sz="1050" b="0">
                          <a:solidFill>
                            <a:srgbClr val="2B2B2B"/>
                          </a:solidFill>
                          <a:latin typeface="Calibri"/>
                        </a:rPr>
                        <a:t>100.0 / 99.5 %</a:t>
                      </a:r>
                    </a:p>
                  </a:txBody>
                  <a:tcPr marL="54864" marR="54864" marT="27432" marB="27432">
                    <a:solidFill>
                      <a:srgbClr val="FBEAEA"/>
                    </a:solidFill>
                  </a:tcPr>
                </a:tc>
                <a:tc>
                  <a:txBody>
                    <a:bodyPr wrap="square"/>
                    <a:lstStyle/>
                    <a:p>
                      <a:r>
                        <a:rPr sz="1050" b="0">
                          <a:solidFill>
                            <a:srgbClr val="2B2B2B"/>
                          </a:solidFill>
                          <a:latin typeface="Calibri"/>
                        </a:rPr>
                        <a:t>98.5 / 96.0 %</a:t>
                      </a:r>
                    </a:p>
                  </a:txBody>
                  <a:tcPr marL="54864" marR="54864" marT="27432" marB="27432">
                    <a:solidFill>
                      <a:srgbClr val="FBEAEA"/>
                    </a:solidFill>
                  </a:tcPr>
                </a:tc>
              </a:tr>
              <a:tr h="251460">
                <a:tc>
                  <a:txBody>
                    <a:bodyPr wrap="square"/>
                    <a:lstStyle/>
                    <a:p>
                      <a:r>
                        <a:rPr sz="1050" b="1">
                          <a:solidFill>
                            <a:srgbClr val="2B2B2B"/>
                          </a:solidFill>
                          <a:latin typeface="Calibri"/>
                        </a:rPr>
                        <a:t>Unchanged queries, s1 / s2</a:t>
                      </a:r>
                    </a:p>
                  </a:txBody>
                  <a:tcPr marL="54864" marR="54864" marT="27432" marB="27432">
                    <a:solidFill>
                      <a:srgbClr val="FFFFFF"/>
                    </a:solidFill>
                  </a:tcPr>
                </a:tc>
                <a:tc>
                  <a:txBody>
                    <a:bodyPr wrap="square"/>
                    <a:lstStyle/>
                    <a:p>
                      <a:r>
                        <a:rPr sz="1050" b="0">
                          <a:solidFill>
                            <a:srgbClr val="2B2B2B"/>
                          </a:solidFill>
                          <a:latin typeface="Calibri"/>
                        </a:rPr>
                        <a:t>97.5 / 98.0 %</a:t>
                      </a:r>
                    </a:p>
                  </a:txBody>
                  <a:tcPr marL="54864" marR="54864" marT="27432" marB="27432">
                    <a:solidFill>
                      <a:srgbClr val="FFFFFF"/>
                    </a:solidFill>
                  </a:tcPr>
                </a:tc>
                <a:tc>
                  <a:txBody>
                    <a:bodyPr wrap="square"/>
                    <a:lstStyle/>
                    <a:p>
                      <a:r>
                        <a:rPr sz="1050" b="0">
                          <a:solidFill>
                            <a:srgbClr val="2B2B2B"/>
                          </a:solidFill>
                          <a:latin typeface="Calibri"/>
                        </a:rPr>
                        <a:t>94.5 / 96.5 %</a:t>
                      </a:r>
                    </a:p>
                  </a:txBody>
                  <a:tcPr marL="54864" marR="54864" marT="27432" marB="27432">
                    <a:solidFill>
                      <a:srgbClr val="FFFFFF"/>
                    </a:solidFill>
                  </a:tcPr>
                </a:tc>
              </a:tr>
              <a:tr h="251460">
                <a:tc>
                  <a:txBody>
                    <a:bodyPr wrap="square"/>
                    <a:lstStyle/>
                    <a:p>
                      <a:r>
                        <a:rPr sz="1050" b="1">
                          <a:solidFill>
                            <a:srgbClr val="2B2B2B"/>
                          </a:solidFill>
                          <a:latin typeface="Calibri"/>
                        </a:rPr>
                        <a:t>McNemar p, s1 / s2</a:t>
                      </a:r>
                    </a:p>
                  </a:txBody>
                  <a:tcPr marL="54864" marR="54864" marT="27432" marB="27432">
                    <a:solidFill>
                      <a:srgbClr val="FBEAEA"/>
                    </a:solidFill>
                  </a:tcPr>
                </a:tc>
                <a:tc>
                  <a:txBody>
                    <a:bodyPr wrap="square"/>
                    <a:lstStyle/>
                    <a:p>
                      <a:r>
                        <a:rPr sz="1050" b="0">
                          <a:solidFill>
                            <a:srgbClr val="2B2B2B"/>
                          </a:solidFill>
                          <a:latin typeface="Calibri"/>
                        </a:rPr>
                        <a:t>0.25 / 0.016 (filter better)</a:t>
                      </a:r>
                    </a:p>
                  </a:txBody>
                  <a:tcPr marL="54864" marR="54864" marT="27432" marB="27432">
                    <a:solidFill>
                      <a:srgbClr val="FBEAEA"/>
                    </a:solidFill>
                  </a:tcPr>
                </a:tc>
                <a:tc>
                  <a:txBody>
                    <a:bodyPr wrap="square"/>
                    <a:lstStyle/>
                    <a:p>
                      <a:r>
                        <a:rPr sz="1050" b="0">
                          <a:solidFill>
                            <a:srgbClr val="2B2B2B"/>
                          </a:solidFill>
                          <a:latin typeface="Calibri"/>
                        </a:rPr>
                        <a:t/>
                      </a:r>
                    </a:p>
                  </a:txBody>
                  <a:tcPr marL="54864" marR="54864" marT="27432" marB="27432">
                    <a:solidFill>
                      <a:srgbClr val="FBEAEA"/>
                    </a:solidFill>
                  </a:tcPr>
                </a:tc>
              </a:tr>
            </a:tbl>
          </a:graphicData>
        </a:graphic>
      </p:graphicFrame>
      <p:sp>
        <p:nvSpPr>
          <p:cNvPr id="15" name="TextBox 14"/>
          <p:cNvSpPr txBox="1"/>
          <p:nvPr/>
        </p:nvSpPr>
        <p:spPr>
          <a:xfrm>
            <a:off x="6675120" y="3634740"/>
            <a:ext cx="5074920" cy="3200400"/>
          </a:xfrm>
          <a:prstGeom prst="rect">
            <a:avLst/>
          </a:prstGeom>
          <a:noFill/>
        </p:spPr>
        <p:txBody>
          <a:bodyPr wrap="square" lIns="0" rIns="0" tIns="0" bIns="0" anchor="t"/>
          <a:lstStyle/>
          <a:p>
            <a:pPr algn="l" marL="138747" indent="-138747">
              <a:lnSpc>
                <a:spcPct val="115000"/>
              </a:lnSpc>
              <a:spcAft>
                <a:spcPts val="300"/>
              </a:spcAft>
              <a:buChar char="•"/>
            </a:pPr>
            <a:r>
              <a:rPr sz="1150" b="0" i="0">
                <a:solidFill>
                  <a:srgbClr val="2B2B2B"/>
                </a:solidFill>
                <a:latin typeface="Calibri"/>
              </a:rPr>
              <a:t>Same edges, no weights, no tiebreak, and it matches or beats us, so the contribution is the supersession relation itself</a:t>
            </a:r>
          </a:p>
          <a:p>
            <a:pPr algn="l" marL="138747" indent="-138747">
              <a:lnSpc>
                <a:spcPct val="115000"/>
              </a:lnSpc>
              <a:spcAft>
                <a:spcPts val="300"/>
              </a:spcAft>
              <a:buChar char="•"/>
            </a:pPr>
            <a:r>
              <a:rPr sz="1150" b="0" i="0">
                <a:solidFill>
                  <a:srgbClr val="2B2B2B"/>
                </a:solidFill>
                <a:latin typeface="Calibri"/>
              </a:rPr>
              <a:t>We keep the soft rule in the product because the correction stays visible to the model; this is a design reason, not a measured gain</a:t>
            </a:r>
          </a:p>
          <a:p>
            <a:pPr algn="l" marL="138747" indent="-138747">
              <a:lnSpc>
                <a:spcPct val="115000"/>
              </a:lnSpc>
              <a:spcAft>
                <a:spcPts val="300"/>
              </a:spcAft>
              <a:buChar char="•"/>
            </a:pPr>
            <a:r>
              <a:rPr sz="1150" b="0" i="0">
                <a:solidFill>
                  <a:srgbClr val="2B2B2B"/>
                </a:solidFill>
                <a:latin typeface="Calibri"/>
              </a:rPr>
              <a:t>Re-dating corrections to the specimen date: valid-time only went 0 → 100 % SAR and bitemporal 7 → 70 %; ours stayed at 0 %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20</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Results: Recency Cannot Be Tuned In</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35 decay settings per seed, and not one historical question answered</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Nihal</a:t>
            </a:r>
          </a:p>
        </p:txBody>
      </p:sp>
      <p:pic>
        <p:nvPicPr>
          <p:cNvPr id="11" name="Picture 10" descr="decay_heatmap.png"/>
          <p:cNvPicPr>
            <a:picLocks noChangeAspect="1"/>
          </p:cNvPicPr>
          <p:nvPr/>
        </p:nvPicPr>
        <p:blipFill>
          <a:blip r:embed="rId5"/>
          <a:stretch>
            <a:fillRect/>
          </a:stretch>
        </p:blipFill>
        <p:spPr>
          <a:xfrm>
            <a:off x="411480" y="1833223"/>
            <a:ext cx="6675120" cy="3740192"/>
          </a:xfrm>
          <a:prstGeom prst="rect">
            <a:avLst/>
          </a:prstGeom>
        </p:spPr>
      </p:pic>
      <p:sp>
        <p:nvSpPr>
          <p:cNvPr id="12" name="TextBox 11"/>
          <p:cNvSpPr txBox="1"/>
          <p:nvPr/>
        </p:nvSpPr>
        <p:spPr>
          <a:xfrm>
            <a:off x="411480" y="5623560"/>
            <a:ext cx="6675120" cy="640080"/>
          </a:xfrm>
          <a:prstGeom prst="rect">
            <a:avLst/>
          </a:prstGeom>
          <a:noFill/>
        </p:spPr>
        <p:txBody>
          <a:bodyPr wrap="square" lIns="0" rIns="0" tIns="0" bIns="0" anchor="t"/>
          <a:lstStyle/>
          <a:p>
            <a:pPr algn="ctr">
              <a:lnSpc>
                <a:spcPct val="115000"/>
              </a:lnSpc>
              <a:spcAft>
                <a:spcPts val="0"/>
              </a:spcAft>
            </a:pPr>
            <a:r>
              <a:rPr sz="1150" b="0" i="1">
                <a:solidFill>
                  <a:srgbClr val="5A5A5A"/>
                </a:solidFill>
                <a:latin typeface="Calibri"/>
              </a:rPr>
              <a:t>f(q, e) = sem(q, e) + λ · exp(−age(e) / τ),  λ ∈ {0.01 … 0.5},  τ ∈ {7, 30, 90, 180, 365} days</a:t>
            </a:r>
          </a:p>
        </p:txBody>
      </p:sp>
      <p:sp>
        <p:nvSpPr>
          <p:cNvPr id="13" name="TextBox 12"/>
          <p:cNvSpPr txBox="1"/>
          <p:nvPr/>
        </p:nvSpPr>
        <p:spPr>
          <a:xfrm>
            <a:off x="7315200" y="1874519"/>
            <a:ext cx="4434840" cy="320040"/>
          </a:xfrm>
          <a:prstGeom prst="rect">
            <a:avLst/>
          </a:prstGeom>
          <a:noFill/>
        </p:spPr>
        <p:txBody>
          <a:bodyPr wrap="square" lIns="0" rIns="0" tIns="0" bIns="0" anchor="t"/>
          <a:lstStyle/>
          <a:p>
            <a:pPr algn="l">
              <a:lnSpc>
                <a:spcPct val="115000"/>
              </a:lnSpc>
              <a:spcAft>
                <a:spcPts val="0"/>
              </a:spcAft>
            </a:pPr>
            <a:r>
              <a:rPr sz="1400" b="1" i="0">
                <a:solidFill>
                  <a:srgbClr val="BC312C"/>
                </a:solidFill>
                <a:latin typeface="Calibri"/>
              </a:rPr>
              <a:t>Why there is no dial</a:t>
            </a:r>
          </a:p>
        </p:txBody>
      </p:sp>
      <p:sp>
        <p:nvSpPr>
          <p:cNvPr id="14" name="TextBox 13"/>
          <p:cNvSpPr txBox="1"/>
          <p:nvPr/>
        </p:nvSpPr>
        <p:spPr>
          <a:xfrm>
            <a:off x="7315200" y="2240280"/>
            <a:ext cx="4434840" cy="4023360"/>
          </a:xfrm>
          <a:prstGeom prst="rect">
            <a:avLst/>
          </a:prstGeom>
          <a:noFill/>
        </p:spPr>
        <p:txBody>
          <a:bodyPr wrap="square" lIns="0" rIns="0" tIns="0" bIns="0" anchor="t"/>
          <a:lstStyle/>
          <a:p>
            <a:pPr algn="l" marL="138747" indent="-138747">
              <a:lnSpc>
                <a:spcPct val="115000"/>
              </a:lnSpc>
              <a:spcAft>
                <a:spcPts val="300"/>
              </a:spcAft>
              <a:buChar char="•"/>
            </a:pPr>
            <a:r>
              <a:rPr sz="1150" b="0" i="0">
                <a:solidFill>
                  <a:srgbClr val="2B2B2B"/>
                </a:solidFill>
                <a:latin typeface="Calibri"/>
              </a:rPr>
              <a:t>A test and its correction score exactly the same on similarity (checked on all 600 relevant queries of each seed)</a:t>
            </a:r>
          </a:p>
          <a:p>
            <a:pPr algn="l" marL="138747" indent="-138747">
              <a:lnSpc>
                <a:spcPct val="115000"/>
              </a:lnSpc>
              <a:spcAft>
                <a:spcPts val="300"/>
              </a:spcAft>
              <a:buChar char="•"/>
            </a:pPr>
            <a:r>
              <a:rPr sz="1150" b="0" i="0">
                <a:solidFill>
                  <a:srgbClr val="2B2B2B"/>
                </a:solidFill>
                <a:latin typeface="Calibri"/>
              </a:rPr>
              <a:t>So the decay term alone picks the winner, and it always prefers the newer record</a:t>
            </a:r>
          </a:p>
          <a:p>
            <a:pPr algn="l" marL="138747" indent="-138747">
              <a:lnSpc>
                <a:spcPct val="115000"/>
              </a:lnSpc>
              <a:spcAft>
                <a:spcPts val="300"/>
              </a:spcAft>
              <a:buChar char="•"/>
            </a:pPr>
            <a:r>
              <a:rPr sz="1150" b="0" i="0">
                <a:solidFill>
                  <a:srgbClr val="2B2B2B"/>
                </a:solidFill>
                <a:latin typeface="Calibri"/>
              </a:rPr>
              <a:t>Newer is right for corrected questions and, by construction, wrong for every historical one</a:t>
            </a:r>
          </a:p>
          <a:p>
            <a:pPr algn="l" marL="138747" indent="-138747">
              <a:lnSpc>
                <a:spcPct val="115000"/>
              </a:lnSpc>
              <a:spcAft>
                <a:spcPts val="300"/>
              </a:spcAft>
              <a:buChar char="•"/>
            </a:pPr>
            <a:r>
              <a:rPr sz="1150" b="0" i="0">
                <a:solidFill>
                  <a:srgbClr val="2B2B2B"/>
                </a:solidFill>
                <a:latin typeface="Calibri"/>
              </a:rPr>
              <a:t>τ ≥ 30 days: 0 % SAR and 0 % historical at every grid point</a:t>
            </a:r>
          </a:p>
          <a:p>
            <a:pPr algn="l" marL="138747" indent="-138747">
              <a:lnSpc>
                <a:spcPct val="115000"/>
              </a:lnSpc>
              <a:spcAft>
                <a:spcPts val="300"/>
              </a:spcAft>
              <a:buChar char="•"/>
            </a:pPr>
            <a:r>
              <a:rPr sz="1150" b="0" i="0">
                <a:solidFill>
                  <a:srgbClr val="2B2B2B"/>
                </a:solidFill>
                <a:latin typeface="Calibri"/>
              </a:rPr>
              <a:t>τ = 7 days: ages of 30–435 days make exp(−age/7) span about 25 orders of magnitude; the pair ties in floating point and SAR lands at 64.5–70 %</a:t>
            </a:r>
          </a:p>
          <a:p>
            <a:pPr algn="l" marL="138747" indent="-138747">
              <a:lnSpc>
                <a:spcPct val="115000"/>
              </a:lnSpc>
              <a:spcAft>
                <a:spcPts val="300"/>
              </a:spcAft>
              <a:buChar char="•"/>
            </a:pPr>
            <a:r>
              <a:rPr sz="1150" b="0" i="0">
                <a:solidFill>
                  <a:srgbClr val="2B2B2B"/>
                </a:solidFill>
                <a:latin typeface="Calibri"/>
              </a:rPr>
              <a:t>The plan predicted a smooth trade-off curve; the measurement is two corners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21</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Results: Effect on Answers, and Speed</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Rank 1 changes what the LLM says; the laptop is fast enough for a clinic</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Nihal</a:t>
            </a:r>
          </a:p>
        </p:txBody>
      </p:sp>
      <p:pic>
        <p:nvPicPr>
          <p:cNvPr id="11" name="Picture 10" descr="gen_k1.png"/>
          <p:cNvPicPr>
            <a:picLocks noChangeAspect="1"/>
          </p:cNvPicPr>
          <p:nvPr/>
        </p:nvPicPr>
        <p:blipFill>
          <a:blip r:embed="rId5"/>
          <a:stretch>
            <a:fillRect/>
          </a:stretch>
        </p:blipFill>
        <p:spPr>
          <a:xfrm>
            <a:off x="696250" y="1828799"/>
            <a:ext cx="4551099" cy="3063240"/>
          </a:xfrm>
          <a:prstGeom prst="rect">
            <a:avLst/>
          </a:prstGeom>
        </p:spPr>
      </p:pic>
      <p:sp>
        <p:nvSpPr>
          <p:cNvPr id="12" name="TextBox 11"/>
          <p:cNvSpPr txBox="1"/>
          <p:nvPr/>
        </p:nvSpPr>
        <p:spPr>
          <a:xfrm>
            <a:off x="411480" y="4937760"/>
            <a:ext cx="5120640" cy="1325880"/>
          </a:xfrm>
          <a:prstGeom prst="rect">
            <a:avLst/>
          </a:prstGeom>
          <a:noFill/>
        </p:spPr>
        <p:txBody>
          <a:bodyPr wrap="square" lIns="0" rIns="0" tIns="0" bIns="0" anchor="t"/>
          <a:lstStyle/>
          <a:p>
            <a:pPr algn="l" marL="132715" indent="-132715">
              <a:lnSpc>
                <a:spcPct val="115000"/>
              </a:lnSpc>
              <a:spcAft>
                <a:spcPts val="100"/>
              </a:spcAft>
              <a:buChar char="•"/>
            </a:pPr>
            <a:r>
              <a:rPr sz="1100" b="0" i="0">
                <a:solidFill>
                  <a:srgbClr val="2B2B2B"/>
                </a:solidFill>
                <a:latin typeface="Calibri"/>
              </a:rPr>
              <a:t>Same hosted model, same questions; only the retrieved context differs</a:t>
            </a:r>
          </a:p>
          <a:p>
            <a:pPr algn="l" marL="132715" indent="-132715">
              <a:lnSpc>
                <a:spcPct val="115000"/>
              </a:lnSpc>
              <a:spcAft>
                <a:spcPts val="100"/>
              </a:spcAft>
              <a:buChar char="•"/>
            </a:pPr>
            <a:r>
              <a:rPr sz="1100" b="0" i="0">
                <a:solidFill>
                  <a:srgbClr val="2B2B2B"/>
                </a:solidFill>
                <a:latin typeface="Calibri"/>
              </a:rPr>
              <a:t>k = 1: 0 / 40 stale with our ranking vs 18 / 40 with dense-only (McNemar p = 8×10⁻⁶)</a:t>
            </a:r>
          </a:p>
          <a:p>
            <a:pPr algn="l" marL="132715" indent="-132715">
              <a:lnSpc>
                <a:spcPct val="115000"/>
              </a:lnSpc>
              <a:spcAft>
                <a:spcPts val="100"/>
              </a:spcAft>
              <a:buChar char="•"/>
            </a:pPr>
            <a:r>
              <a:rPr sz="1100" b="0" i="0">
                <a:solidFill>
                  <a:srgbClr val="2B2B2B"/>
                </a:solidFill>
                <a:latin typeface="Calibri"/>
              </a:rPr>
              <a:t>k = 2 and k = 5: no stale answers in either arm, since both versions arrive together</a:t>
            </a:r>
          </a:p>
        </p:txBody>
      </p:sp>
      <p:pic>
        <p:nvPicPr>
          <p:cNvPr id="13" name="Picture 12" descr="latency_gpu.png"/>
          <p:cNvPicPr>
            <a:picLocks noChangeAspect="1"/>
          </p:cNvPicPr>
          <p:nvPr/>
        </p:nvPicPr>
        <p:blipFill>
          <a:blip r:embed="rId6"/>
          <a:stretch>
            <a:fillRect/>
          </a:stretch>
        </p:blipFill>
        <p:spPr>
          <a:xfrm>
            <a:off x="5760720" y="1876910"/>
            <a:ext cx="5989320" cy="2052618"/>
          </a:xfrm>
          <a:prstGeom prst="rect">
            <a:avLst/>
          </a:prstGeom>
        </p:spPr>
      </p:pic>
      <p:graphicFrame>
        <p:nvGraphicFramePr>
          <p:cNvPr id="14" name="Table 13"/>
          <p:cNvGraphicFramePr>
            <a:graphicFrameLocks noGrp="1"/>
          </p:cNvGraphicFramePr>
          <p:nvPr/>
        </p:nvGraphicFramePr>
        <p:xfrm>
          <a:off x="5760720" y="4114800"/>
          <a:ext cx="5989319" cy="1257300"/>
        </p:xfrm>
        <a:graphic>
          <a:graphicData uri="http://schemas.openxmlformats.org/drawingml/2006/table">
            <a:tbl>
              <a:tblPr firstRow="0" bandRow="0">
                <a:tableStyleId>{5C22544A-7EE6-4342-B048-85BDC9FD1C3A}</a:tableStyleId>
              </a:tblPr>
              <a:tblGrid>
                <a:gridCol w="3713378"/>
                <a:gridCol w="2275941"/>
              </a:tblGrid>
              <a:tr h="251460">
                <a:tc>
                  <a:txBody>
                    <a:bodyPr wrap="square"/>
                    <a:lstStyle/>
                    <a:p>
                      <a:r>
                        <a:rPr sz="1050" b="1">
                          <a:solidFill>
                            <a:srgbClr val="FFFFFF"/>
                          </a:solidFill>
                          <a:latin typeface="Calibri"/>
                        </a:rPr>
                        <a:t>Measurement on the laptop</a:t>
                      </a:r>
                    </a:p>
                  </a:txBody>
                  <a:tcPr marL="54864" marR="54864" marT="27432" marB="27432">
                    <a:solidFill>
                      <a:srgbClr val="BC312C"/>
                    </a:solidFill>
                  </a:tcPr>
                </a:tc>
                <a:tc>
                  <a:txBody>
                    <a:bodyPr wrap="square"/>
                    <a:lstStyle/>
                    <a:p>
                      <a:r>
                        <a:rPr sz="1050" b="1">
                          <a:solidFill>
                            <a:srgbClr val="FFFFFF"/>
                          </a:solidFill>
                          <a:latin typeface="Calibri"/>
                        </a:rPr>
                        <a:t>Value</a:t>
                      </a:r>
                    </a:p>
                  </a:txBody>
                  <a:tcPr marL="54864" marR="54864" marT="27432" marB="27432">
                    <a:solidFill>
                      <a:srgbClr val="BC312C"/>
                    </a:solidFill>
                  </a:tcPr>
                </a:tc>
              </a:tr>
              <a:tr h="251460">
                <a:tc>
                  <a:txBody>
                    <a:bodyPr wrap="square"/>
                    <a:lstStyle/>
                    <a:p>
                      <a:r>
                        <a:rPr sz="1050" b="1">
                          <a:solidFill>
                            <a:srgbClr val="2B2B2B"/>
                          </a:solidFill>
                          <a:latin typeface="Calibri"/>
                        </a:rPr>
                        <a:t>Embedding cache hit rate (TAP-QA)</a:t>
                      </a:r>
                    </a:p>
                  </a:txBody>
                  <a:tcPr marL="54864" marR="54864" marT="27432" marB="27432">
                    <a:solidFill>
                      <a:srgbClr val="FFFFFF"/>
                    </a:solidFill>
                  </a:tcPr>
                </a:tc>
                <a:tc>
                  <a:txBody>
                    <a:bodyPr wrap="square"/>
                    <a:lstStyle/>
                    <a:p>
                      <a:r>
                        <a:rPr sz="1050" b="0">
                          <a:solidFill>
                            <a:srgbClr val="2B2B2B"/>
                          </a:solidFill>
                          <a:latin typeface="Calibri"/>
                        </a:rPr>
                        <a:t>90 % (33,814 hits)</a:t>
                      </a:r>
                    </a:p>
                  </a:txBody>
                  <a:tcPr marL="54864" marR="54864" marT="27432" marB="27432">
                    <a:solidFill>
                      <a:srgbClr val="FFFFFF"/>
                    </a:solidFill>
                  </a:tcPr>
                </a:tc>
              </a:tr>
              <a:tr h="251460">
                <a:tc>
                  <a:txBody>
                    <a:bodyPr wrap="square"/>
                    <a:lstStyle/>
                    <a:p>
                      <a:r>
                        <a:rPr sz="1050" b="1">
                          <a:solidFill>
                            <a:srgbClr val="2B2B2B"/>
                          </a:solidFill>
                          <a:latin typeface="Calibri"/>
                        </a:rPr>
                        <a:t>Full TAP-QA run, 45 configurations</a:t>
                      </a:r>
                    </a:p>
                  </a:txBody>
                  <a:tcPr marL="54864" marR="54864" marT="27432" marB="27432">
                    <a:solidFill>
                      <a:srgbClr val="FBEAEA"/>
                    </a:solidFill>
                  </a:tcPr>
                </a:tc>
                <a:tc>
                  <a:txBody>
                    <a:bodyPr wrap="square"/>
                    <a:lstStyle/>
                    <a:p>
                      <a:r>
                        <a:rPr sz="1050" b="0">
                          <a:solidFill>
                            <a:srgbClr val="2B2B2B"/>
                          </a:solidFill>
                          <a:latin typeface="Calibri"/>
                        </a:rPr>
                        <a:t>57 s (8 min before caching)</a:t>
                      </a:r>
                    </a:p>
                  </a:txBody>
                  <a:tcPr marL="54864" marR="54864" marT="27432" marB="27432">
                    <a:solidFill>
                      <a:srgbClr val="FBEAEA"/>
                    </a:solidFill>
                  </a:tcPr>
                </a:tc>
              </a:tr>
              <a:tr h="251460">
                <a:tc>
                  <a:txBody>
                    <a:bodyPr wrap="square"/>
                    <a:lstStyle/>
                    <a:p>
                      <a:r>
                        <a:rPr sz="1050" b="1">
                          <a:solidFill>
                            <a:srgbClr val="2B2B2B"/>
                          </a:solidFill>
                          <a:latin typeface="Calibri"/>
                        </a:rPr>
                        <a:t>API memory at rest / with BiomedCLIP</a:t>
                      </a:r>
                    </a:p>
                  </a:txBody>
                  <a:tcPr marL="54864" marR="54864" marT="27432" marB="27432">
                    <a:solidFill>
                      <a:srgbClr val="FFFFFF"/>
                    </a:solidFill>
                  </a:tcPr>
                </a:tc>
                <a:tc>
                  <a:txBody>
                    <a:bodyPr wrap="square"/>
                    <a:lstStyle/>
                    <a:p>
                      <a:r>
                        <a:rPr sz="1050" b="0">
                          <a:solidFill>
                            <a:srgbClr val="2B2B2B"/>
                          </a:solidFill>
                          <a:latin typeface="Calibri"/>
                        </a:rPr>
                        <a:t>350 MB / 1.21 GB</a:t>
                      </a:r>
                    </a:p>
                  </a:txBody>
                  <a:tcPr marL="54864" marR="54864" marT="27432" marB="27432">
                    <a:solidFill>
                      <a:srgbClr val="FFFFFF"/>
                    </a:solidFill>
                  </a:tcPr>
                </a:tc>
              </a:tr>
              <a:tr h="251460">
                <a:tc>
                  <a:txBody>
                    <a:bodyPr wrap="square"/>
                    <a:lstStyle/>
                    <a:p>
                      <a:r>
                        <a:rPr sz="1050" b="1">
                          <a:solidFill>
                            <a:srgbClr val="2B2B2B"/>
                          </a:solidFill>
                          <a:latin typeface="Calibri"/>
                        </a:rPr>
                        <a:t>Backend tests / end-to-end steps</a:t>
                      </a:r>
                    </a:p>
                  </a:txBody>
                  <a:tcPr marL="54864" marR="54864" marT="27432" marB="27432">
                    <a:solidFill>
                      <a:srgbClr val="FBEAEA"/>
                    </a:solidFill>
                  </a:tcPr>
                </a:tc>
                <a:tc>
                  <a:txBody>
                    <a:bodyPr wrap="square"/>
                    <a:lstStyle/>
                    <a:p>
                      <a:r>
                        <a:rPr sz="1050" b="0">
                          <a:solidFill>
                            <a:srgbClr val="2B2B2B"/>
                          </a:solidFill>
                          <a:latin typeface="Calibri"/>
                        </a:rPr>
                        <a:t>250+ passing / 16 of 16</a:t>
                      </a:r>
                    </a:p>
                  </a:txBody>
                  <a:tcPr marL="54864" marR="54864" marT="27432" marB="27432">
                    <a:solidFill>
                      <a:srgbClr val="FBEAEA"/>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22</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Product Walkthrough</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The running application, from correction to the patient's inbox</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Nihal</a:t>
            </a:r>
          </a:p>
        </p:txBody>
      </p:sp>
      <p:pic>
        <p:nvPicPr>
          <p:cNvPr id="11" name="Picture 10" descr="chat_corrected.png"/>
          <p:cNvPicPr>
            <a:picLocks noChangeAspect="1"/>
          </p:cNvPicPr>
          <p:nvPr/>
        </p:nvPicPr>
        <p:blipFill>
          <a:blip r:embed="rId5"/>
          <a:stretch>
            <a:fillRect/>
          </a:stretch>
        </p:blipFill>
        <p:spPr>
          <a:xfrm>
            <a:off x="411480" y="1923669"/>
            <a:ext cx="5760719" cy="1776222"/>
          </a:xfrm>
          <a:prstGeom prst="rect">
            <a:avLst/>
          </a:prstGeom>
        </p:spPr>
      </p:pic>
      <p:sp>
        <p:nvSpPr>
          <p:cNvPr id="12" name="Rectangle 11"/>
          <p:cNvSpPr/>
          <p:nvPr/>
        </p:nvSpPr>
        <p:spPr>
          <a:xfrm>
            <a:off x="393192" y="1905381"/>
            <a:ext cx="5797295" cy="1812798"/>
          </a:xfrm>
          <a:prstGeom prst="rect">
            <a:avLst/>
          </a:prstGeom>
          <a:noFill/>
          <a:ln w="9525">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11480" y="3730752"/>
            <a:ext cx="5760720" cy="274320"/>
          </a:xfrm>
          <a:prstGeom prst="rect">
            <a:avLst/>
          </a:prstGeom>
          <a:noFill/>
        </p:spPr>
        <p:txBody>
          <a:bodyPr wrap="square" lIns="0" rIns="0" tIns="0" bIns="0" anchor="t"/>
          <a:lstStyle/>
          <a:p>
            <a:pPr algn="ctr">
              <a:lnSpc>
                <a:spcPct val="115000"/>
              </a:lnSpc>
              <a:spcAft>
                <a:spcPts val="0"/>
              </a:spcAft>
            </a:pPr>
            <a:r>
              <a:rPr sz="1000" b="0" i="1">
                <a:solidFill>
                  <a:srgbClr val="5A5A5A"/>
                </a:solidFill>
                <a:latin typeface="Calibri"/>
              </a:rPr>
              <a:t>Doctor console: superseded HbA1c kept and labelled; the answer cites the current value</a:t>
            </a:r>
          </a:p>
        </p:txBody>
      </p:sp>
      <p:pic>
        <p:nvPicPr>
          <p:cNvPr id="14" name="Picture 13" descr="patient_portal_crop.png"/>
          <p:cNvPicPr>
            <a:picLocks noChangeAspect="1"/>
          </p:cNvPicPr>
          <p:nvPr/>
        </p:nvPicPr>
        <p:blipFill>
          <a:blip r:embed="rId6"/>
          <a:stretch>
            <a:fillRect/>
          </a:stretch>
        </p:blipFill>
        <p:spPr>
          <a:xfrm>
            <a:off x="6355079" y="1941625"/>
            <a:ext cx="5394960" cy="1740309"/>
          </a:xfrm>
          <a:prstGeom prst="rect">
            <a:avLst/>
          </a:prstGeom>
        </p:spPr>
      </p:pic>
      <p:sp>
        <p:nvSpPr>
          <p:cNvPr id="15" name="Rectangle 14"/>
          <p:cNvSpPr/>
          <p:nvPr/>
        </p:nvSpPr>
        <p:spPr>
          <a:xfrm>
            <a:off x="6336792" y="1923337"/>
            <a:ext cx="5431536" cy="1776885"/>
          </a:xfrm>
          <a:prstGeom prst="rect">
            <a:avLst/>
          </a:prstGeom>
          <a:noFill/>
          <a:ln w="9525">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355080" y="3730752"/>
            <a:ext cx="5394960" cy="274320"/>
          </a:xfrm>
          <a:prstGeom prst="rect">
            <a:avLst/>
          </a:prstGeom>
          <a:noFill/>
        </p:spPr>
        <p:txBody>
          <a:bodyPr wrap="square" lIns="0" rIns="0" tIns="0" bIns="0" anchor="t"/>
          <a:lstStyle/>
          <a:p>
            <a:pPr algn="ctr">
              <a:lnSpc>
                <a:spcPct val="115000"/>
              </a:lnSpc>
              <a:spcAft>
                <a:spcPts val="0"/>
              </a:spcAft>
            </a:pPr>
            <a:r>
              <a:rPr sz="1000" b="0" i="1">
                <a:solidFill>
                  <a:srgbClr val="5A5A5A"/>
                </a:solidFill>
                <a:latin typeface="Calibri"/>
              </a:rPr>
              <a:t>Patient portal: the issued prescription arrives in the inbox with the linked doctor</a:t>
            </a:r>
          </a:p>
        </p:txBody>
      </p:sp>
      <p:sp>
        <p:nvSpPr>
          <p:cNvPr id="17" name="TextBox 16"/>
          <p:cNvSpPr txBox="1"/>
          <p:nvPr/>
        </p:nvSpPr>
        <p:spPr>
          <a:xfrm>
            <a:off x="411480" y="4114800"/>
            <a:ext cx="11338560" cy="320040"/>
          </a:xfrm>
          <a:prstGeom prst="rect">
            <a:avLst/>
          </a:prstGeom>
          <a:noFill/>
        </p:spPr>
        <p:txBody>
          <a:bodyPr wrap="square" lIns="0" rIns="0" tIns="0" bIns="0" anchor="t"/>
          <a:lstStyle/>
          <a:p>
            <a:pPr algn="l">
              <a:lnSpc>
                <a:spcPct val="115000"/>
              </a:lnSpc>
              <a:spcAft>
                <a:spcPts val="0"/>
              </a:spcAft>
            </a:pPr>
            <a:r>
              <a:rPr sz="1350" b="1" i="0">
                <a:solidFill>
                  <a:srgbClr val="BC312C"/>
                </a:solidFill>
                <a:latin typeface="Calibri"/>
              </a:rPr>
              <a:t>Verified end-to-end journey (scripts/verify_e2e.py, nothing mocked)</a:t>
            </a:r>
          </a:p>
        </p:txBody>
      </p:sp>
      <p:sp>
        <p:nvSpPr>
          <p:cNvPr id="18" name="Rounded Rectangle 17"/>
          <p:cNvSpPr/>
          <p:nvPr/>
        </p:nvSpPr>
        <p:spPr>
          <a:xfrm>
            <a:off x="411480" y="4526280"/>
            <a:ext cx="1161288" cy="960120"/>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95000"/>
              </a:lnSpc>
            </a:pPr>
            <a:r>
              <a:rPr sz="1300" b="1" i="0">
                <a:solidFill>
                  <a:srgbClr val="BC312C"/>
                </a:solidFill>
                <a:latin typeface="Calibri"/>
              </a:rPr>
              <a:t>1</a:t>
            </a:r>
          </a:p>
          <a:p>
            <a:pPr algn="ctr">
              <a:lnSpc>
                <a:spcPct val="95000"/>
              </a:lnSpc>
            </a:pPr>
            <a:r>
              <a:rPr sz="950" b="0" i="0">
                <a:solidFill>
                  <a:srgbClr val="2B2B2B"/>
                </a:solidFill>
                <a:latin typeface="Calibri"/>
              </a:rPr>
              <a:t>Doctor registers</a:t>
            </a:r>
          </a:p>
        </p:txBody>
      </p:sp>
      <p:sp>
        <p:nvSpPr>
          <p:cNvPr id="19" name="Rounded Rectangle 18"/>
          <p:cNvSpPr/>
          <p:nvPr/>
        </p:nvSpPr>
        <p:spPr>
          <a:xfrm>
            <a:off x="1677924" y="4526280"/>
            <a:ext cx="1161288"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95000"/>
              </a:lnSpc>
            </a:pPr>
            <a:r>
              <a:rPr sz="1300" b="1" i="0">
                <a:solidFill>
                  <a:srgbClr val="BC312C"/>
                </a:solidFill>
                <a:latin typeface="Calibri"/>
              </a:rPr>
              <a:t>2</a:t>
            </a:r>
          </a:p>
          <a:p>
            <a:pPr algn="ctr">
              <a:lnSpc>
                <a:spcPct val="95000"/>
              </a:lnSpc>
            </a:pPr>
            <a:r>
              <a:rPr sz="950" b="0" i="0">
                <a:solidFill>
                  <a:srgbClr val="2B2B2B"/>
                </a:solidFill>
                <a:latin typeface="Calibri"/>
              </a:rPr>
              <a:t>Adds patient</a:t>
            </a:r>
          </a:p>
        </p:txBody>
      </p:sp>
      <p:sp>
        <p:nvSpPr>
          <p:cNvPr id="20" name="Rounded Rectangle 19"/>
          <p:cNvSpPr/>
          <p:nvPr/>
        </p:nvSpPr>
        <p:spPr>
          <a:xfrm>
            <a:off x="2944368" y="4526280"/>
            <a:ext cx="1161288" cy="960120"/>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95000"/>
              </a:lnSpc>
            </a:pPr>
            <a:r>
              <a:rPr sz="1300" b="1" i="0">
                <a:solidFill>
                  <a:srgbClr val="BC312C"/>
                </a:solidFill>
                <a:latin typeface="Calibri"/>
              </a:rPr>
              <a:t>3</a:t>
            </a:r>
          </a:p>
          <a:p>
            <a:pPr algn="ctr">
              <a:lnSpc>
                <a:spcPct val="95000"/>
              </a:lnSpc>
            </a:pPr>
            <a:r>
              <a:rPr sz="950" b="0" i="0">
                <a:solidFill>
                  <a:srgbClr val="2B2B2B"/>
                </a:solidFill>
                <a:latin typeface="Calibri"/>
              </a:rPr>
              <a:t>Asks HbA1c → 8.9 %</a:t>
            </a:r>
          </a:p>
        </p:txBody>
      </p:sp>
      <p:sp>
        <p:nvSpPr>
          <p:cNvPr id="21" name="Rounded Rectangle 20"/>
          <p:cNvSpPr/>
          <p:nvPr/>
        </p:nvSpPr>
        <p:spPr>
          <a:xfrm>
            <a:off x="4210812" y="4526280"/>
            <a:ext cx="1161288"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95000"/>
              </a:lnSpc>
            </a:pPr>
            <a:r>
              <a:rPr sz="1300" b="1" i="0">
                <a:solidFill>
                  <a:srgbClr val="BC312C"/>
                </a:solidFill>
                <a:latin typeface="Calibri"/>
              </a:rPr>
              <a:t>4</a:t>
            </a:r>
          </a:p>
          <a:p>
            <a:pPr algn="ctr">
              <a:lnSpc>
                <a:spcPct val="95000"/>
              </a:lnSpc>
            </a:pPr>
            <a:r>
              <a:rPr sz="950" b="0" i="0">
                <a:solidFill>
                  <a:srgbClr val="2B2B2B"/>
                </a:solidFill>
                <a:latin typeface="Calibri"/>
              </a:rPr>
              <a:t>Corrects to 6.8</a:t>
            </a:r>
          </a:p>
        </p:txBody>
      </p:sp>
      <p:sp>
        <p:nvSpPr>
          <p:cNvPr id="22" name="Rounded Rectangle 21"/>
          <p:cNvSpPr/>
          <p:nvPr/>
        </p:nvSpPr>
        <p:spPr>
          <a:xfrm>
            <a:off x="5477256" y="4526280"/>
            <a:ext cx="1161288" cy="960120"/>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95000"/>
              </a:lnSpc>
            </a:pPr>
            <a:r>
              <a:rPr sz="1300" b="1" i="0">
                <a:solidFill>
                  <a:srgbClr val="BC312C"/>
                </a:solidFill>
                <a:latin typeface="Calibri"/>
              </a:rPr>
              <a:t>5</a:t>
            </a:r>
          </a:p>
          <a:p>
            <a:pPr algn="ctr">
              <a:lnSpc>
                <a:spcPct val="95000"/>
              </a:lnSpc>
            </a:pPr>
            <a:r>
              <a:rPr sz="950" b="0" i="0">
                <a:solidFill>
                  <a:srgbClr val="2B2B2B"/>
                </a:solidFill>
                <a:latin typeface="Calibri"/>
              </a:rPr>
              <a:t>Asks again → 6.8 %</a:t>
            </a:r>
          </a:p>
        </p:txBody>
      </p:sp>
      <p:sp>
        <p:nvSpPr>
          <p:cNvPr id="23" name="Rounded Rectangle 22"/>
          <p:cNvSpPr/>
          <p:nvPr/>
        </p:nvSpPr>
        <p:spPr>
          <a:xfrm>
            <a:off x="6743700" y="4526280"/>
            <a:ext cx="1161288"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95000"/>
              </a:lnSpc>
            </a:pPr>
            <a:r>
              <a:rPr sz="1300" b="1" i="0">
                <a:solidFill>
                  <a:srgbClr val="BC312C"/>
                </a:solidFill>
                <a:latin typeface="Calibri"/>
              </a:rPr>
              <a:t>6</a:t>
            </a:r>
          </a:p>
          <a:p>
            <a:pPr algn="ctr">
              <a:lnSpc>
                <a:spcPct val="95000"/>
              </a:lnSpc>
            </a:pPr>
            <a:r>
              <a:rPr sz="950" b="0" i="0">
                <a:solidFill>
                  <a:srgbClr val="2B2B2B"/>
                </a:solidFill>
                <a:latin typeface="Calibri"/>
              </a:rPr>
              <a:t>"As of 60 days ago" → 8.9 %</a:t>
            </a:r>
          </a:p>
        </p:txBody>
      </p:sp>
      <p:sp>
        <p:nvSpPr>
          <p:cNvPr id="24" name="Rounded Rectangle 23"/>
          <p:cNvSpPr/>
          <p:nvPr/>
        </p:nvSpPr>
        <p:spPr>
          <a:xfrm>
            <a:off x="8010144" y="4526280"/>
            <a:ext cx="1161288" cy="960120"/>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95000"/>
              </a:lnSpc>
            </a:pPr>
            <a:r>
              <a:rPr sz="1300" b="1" i="0">
                <a:solidFill>
                  <a:srgbClr val="BC312C"/>
                </a:solidFill>
                <a:latin typeface="Calibri"/>
              </a:rPr>
              <a:t>7</a:t>
            </a:r>
          </a:p>
          <a:p>
            <a:pPr algn="ctr">
              <a:lnSpc>
                <a:spcPct val="95000"/>
              </a:lnSpc>
            </a:pPr>
            <a:r>
              <a:rPr sz="950" b="0" i="0">
                <a:solidFill>
                  <a:srgbClr val="2B2B2B"/>
                </a:solidFill>
                <a:latin typeface="Calibri"/>
              </a:rPr>
              <a:t>Issues prescription PDF</a:t>
            </a:r>
          </a:p>
        </p:txBody>
      </p:sp>
      <p:sp>
        <p:nvSpPr>
          <p:cNvPr id="25" name="Rounded Rectangle 24"/>
          <p:cNvSpPr/>
          <p:nvPr/>
        </p:nvSpPr>
        <p:spPr>
          <a:xfrm>
            <a:off x="9276588" y="4526280"/>
            <a:ext cx="1161288"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95000"/>
              </a:lnSpc>
            </a:pPr>
            <a:r>
              <a:rPr sz="1300" b="1" i="0">
                <a:solidFill>
                  <a:srgbClr val="BC312C"/>
                </a:solidFill>
                <a:latin typeface="Calibri"/>
              </a:rPr>
              <a:t>8</a:t>
            </a:r>
          </a:p>
          <a:p>
            <a:pPr algn="ctr">
              <a:lnSpc>
                <a:spcPct val="95000"/>
              </a:lnSpc>
            </a:pPr>
            <a:r>
              <a:rPr sz="950" b="0" i="0">
                <a:solidFill>
                  <a:srgbClr val="2B2B2B"/>
                </a:solidFill>
                <a:latin typeface="Calibri"/>
              </a:rPr>
              <a:t>Patient registers, records link</a:t>
            </a:r>
          </a:p>
        </p:txBody>
      </p:sp>
      <p:sp>
        <p:nvSpPr>
          <p:cNvPr id="26" name="Rounded Rectangle 25"/>
          <p:cNvSpPr/>
          <p:nvPr/>
        </p:nvSpPr>
        <p:spPr>
          <a:xfrm>
            <a:off x="10543032" y="4526280"/>
            <a:ext cx="1161288" cy="960120"/>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95000"/>
              </a:lnSpc>
            </a:pPr>
            <a:r>
              <a:rPr sz="1300" b="1" i="0">
                <a:solidFill>
                  <a:srgbClr val="BC312C"/>
                </a:solidFill>
                <a:latin typeface="Calibri"/>
              </a:rPr>
              <a:t>9</a:t>
            </a:r>
          </a:p>
          <a:p>
            <a:pPr algn="ctr">
              <a:lnSpc>
                <a:spcPct val="95000"/>
              </a:lnSpc>
            </a:pPr>
            <a:r>
              <a:rPr sz="950" b="0" i="0">
                <a:solidFill>
                  <a:srgbClr val="2B2B2B"/>
                </a:solidFill>
                <a:latin typeface="Calibri"/>
              </a:rPr>
              <a:t>Patient opens the PDF</a:t>
            </a:r>
          </a:p>
        </p:txBody>
      </p:sp>
      <p:sp>
        <p:nvSpPr>
          <p:cNvPr id="27" name="TextBox 26"/>
          <p:cNvSpPr txBox="1"/>
          <p:nvPr/>
        </p:nvSpPr>
        <p:spPr>
          <a:xfrm>
            <a:off x="411480" y="5623560"/>
            <a:ext cx="11338560" cy="640080"/>
          </a:xfrm>
          <a:prstGeom prst="rect">
            <a:avLst/>
          </a:prstGeom>
          <a:noFill/>
        </p:spPr>
        <p:txBody>
          <a:bodyPr wrap="square" lIns="0" rIns="0" tIns="0" bIns="0" anchor="t"/>
          <a:lstStyle/>
          <a:p>
            <a:pPr algn="l">
              <a:lnSpc>
                <a:spcPct val="115000"/>
              </a:lnSpc>
              <a:spcAft>
                <a:spcPts val="0"/>
              </a:spcAft>
            </a:pPr>
            <a:r>
              <a:rPr sz="1100" b="0" i="0">
                <a:solidFill>
                  <a:srgbClr val="5A5A5A"/>
                </a:solidFill>
                <a:latin typeface="Calibri"/>
              </a:rPr>
              <a:t>Also checked: unreadable scan refused and routed to review; anonymous calls get 401, cross-role 403, cross-doctor reads return 404 so patient IDs cannot be probed.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23</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Impact, Limitations and Future Scope</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What this changes, what we cannot claim yet, and what comes next</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Nihal</a:t>
            </a:r>
          </a:p>
        </p:txBody>
      </p:sp>
      <p:sp>
        <p:nvSpPr>
          <p:cNvPr id="11" name="Rounded Rectangle 10"/>
          <p:cNvSpPr/>
          <p:nvPr/>
        </p:nvSpPr>
        <p:spPr>
          <a:xfrm>
            <a:off x="411480" y="1920240"/>
            <a:ext cx="3657600" cy="4343400"/>
          </a:xfrm>
          <a:prstGeom prst="roundRect">
            <a:avLst>
              <a:gd name="adj" fmla="val 5000"/>
            </a:avLst>
          </a:prstGeom>
          <a:solidFill>
            <a:srgbClr val="E6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94360" y="2011680"/>
            <a:ext cx="3291840" cy="411480"/>
          </a:xfrm>
          <a:prstGeom prst="rect">
            <a:avLst/>
          </a:prstGeom>
          <a:noFill/>
        </p:spPr>
        <p:txBody>
          <a:bodyPr wrap="square" lIns="0" rIns="0" tIns="0" bIns="0" anchor="ctr"/>
          <a:lstStyle/>
          <a:p>
            <a:pPr algn="l">
              <a:lnSpc>
                <a:spcPct val="115000"/>
              </a:lnSpc>
              <a:spcAft>
                <a:spcPts val="0"/>
              </a:spcAft>
            </a:pPr>
            <a:r>
              <a:rPr sz="1700" b="1" i="0">
                <a:solidFill>
                  <a:srgbClr val="1F6F5C"/>
                </a:solidFill>
                <a:latin typeface="Calibri"/>
              </a:rPr>
              <a:t>Impact</a:t>
            </a:r>
          </a:p>
        </p:txBody>
      </p:sp>
      <p:sp>
        <p:nvSpPr>
          <p:cNvPr id="13" name="TextBox 12"/>
          <p:cNvSpPr txBox="1"/>
          <p:nvPr/>
        </p:nvSpPr>
        <p:spPr>
          <a:xfrm>
            <a:off x="594360" y="2560320"/>
            <a:ext cx="3291840" cy="3657600"/>
          </a:xfrm>
          <a:prstGeom prst="rect">
            <a:avLst/>
          </a:prstGeom>
          <a:noFill/>
        </p:spPr>
        <p:txBody>
          <a:bodyPr wrap="square" lIns="0" rIns="0" tIns="0" bIns="0" anchor="t"/>
          <a:lstStyle/>
          <a:p>
            <a:pPr algn="l" marL="168910" indent="-168910">
              <a:lnSpc>
                <a:spcPct val="105000"/>
              </a:lnSpc>
              <a:spcAft>
                <a:spcPts val="800"/>
              </a:spcAft>
              <a:buChar char="•"/>
            </a:pPr>
            <a:r>
              <a:rPr sz="1400" b="0" i="0">
                <a:solidFill>
                  <a:srgbClr val="2B2B2B"/>
                </a:solidFill>
                <a:latin typeface="Calibri"/>
              </a:rPr>
              <a:t>Doctor sees the corrected value for today and the old value for history, with citations</a:t>
            </a:r>
          </a:p>
          <a:p>
            <a:pPr algn="l" marL="168910" indent="-168910">
              <a:lnSpc>
                <a:spcPct val="105000"/>
              </a:lnSpc>
              <a:spcAft>
                <a:spcPts val="800"/>
              </a:spcAft>
              <a:buChar char="•"/>
            </a:pPr>
            <a:r>
              <a:rPr sz="1400" b="0" i="0">
                <a:solidFill>
                  <a:srgbClr val="2B2B2B"/>
                </a:solidFill>
                <a:latin typeface="Calibri"/>
              </a:rPr>
              <a:t>Zero recurring cost on a laptop; no identifiable data leaves the clinic</a:t>
            </a:r>
          </a:p>
          <a:p>
            <a:pPr algn="l" marL="168910" indent="-168910">
              <a:lnSpc>
                <a:spcPct val="105000"/>
              </a:lnSpc>
              <a:spcAft>
                <a:spcPts val="800"/>
              </a:spcAft>
              <a:buChar char="•"/>
            </a:pPr>
            <a:r>
              <a:rPr sz="1400" b="0" i="0">
                <a:solidFill>
                  <a:srgbClr val="2B2B2B"/>
                </a:solidFill>
                <a:latin typeface="Calibri"/>
              </a:rPr>
              <a:t>For clinical RAG builders: keep the correction pointer through chunking and resolve validity at query time</a:t>
            </a:r>
          </a:p>
          <a:p>
            <a:pPr algn="l" marL="168910" indent="-168910">
              <a:lnSpc>
                <a:spcPct val="105000"/>
              </a:lnSpc>
              <a:spcAft>
                <a:spcPts val="800"/>
              </a:spcAft>
              <a:buChar char="•"/>
            </a:pPr>
            <a:r>
              <a:rPr sz="1400" b="0" i="0">
                <a:solidFill>
                  <a:srgbClr val="2B2B2B"/>
                </a:solidFill>
                <a:latin typeface="Calibri"/>
              </a:rPr>
              <a:t>Benchmark, harness and app released together, so the numbers can be re-run</a:t>
            </a:r>
          </a:p>
        </p:txBody>
      </p:sp>
      <p:sp>
        <p:nvSpPr>
          <p:cNvPr id="14" name="Rounded Rectangle 13"/>
          <p:cNvSpPr/>
          <p:nvPr/>
        </p:nvSpPr>
        <p:spPr>
          <a:xfrm>
            <a:off x="4233672" y="1920240"/>
            <a:ext cx="3657600" cy="4343400"/>
          </a:xfrm>
          <a:prstGeom prst="roundRect">
            <a:avLst>
              <a:gd name="adj" fmla="val 5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16552" y="2011680"/>
            <a:ext cx="3291840" cy="411480"/>
          </a:xfrm>
          <a:prstGeom prst="rect">
            <a:avLst/>
          </a:prstGeom>
          <a:noFill/>
        </p:spPr>
        <p:txBody>
          <a:bodyPr wrap="square" lIns="0" rIns="0" tIns="0" bIns="0" anchor="ctr"/>
          <a:lstStyle/>
          <a:p>
            <a:pPr algn="l">
              <a:lnSpc>
                <a:spcPct val="115000"/>
              </a:lnSpc>
              <a:spcAft>
                <a:spcPts val="0"/>
              </a:spcAft>
            </a:pPr>
            <a:r>
              <a:rPr sz="1700" b="1" i="0">
                <a:solidFill>
                  <a:srgbClr val="BC312C"/>
                </a:solidFill>
                <a:latin typeface="Calibri"/>
              </a:rPr>
              <a:t>Limitations</a:t>
            </a:r>
          </a:p>
        </p:txBody>
      </p:sp>
      <p:sp>
        <p:nvSpPr>
          <p:cNvPr id="16" name="TextBox 15"/>
          <p:cNvSpPr txBox="1"/>
          <p:nvPr/>
        </p:nvSpPr>
        <p:spPr>
          <a:xfrm>
            <a:off x="4416552" y="2560320"/>
            <a:ext cx="3291840" cy="3657600"/>
          </a:xfrm>
          <a:prstGeom prst="rect">
            <a:avLst/>
          </a:prstGeom>
          <a:noFill/>
        </p:spPr>
        <p:txBody>
          <a:bodyPr wrap="square" lIns="0" rIns="0" tIns="0" bIns="0" anchor="t"/>
          <a:lstStyle/>
          <a:p>
            <a:pPr algn="l" marL="168910" indent="-168910">
              <a:lnSpc>
                <a:spcPct val="105000"/>
              </a:lnSpc>
              <a:spcAft>
                <a:spcPts val="800"/>
              </a:spcAft>
              <a:buChar char="•"/>
            </a:pPr>
            <a:r>
              <a:rPr sz="1400" b="0" i="0">
                <a:solidFill>
                  <a:srgbClr val="2B2B2B"/>
                </a:solidFill>
                <a:latin typeface="Calibri"/>
              </a:rPr>
              <a:t>TAP-QA is synthetic and we wrote the generator</a:t>
            </a:r>
          </a:p>
          <a:p>
            <a:pPr algn="l" marL="168910" indent="-168910">
              <a:lnSpc>
                <a:spcPct val="105000"/>
              </a:lnSpc>
              <a:spcAft>
                <a:spcPts val="800"/>
              </a:spcAft>
              <a:buChar char="•"/>
            </a:pPr>
            <a:r>
              <a:rPr sz="1400" b="0" i="0">
                <a:solidFill>
                  <a:srgbClr val="2B2B2B"/>
                </a:solidFill>
                <a:latin typeface="Calibri"/>
              </a:rPr>
              <a:t>Every edge is present and correct; missing or wrong edges are untested</a:t>
            </a:r>
          </a:p>
          <a:p>
            <a:pPr algn="l" marL="168910" indent="-168910">
              <a:lnSpc>
                <a:spcPct val="105000"/>
              </a:lnSpc>
              <a:spcAft>
                <a:spcPts val="800"/>
              </a:spcAft>
              <a:buChar char="•"/>
            </a:pPr>
            <a:r>
              <a:rPr sz="1400" b="0" i="0">
                <a:solidFill>
                  <a:srgbClr val="2B2B2B"/>
                </a:solidFill>
                <a:latin typeface="Calibri"/>
              </a:rPr>
              <a:t>All corrections are lab values, chains one step deep</a:t>
            </a:r>
          </a:p>
          <a:p>
            <a:pPr algn="l" marL="168910" indent="-168910">
              <a:lnSpc>
                <a:spcPct val="105000"/>
              </a:lnSpc>
              <a:spcAft>
                <a:spcPts val="800"/>
              </a:spcAft>
              <a:buChar char="•"/>
            </a:pPr>
            <a:r>
              <a:rPr sz="1400" b="0" i="0">
                <a:solidFill>
                  <a:srgbClr val="2B2B2B"/>
                </a:solidFill>
                <a:latin typeface="Calibri"/>
              </a:rPr>
              <a:t>One encoder, one hosted LLM; no clinician study yet</a:t>
            </a:r>
          </a:p>
        </p:txBody>
      </p:sp>
      <p:sp>
        <p:nvSpPr>
          <p:cNvPr id="17" name="Rounded Rectangle 16"/>
          <p:cNvSpPr/>
          <p:nvPr/>
        </p:nvSpPr>
        <p:spPr>
          <a:xfrm>
            <a:off x="8055863" y="1920240"/>
            <a:ext cx="3657600" cy="4343400"/>
          </a:xfrm>
          <a:prstGeom prst="roundRect">
            <a:avLst>
              <a:gd name="adj" fmla="val 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3" y="2011680"/>
            <a:ext cx="3291840" cy="411480"/>
          </a:xfrm>
          <a:prstGeom prst="rect">
            <a:avLst/>
          </a:prstGeom>
          <a:noFill/>
        </p:spPr>
        <p:txBody>
          <a:bodyPr wrap="square" lIns="0" rIns="0" tIns="0" bIns="0" anchor="ctr"/>
          <a:lstStyle/>
          <a:p>
            <a:pPr algn="l">
              <a:lnSpc>
                <a:spcPct val="115000"/>
              </a:lnSpc>
              <a:spcAft>
                <a:spcPts val="0"/>
              </a:spcAft>
            </a:pPr>
            <a:r>
              <a:rPr sz="1700" b="1" i="0">
                <a:solidFill>
                  <a:srgbClr val="2B2B2B"/>
                </a:solidFill>
                <a:latin typeface="Calibri"/>
              </a:rPr>
              <a:t>Future scope</a:t>
            </a:r>
          </a:p>
        </p:txBody>
      </p:sp>
      <p:sp>
        <p:nvSpPr>
          <p:cNvPr id="19" name="TextBox 18"/>
          <p:cNvSpPr txBox="1"/>
          <p:nvPr/>
        </p:nvSpPr>
        <p:spPr>
          <a:xfrm>
            <a:off x="8238743" y="2560320"/>
            <a:ext cx="3291840" cy="3657600"/>
          </a:xfrm>
          <a:prstGeom prst="rect">
            <a:avLst/>
          </a:prstGeom>
          <a:noFill/>
        </p:spPr>
        <p:txBody>
          <a:bodyPr wrap="square" lIns="0" rIns="0" tIns="0" bIns="0" anchor="t"/>
          <a:lstStyle/>
          <a:p>
            <a:pPr algn="l" marL="168910" indent="-168910">
              <a:lnSpc>
                <a:spcPct val="105000"/>
              </a:lnSpc>
              <a:spcAft>
                <a:spcPts val="800"/>
              </a:spcAft>
              <a:buChar char="•"/>
            </a:pPr>
            <a:r>
              <a:rPr sz="1400" b="0" i="0">
                <a:solidFill>
                  <a:srgbClr val="2B2B2B"/>
                </a:solidFill>
                <a:latin typeface="Calibri"/>
              </a:rPr>
              <a:t>Evaluate on de-identified real charts with missing links</a:t>
            </a:r>
          </a:p>
          <a:p>
            <a:pPr algn="l" marL="168910" indent="-168910">
              <a:lnSpc>
                <a:spcPct val="105000"/>
              </a:lnSpc>
              <a:spcAft>
                <a:spcPts val="800"/>
              </a:spcAft>
              <a:buChar char="•"/>
            </a:pPr>
            <a:r>
              <a:rPr sz="1400" b="0" i="0">
                <a:solidFill>
                  <a:srgbClr val="2B2B2B"/>
                </a:solidFill>
                <a:latin typeface="Calibri"/>
              </a:rPr>
              <a:t>Measure BGE-M3 on Hindi and code-switched notes</a:t>
            </a:r>
          </a:p>
          <a:p>
            <a:pPr algn="l" marL="168910" indent="-168910">
              <a:lnSpc>
                <a:spcPct val="105000"/>
              </a:lnSpc>
              <a:spcAft>
                <a:spcPts val="800"/>
              </a:spcAft>
              <a:buChar char="•"/>
            </a:pPr>
            <a:r>
              <a:rPr sz="1400" b="0" i="0">
                <a:solidFill>
                  <a:srgbClr val="2B2B2B"/>
                </a:solidFill>
                <a:latin typeface="Calibri"/>
              </a:rPr>
              <a:t>Let images inform generated answers, not only search</a:t>
            </a:r>
          </a:p>
          <a:p>
            <a:pPr algn="l" marL="168910" indent="-168910">
              <a:lnSpc>
                <a:spcPct val="105000"/>
              </a:lnSpc>
              <a:spcAft>
                <a:spcPts val="800"/>
              </a:spcAft>
              <a:buChar char="•"/>
            </a:pPr>
            <a:r>
              <a:rPr sz="1400" b="0" i="0">
                <a:solidFill>
                  <a:srgbClr val="2B2B2B"/>
                </a:solidFill>
                <a:latin typeface="Calibri"/>
              </a:rPr>
              <a:t>Web Push notifications; Alembic migrations; erasure under DPDP vs audit trail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2.png"/>
          <p:cNvPicPr>
            <a:picLocks noChangeAspect="1"/>
          </p:cNvPicPr>
          <p:nvPr/>
        </p:nvPicPr>
        <p:blipFill>
          <a:blip r:embed="rId2"/>
          <a:stretch>
            <a:fillRect/>
          </a:stretch>
        </p:blipFill>
        <p:spPr>
          <a:xfrm>
            <a:off x="0" y="0"/>
            <a:ext cx="4206240" cy="1698040"/>
          </a:xfrm>
          <a:prstGeom prst="rect">
            <a:avLst/>
          </a:prstGeom>
        </p:spPr>
      </p:pic>
      <p:pic>
        <p:nvPicPr>
          <p:cNvPr id="4" name="Picture 3" descr="image3.png"/>
          <p:cNvPicPr>
            <a:picLocks noChangeAspect="1"/>
          </p:cNvPicPr>
          <p:nvPr/>
        </p:nvPicPr>
        <p:blipFill>
          <a:blip r:embed="rId3"/>
          <a:stretch>
            <a:fillRect/>
          </a:stretch>
        </p:blipFill>
        <p:spPr>
          <a:xfrm>
            <a:off x="10575036" y="0"/>
            <a:ext cx="1616659" cy="685800"/>
          </a:xfrm>
          <a:prstGeom prst="rect">
            <a:avLst/>
          </a:prstGeom>
        </p:spPr>
      </p:pic>
      <p:sp>
        <p:nvSpPr>
          <p:cNvPr id="5" name="Rectangle 4"/>
          <p:cNvSpPr/>
          <p:nvPr/>
        </p:nvSpPr>
        <p:spPr>
          <a:xfrm>
            <a:off x="0" y="6748272"/>
            <a:ext cx="12191695" cy="109728"/>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0" y="6400800"/>
            <a:ext cx="10607040" cy="292608"/>
          </a:xfrm>
          <a:prstGeom prst="rect">
            <a:avLst/>
          </a:prstGeom>
          <a:noFill/>
        </p:spPr>
        <p:txBody>
          <a:bodyPr wrap="square" lIns="0" rIns="0" tIns="0" bIns="0" anchor="ctr"/>
          <a:lstStyle/>
          <a:p>
            <a:pPr algn="ctr">
              <a:lnSpc>
                <a:spcPct val="115000"/>
              </a:lnSpc>
              <a:spcAft>
                <a:spcPts val="0"/>
              </a:spcAft>
            </a:pPr>
            <a:r>
              <a:rPr sz="1100" b="0" i="0">
                <a:solidFill>
                  <a:srgbClr val="5A5A5A"/>
                </a:solidFill>
                <a:latin typeface="Calibri"/>
              </a:rPr>
              <a:t>Computer Engineering Department, MPSTME, Mumbai Campus</a:t>
            </a:r>
          </a:p>
        </p:txBody>
      </p:sp>
      <p:sp>
        <p:nvSpPr>
          <p:cNvPr id="7" name="TextBox 6"/>
          <p:cNvSpPr txBox="1"/>
          <p:nvPr/>
        </p:nvSpPr>
        <p:spPr>
          <a:xfrm>
            <a:off x="10881360" y="6400800"/>
            <a:ext cx="850392" cy="292608"/>
          </a:xfrm>
          <a:prstGeom prst="rect">
            <a:avLst/>
          </a:prstGeom>
          <a:noFill/>
        </p:spPr>
        <p:txBody>
          <a:bodyPr wrap="square" lIns="0" rIns="0" tIns="0" bIns="0" anchor="ctr"/>
          <a:lstStyle/>
          <a:p>
            <a:pPr algn="r">
              <a:lnSpc>
                <a:spcPct val="115000"/>
              </a:lnSpc>
              <a:spcAft>
                <a:spcPts val="0"/>
              </a:spcAft>
            </a:pPr>
            <a:r>
              <a:rPr sz="1100" b="0" i="0">
                <a:solidFill>
                  <a:srgbClr val="5A5A5A"/>
                </a:solidFill>
                <a:latin typeface="Calibri"/>
              </a:rPr>
              <a:t>24</a:t>
            </a:r>
          </a:p>
        </p:txBody>
      </p:sp>
      <p:sp>
        <p:nvSpPr>
          <p:cNvPr id="8" name="TextBox 7"/>
          <p:cNvSpPr txBox="1"/>
          <p:nvPr/>
        </p:nvSpPr>
        <p:spPr>
          <a:xfrm>
            <a:off x="4434840" y="804672"/>
            <a:ext cx="7406640" cy="548640"/>
          </a:xfrm>
          <a:prstGeom prst="rect">
            <a:avLst/>
          </a:prstGeom>
          <a:noFill/>
        </p:spPr>
        <p:txBody>
          <a:bodyPr wrap="square" lIns="0" rIns="0" tIns="0" bIns="0" anchor="ctr"/>
          <a:lstStyle/>
          <a:p>
            <a:pPr algn="l">
              <a:lnSpc>
                <a:spcPct val="115000"/>
              </a:lnSpc>
              <a:spcAft>
                <a:spcPts val="0"/>
              </a:spcAft>
            </a:pPr>
            <a:r>
              <a:rPr sz="2700" b="1" i="0">
                <a:solidFill>
                  <a:srgbClr val="2B2B2B"/>
                </a:solidFill>
                <a:latin typeface="Cambria"/>
              </a:rPr>
              <a:t>Conclusion</a:t>
            </a:r>
          </a:p>
        </p:txBody>
      </p:sp>
      <p:sp>
        <p:nvSpPr>
          <p:cNvPr id="9" name="TextBox 8"/>
          <p:cNvSpPr txBox="1"/>
          <p:nvPr/>
        </p:nvSpPr>
        <p:spPr>
          <a:xfrm>
            <a:off x="4434840" y="1325880"/>
            <a:ext cx="7406640" cy="384048"/>
          </a:xfrm>
          <a:prstGeom prst="rect">
            <a:avLst/>
          </a:prstGeom>
          <a:noFill/>
        </p:spPr>
        <p:txBody>
          <a:bodyPr wrap="square" lIns="0" rIns="0" tIns="0" bIns="0" anchor="t"/>
          <a:lstStyle/>
          <a:p>
            <a:pPr algn="l">
              <a:lnSpc>
                <a:spcPct val="115000"/>
              </a:lnSpc>
              <a:spcAft>
                <a:spcPts val="0"/>
              </a:spcAft>
            </a:pPr>
            <a:r>
              <a:rPr sz="1300" b="0" i="1">
                <a:solidFill>
                  <a:srgbClr val="5A5A5A"/>
                </a:solidFill>
                <a:latin typeface="Calibri"/>
              </a:rPr>
              <a:t>The problem is one of representation, not of tuning</a:t>
            </a:r>
          </a:p>
        </p:txBody>
      </p:sp>
      <p:sp>
        <p:nvSpPr>
          <p:cNvPr id="10" name="Rounded Rectangle 9"/>
          <p:cNvSpPr/>
          <p:nvPr/>
        </p:nvSpPr>
        <p:spPr>
          <a:xfrm>
            <a:off x="8366760" y="182880"/>
            <a:ext cx="201168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1100" b="0" i="0">
                <a:solidFill>
                  <a:srgbClr val="5A5A5A"/>
                </a:solidFill>
                <a:latin typeface="Calibri"/>
              </a:rPr>
              <a:t>Speaker: </a:t>
            </a:r>
            <a:r>
              <a:rPr sz="1100" b="1" i="0">
                <a:solidFill>
                  <a:srgbClr val="BC312C"/>
                </a:solidFill>
                <a:latin typeface="Calibri"/>
              </a:rPr>
              <a:t>Nihal</a:t>
            </a:r>
          </a:p>
        </p:txBody>
      </p:sp>
      <p:sp>
        <p:nvSpPr>
          <p:cNvPr id="11" name="Rounded Rectangle 10"/>
          <p:cNvSpPr/>
          <p:nvPr/>
        </p:nvSpPr>
        <p:spPr>
          <a:xfrm>
            <a:off x="411480" y="1920240"/>
            <a:ext cx="7315200" cy="841248"/>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1920240"/>
            <a:ext cx="731520" cy="841248"/>
          </a:xfrm>
          <a:prstGeom prst="rect">
            <a:avLst/>
          </a:prstGeom>
          <a:noFill/>
        </p:spPr>
        <p:txBody>
          <a:bodyPr wrap="square" lIns="0" rIns="0" tIns="0" bIns="0" anchor="ctr"/>
          <a:lstStyle/>
          <a:p>
            <a:pPr algn="l">
              <a:lnSpc>
                <a:spcPct val="115000"/>
              </a:lnSpc>
              <a:spcAft>
                <a:spcPts val="0"/>
              </a:spcAft>
            </a:pPr>
            <a:r>
              <a:rPr sz="1600" b="1" i="0">
                <a:solidFill>
                  <a:srgbClr val="BC312C"/>
                </a:solidFill>
                <a:latin typeface="Calibri"/>
              </a:rPr>
              <a:t>RQ1</a:t>
            </a:r>
          </a:p>
        </p:txBody>
      </p:sp>
      <p:sp>
        <p:nvSpPr>
          <p:cNvPr id="13" name="TextBox 12"/>
          <p:cNvSpPr txBox="1"/>
          <p:nvPr/>
        </p:nvSpPr>
        <p:spPr>
          <a:xfrm>
            <a:off x="1280160" y="1920240"/>
            <a:ext cx="6355080" cy="841248"/>
          </a:xfrm>
          <a:prstGeom prst="rect">
            <a:avLst/>
          </a:prstGeom>
          <a:noFill/>
        </p:spPr>
        <p:txBody>
          <a:bodyPr wrap="square" lIns="0" rIns="0" tIns="0" bIns="0" anchor="ctr"/>
          <a:lstStyle/>
          <a:p>
            <a:pPr algn="l">
              <a:lnSpc>
                <a:spcPct val="115000"/>
              </a:lnSpc>
              <a:spcAft>
                <a:spcPts val="0"/>
              </a:spcAft>
            </a:pPr>
            <a:r>
              <a:rPr sz="1200" b="0" i="0">
                <a:solidFill>
                  <a:srgbClr val="2B2B2B"/>
                </a:solidFill>
                <a:latin typeface="Calibri"/>
              </a:rPr>
              <a:t>Yes. 0.0 % stale answers and 97.8 % historical accuracy on both seeds, where the best timestamp-only ranker reaches 7–11.5 % stale and under 8 % historical.</a:t>
            </a:r>
          </a:p>
        </p:txBody>
      </p:sp>
      <p:sp>
        <p:nvSpPr>
          <p:cNvPr id="14" name="Rounded Rectangle 13"/>
          <p:cNvSpPr/>
          <p:nvPr/>
        </p:nvSpPr>
        <p:spPr>
          <a:xfrm>
            <a:off x="411480" y="2880360"/>
            <a:ext cx="7315200" cy="841248"/>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2880360"/>
            <a:ext cx="731520" cy="841248"/>
          </a:xfrm>
          <a:prstGeom prst="rect">
            <a:avLst/>
          </a:prstGeom>
          <a:noFill/>
        </p:spPr>
        <p:txBody>
          <a:bodyPr wrap="square" lIns="0" rIns="0" tIns="0" bIns="0" anchor="ctr"/>
          <a:lstStyle/>
          <a:p>
            <a:pPr algn="l">
              <a:lnSpc>
                <a:spcPct val="115000"/>
              </a:lnSpc>
              <a:spcAft>
                <a:spcPts val="0"/>
              </a:spcAft>
            </a:pPr>
            <a:r>
              <a:rPr sz="1600" b="1" i="0">
                <a:solidFill>
                  <a:srgbClr val="BC312C"/>
                </a:solidFill>
                <a:latin typeface="Calibri"/>
              </a:rPr>
              <a:t>RQ2</a:t>
            </a:r>
          </a:p>
        </p:txBody>
      </p:sp>
      <p:sp>
        <p:nvSpPr>
          <p:cNvPr id="16" name="TextBox 15"/>
          <p:cNvSpPr txBox="1"/>
          <p:nvPr/>
        </p:nvSpPr>
        <p:spPr>
          <a:xfrm>
            <a:off x="1280160" y="2880360"/>
            <a:ext cx="6355080" cy="841248"/>
          </a:xfrm>
          <a:prstGeom prst="rect">
            <a:avLst/>
          </a:prstGeom>
          <a:noFill/>
        </p:spPr>
        <p:txBody>
          <a:bodyPr wrap="square" lIns="0" rIns="0" tIns="0" bIns="0" anchor="ctr"/>
          <a:lstStyle/>
          <a:p>
            <a:pPr algn="l">
              <a:lnSpc>
                <a:spcPct val="115000"/>
              </a:lnSpc>
              <a:spcAft>
                <a:spcPts val="0"/>
              </a:spcAft>
            </a:pPr>
            <a:r>
              <a:rPr sz="1200" b="0" i="0">
                <a:solidFill>
                  <a:srgbClr val="2B2B2B"/>
                </a:solidFill>
                <a:latin typeface="Calibri"/>
              </a:rPr>
              <a:t>No. None of 70 recency-decay settings answered a single historical question; the failure is a missing relation, not a bad weight.</a:t>
            </a:r>
          </a:p>
        </p:txBody>
      </p:sp>
      <p:sp>
        <p:nvSpPr>
          <p:cNvPr id="17" name="Rounded Rectangle 16"/>
          <p:cNvSpPr/>
          <p:nvPr/>
        </p:nvSpPr>
        <p:spPr>
          <a:xfrm>
            <a:off x="411480" y="3840480"/>
            <a:ext cx="7315200" cy="841248"/>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3840480"/>
            <a:ext cx="731520" cy="841248"/>
          </a:xfrm>
          <a:prstGeom prst="rect">
            <a:avLst/>
          </a:prstGeom>
          <a:noFill/>
        </p:spPr>
        <p:txBody>
          <a:bodyPr wrap="square" lIns="0" rIns="0" tIns="0" bIns="0" anchor="ctr"/>
          <a:lstStyle/>
          <a:p>
            <a:pPr algn="l">
              <a:lnSpc>
                <a:spcPct val="115000"/>
              </a:lnSpc>
              <a:spcAft>
                <a:spcPts val="0"/>
              </a:spcAft>
            </a:pPr>
            <a:r>
              <a:rPr sz="1600" b="1" i="0">
                <a:solidFill>
                  <a:srgbClr val="BC312C"/>
                </a:solidFill>
                <a:latin typeface="Calibri"/>
              </a:rPr>
              <a:t>RQ3</a:t>
            </a:r>
          </a:p>
        </p:txBody>
      </p:sp>
      <p:sp>
        <p:nvSpPr>
          <p:cNvPr id="19" name="TextBox 18"/>
          <p:cNvSpPr txBox="1"/>
          <p:nvPr/>
        </p:nvSpPr>
        <p:spPr>
          <a:xfrm>
            <a:off x="1280160" y="3840480"/>
            <a:ext cx="6355080" cy="841248"/>
          </a:xfrm>
          <a:prstGeom prst="rect">
            <a:avLst/>
          </a:prstGeom>
          <a:noFill/>
        </p:spPr>
        <p:txBody>
          <a:bodyPr wrap="square" lIns="0" rIns="0" tIns="0" bIns="0" anchor="ctr"/>
          <a:lstStyle/>
          <a:p>
            <a:pPr algn="l">
              <a:lnSpc>
                <a:spcPct val="115000"/>
              </a:lnSpc>
              <a:spcAft>
                <a:spcPts val="0"/>
              </a:spcAft>
            </a:pPr>
            <a:r>
              <a:rPr sz="1200" b="0" i="0">
                <a:solidFill>
                  <a:srgbClr val="2B2B2B"/>
                </a:solidFill>
                <a:latin typeface="Calibri"/>
              </a:rPr>
              <a:t>Yes, at rank 1. With one record of context the same LLM gave 0 / 40 stale answers from our ranking and 18 / 40 from dense retrieval.</a:t>
            </a:r>
          </a:p>
        </p:txBody>
      </p:sp>
      <p:sp>
        <p:nvSpPr>
          <p:cNvPr id="20" name="TextBox 19"/>
          <p:cNvSpPr txBox="1"/>
          <p:nvPr/>
        </p:nvSpPr>
        <p:spPr>
          <a:xfrm>
            <a:off x="411480" y="4892040"/>
            <a:ext cx="7315200" cy="1371600"/>
          </a:xfrm>
          <a:prstGeom prst="rect">
            <a:avLst/>
          </a:prstGeom>
          <a:noFill/>
        </p:spPr>
        <p:txBody>
          <a:bodyPr wrap="square" lIns="0" rIns="0" tIns="0" bIns="0" anchor="t"/>
          <a:lstStyle/>
          <a:p>
            <a:pPr algn="l">
              <a:lnSpc>
                <a:spcPct val="115000"/>
              </a:lnSpc>
              <a:spcAft>
                <a:spcPts val="400"/>
              </a:spcAft>
            </a:pPr>
            <a:r>
              <a:rPr sz="1200" b="1" i="0">
                <a:solidFill>
                  <a:srgbClr val="2B2B2B"/>
                </a:solidFill>
                <a:latin typeface="Calibri"/>
              </a:rPr>
              <a:t>Paper: </a:t>
            </a:r>
            <a:r>
              <a:rPr sz="1200" b="0" i="0">
                <a:solidFill>
                  <a:srgbClr val="2B2B2B"/>
                </a:solidFill>
                <a:latin typeface="Calibri"/>
              </a:rPr>
              <a:t>"Which Value Is Still in Force? Supersession-Aware Retrieval over Corrected Clinical Records", IEEE conference format, 5 pages.</a:t>
            </a:r>
          </a:p>
          <a:p>
            <a:pPr algn="l">
              <a:lnSpc>
                <a:spcPct val="115000"/>
              </a:lnSpc>
              <a:spcAft>
                <a:spcPts val="400"/>
              </a:spcAft>
            </a:pPr>
            <a:r>
              <a:rPr sz="1200" b="1" i="0">
                <a:solidFill>
                  <a:srgbClr val="2B2B2B"/>
                </a:solidFill>
                <a:latin typeface="Calibri"/>
              </a:rPr>
              <a:t>Deliverable: </a:t>
            </a:r>
            <a:r>
              <a:rPr sz="1200" b="0" i="0">
                <a:solidFill>
                  <a:srgbClr val="2B2B2B"/>
                </a:solidFill>
                <a:latin typeface="Calibri"/>
              </a:rPr>
              <a:t>a working clinic system (doctor and patient portals, grounded chat, capture, documents) on one laptop at zero cost.</a:t>
            </a:r>
          </a:p>
        </p:txBody>
      </p:sp>
      <p:sp>
        <p:nvSpPr>
          <p:cNvPr id="21" name="Rounded Rectangle 20"/>
          <p:cNvSpPr/>
          <p:nvPr/>
        </p:nvSpPr>
        <p:spPr>
          <a:xfrm>
            <a:off x="8001000" y="1920240"/>
            <a:ext cx="3749039" cy="4343400"/>
          </a:xfrm>
          <a:prstGeom prst="roundRect">
            <a:avLst>
              <a:gd name="adj" fmla="val 5000"/>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00000"/>
              </a:lnSpc>
            </a:pPr>
            <a:r>
              <a:rPr sz="3400" b="1" i="0">
                <a:solidFill>
                  <a:srgbClr val="FFFFFF"/>
                </a:solidFill>
                <a:latin typeface="Cambria"/>
              </a:rPr>
              <a:t>Thank you</a:t>
            </a:r>
          </a:p>
          <a:p>
            <a:pPr algn="ctr">
              <a:lnSpc>
                <a:spcPct val="100000"/>
              </a:lnSpc>
            </a:pPr>
            <a:r>
              <a:rPr sz="1000" b="0" i="0">
                <a:solidFill>
                  <a:srgbClr val="2B2B2B"/>
                </a:solidFill>
                <a:latin typeface="Calibri"/>
              </a:rPr>
              <a:t/>
            </a:r>
          </a:p>
          <a:p>
            <a:pPr algn="ctr">
              <a:lnSpc>
                <a:spcPct val="100000"/>
              </a:lnSpc>
            </a:pPr>
            <a:r>
              <a:rPr sz="2200" b="0" i="0">
                <a:solidFill>
                  <a:srgbClr val="FFFFFF"/>
                </a:solidFill>
                <a:latin typeface="Calibri"/>
              </a:rPr>
              <a:t>Questions?</a:t>
            </a:r>
          </a:p>
          <a:p>
            <a:pPr algn="ctr">
              <a:lnSpc>
                <a:spcPct val="100000"/>
              </a:lnSpc>
            </a:pPr>
            <a:r>
              <a:rPr sz="1000" b="0" i="0">
                <a:solidFill>
                  <a:srgbClr val="2B2B2B"/>
                </a:solidFill>
                <a:latin typeface="Calibri"/>
              </a:rPr>
              <a:t/>
            </a:r>
          </a:p>
          <a:p>
            <a:pPr algn="ctr">
              <a:lnSpc>
                <a:spcPct val="100000"/>
              </a:lnSpc>
            </a:pPr>
            <a:r>
              <a:rPr sz="1300" b="0" i="0">
                <a:solidFill>
                  <a:srgbClr val="FBEAEA"/>
                </a:solidFill>
                <a:latin typeface="Calibri"/>
              </a:rPr>
              <a:t>Guide: Dr. Dhirendra Mishra</a:t>
            </a:r>
          </a:p>
          <a:p>
            <a:pPr algn="ctr">
              <a:lnSpc>
                <a:spcPct val="100000"/>
              </a:lnSpc>
            </a:pPr>
            <a:r>
              <a:rPr sz="1200" b="0" i="0">
                <a:solidFill>
                  <a:srgbClr val="FBEAEA"/>
                </a:solidFill>
                <a:latin typeface="Calibri"/>
              </a:rPr>
              <a:t>Dept. of Computer Engineering, MPSTME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1127</Words>
  <Application>Microsoft Office PowerPoint</Application>
  <PresentationFormat>Widescreen</PresentationFormat>
  <Paragraphs>230</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Ranveer Singh Thakur</cp:lastModifiedBy>
  <cp:revision>3</cp:revision>
  <dcterms:created xsi:type="dcterms:W3CDTF">2026-08-28T08:56:51Z</dcterms:created>
  <dcterms:modified xsi:type="dcterms:W3CDTF">2026-08-28T18:35:58Z</dcterms:modified>
</cp:coreProperties>
</file>